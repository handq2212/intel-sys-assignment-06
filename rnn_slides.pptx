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MẠNG NƠ-RON HỒI QUY (RNN)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Từ Hạn Chế của MLP &amp; 1D-CNN đến Nguyên Lý Xử Lý Dữ Liệu Chuỗi có Trạng Thái Ẩn</a:t>
            </a:r>
            <a:br/>
            <a:br/>
            <a:r>
              <a:rPr/>
              <a:t>Nhóm thực hiện:</a:t>
            </a:r>
            <a:br/>
            <a:r>
              <a:rPr/>
              <a:t>Văn Thị Mai Linh</a:t>
            </a:r>
            <a:br/>
            <a:r>
              <a:rPr/>
              <a:t>Nguyễn Văn Minh Lực</a:t>
            </a:r>
            <a:br/>
            <a:r>
              <a:rPr/>
              <a:t>Giáp Minh Hiếu</a:t>
            </a:r>
            <a:br/>
            <a:r>
              <a:rPr/>
              <a:t>Nguyễn Nam Hải</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i="1"/>
                  <a:t>"Feedforward nhìn thế giới qua từng bức ảnh rời rạc;</a:t>
                </a:r>
                <a:br/>
                <a:r>
                  <a:rPr i="1"/>
                  <a:t>RNN thấu hiểu dữ liệu qua dòng chảy liên tục của thời gian."</a:t>
                </a:r>
              </a:p>
              <a:p>
                <a:pPr lvl="0" indent="0" marL="0">
                  <a:buNone/>
                </a:pPr>
                <a:r>
                  <a:rPr/>
                  <a:t>Bản chất Dữ liệu dạng Chuỗi (Sequential Data)</a:t>
                </a:r>
              </a:p>
              <a:p>
                <a:pPr lvl="0" indent="0" marL="0">
                  <a:buNone/>
                </a:pPr>
                <a:r>
                  <a:rPr b="1"/>
                  <a:t>Thứ tự xuất hiện quyết định hoàn toàn ngữ nghĩa của dữ liệu</a:t>
                </a:r>
              </a:p>
              <a:p>
                <a:pPr lvl="0"/>
                <a:r>
                  <a:rPr b="1"/>
                  <a:t>Đặc tính trật tự:</a:t>
                </a:r>
                <a:r>
                  <a:rPr/>
                  <a:t> Mỗi điểm dữ liệu tại thời điểm </a:t>
                </a:r>
                <a14:m>
                  <m:oMath xmlns:m="http://schemas.openxmlformats.org/officeDocument/2006/math">
                    <m:r>
                      <m:t>t</m:t>
                    </m:r>
                  </m:oMath>
                </a14:m>
                <a:r>
                  <a:rPr/>
                  <a:t> luôn mang mối tương quan mật thiết với các điểm quá khứ </a:t>
                </a:r>
                <a14:m>
                  <m:oMath xmlns:m="http://schemas.openxmlformats.org/officeDocument/2006/math">
                    <m:r>
                      <m:t>t</m:t>
                    </m:r>
                    <m:r>
                      <m:rPr>
                        <m:sty m:val="p"/>
                      </m:rPr>
                      <m:t>−</m:t>
                    </m:r>
                    <m:r>
                      <m:t>1</m:t>
                    </m:r>
                    <m:r>
                      <m:rPr>
                        <m:sty m:val="p"/>
                      </m:rPr>
                      <m:t>,</m:t>
                    </m:r>
                    <m:r>
                      <m:t>t</m:t>
                    </m:r>
                    <m:r>
                      <m:rPr>
                        <m:sty m:val="p"/>
                      </m:rPr>
                      <m:t>−</m:t>
                    </m:r>
                    <m:r>
                      <m:t>2</m:t>
                    </m:r>
                    <m:r>
                      <m:rPr>
                        <m:sty m:val="p"/>
                      </m:rPr>
                      <m:t>,</m:t>
                    </m:r>
                    <m:r>
                      <m:rPr>
                        <m:sty m:val="p"/>
                      </m:rPr>
                      <m:t>…</m:t>
                    </m:r>
                  </m:oMath>
                </a14:m>
              </a:p>
              <a:p>
                <a:pPr lvl="0"/>
                <a:r>
                  <a:rPr b="1"/>
                  <a:t>Hai dạng chính:</a:t>
                </a:r>
                <a:r>
                  <a:rPr/>
                  <a:t> Dữ liệu token rời rạc (Text, DNA) và dữ liệu chuỗi số liên tục (Giá vàng, cổ phiếu, nhịp tim).</a:t>
                </a:r>
              </a:p>
              <a:p>
                <a:pPr lvl="0" indent="0" marL="0">
                  <a:buNone/>
                </a:pPr>
                <a:r>
                  <a:rPr/>
                  <a:t>0.48</a:t>
                </a:r>
              </a:p>
              <a:p>
                <a:pPr lvl="0" indent="0" marL="0">
                  <a:buNone/>
                </a:pPr>
                <a:r>
                  <a:rPr b="1"/>
                  <a:t>Chuỗi Rời rạc (NLP / Văn bản)</a:t>
                </a:r>
                <a:r>
                  <a:rPr/>
                  <a:t> "Hà Nội không mưa" </a:t>
                </a:r>
                <a14:m>
                  <m:oMath xmlns:m="http://schemas.openxmlformats.org/officeDocument/2006/math">
                    <m:r>
                      <m:rPr>
                        <m:sty m:val="p"/>
                      </m:rPr>
                      <m:t>≠</m:t>
                    </m:r>
                  </m:oMath>
                </a14:m>
                <a:r>
                  <a:rPr/>
                  <a:t> "Mưa không Hà Nội"</a:t>
                </a:r>
                <a:br/>
                <a14:m>
                  <m:oMath xmlns:m="http://schemas.openxmlformats.org/officeDocument/2006/math">
                    <m:r>
                      <m:rPr>
                        <m:sty m:val="p"/>
                      </m:rPr>
                      <m:t>→</m:t>
                    </m:r>
                  </m:oMath>
                </a14:m>
                <a:r>
                  <a:rPr/>
                  <a:t> </a:t>
                </a:r>
                <a:r>
                  <a:rPr i="1"/>
                  <a:t>Câu đầu có nghĩa rõ ràng, câu sau vô nghĩa hoặc biến đổi ngữ nghĩa.</a:t>
                </a:r>
              </a:p>
              <a:p>
                <a:pPr lvl="0" indent="0" marL="0">
                  <a:buNone/>
                </a:pPr>
                <a:r>
                  <a:rPr/>
                  <a:t>0.48</a:t>
                </a:r>
              </a:p>
              <a:p>
                <a:pPr lvl="0" indent="0" marL="0">
                  <a:buNone/>
                </a:pPr>
                <a:r>
                  <a:rPr b="1"/>
                  <a:t>Chuỗi Liên tục (Time-Series)</a:t>
                </a:r>
                <a:r>
                  <a:rPr/>
                  <a:t> Giá vàng: </a:t>
                </a:r>
                <a14:m>
                  <m:oMath xmlns:m="http://schemas.openxmlformats.org/officeDocument/2006/math">
                    <m:r>
                      <m:rPr>
                        <m:sty m:val="p"/>
                      </m:rPr>
                      <m:t>[</m:t>
                    </m:r>
                    <m:r>
                      <m:t>82.5</m:t>
                    </m:r>
                    <m:r>
                      <m:rPr>
                        <m:sty m:val="p"/>
                      </m:rPr>
                      <m:t>→</m:t>
                    </m:r>
                    <m:r>
                      <m:t>83.1</m:t>
                    </m:r>
                    <m:r>
                      <m:rPr>
                        <m:sty m:val="p"/>
                      </m:rPr>
                      <m:t>→</m:t>
                    </m:r>
                    <m:r>
                      <m:t>84.0</m:t>
                    </m:r>
                    <m:r>
                      <m:rPr>
                        <m:sty m:val="p"/>
                      </m:rPr>
                      <m:t>→</m:t>
                    </m:r>
                    <m:r>
                      <m:t>85.2</m:t>
                    </m:r>
                    <m:r>
                      <m:rPr>
                        <m:sty m:val="p"/>
                      </m:rPr>
                      <m:t>]</m:t>
                    </m:r>
                  </m:oMath>
                </a14:m>
                <a:r>
                  <a:rPr/>
                  <a:t> (Tăng)</a:t>
                </a:r>
                <a:br/>
                <a:r>
                  <a:rPr/>
                  <a:t>Giá vàng: </a:t>
                </a:r>
                <a14:m>
                  <m:oMath xmlns:m="http://schemas.openxmlformats.org/officeDocument/2006/math">
                    <m:r>
                      <m:rPr>
                        <m:sty m:val="p"/>
                      </m:rPr>
                      <m:t>[</m:t>
                    </m:r>
                    <m:r>
                      <m:t>85.2</m:t>
                    </m:r>
                    <m:r>
                      <m:rPr>
                        <m:sty m:val="p"/>
                      </m:rPr>
                      <m:t>→</m:t>
                    </m:r>
                    <m:r>
                      <m:t>84.0</m:t>
                    </m:r>
                    <m:r>
                      <m:rPr>
                        <m:sty m:val="p"/>
                      </m:rPr>
                      <m:t>→</m:t>
                    </m:r>
                    <m:r>
                      <m:t>83.1</m:t>
                    </m:r>
                    <m:r>
                      <m:rPr>
                        <m:sty m:val="p"/>
                      </m:rPr>
                      <m:t>→</m:t>
                    </m:r>
                    <m:r>
                      <m:t>82.5</m:t>
                    </m:r>
                    <m:r>
                      <m:rPr>
                        <m:sty m:val="p"/>
                      </m:rPr>
                      <m:t>]</m:t>
                    </m:r>
                  </m:oMath>
                </a14:m>
                <a:r>
                  <a:rPr/>
                  <a:t> (Giảm)</a:t>
                </a:r>
              </a:p>
              <a:p>
                <a:pPr lvl="0" indent="0" marL="0">
                  <a:buNone/>
                </a:pPr>
                <a:r>
                  <a:rPr/>
                  <a:t>Bài toán Dự đoán Phần tử Kế tiếp (Next Step Prediction) </a:t>
                </a:r>
                <a:r>
                  <a:rPr b="1"/>
                  <a:t>Mục tiêu:</a:t>
                </a:r>
                <a:r>
                  <a:rPr/>
                  <a:t> Cho chuỗi quan sát quá khứ </a:t>
                </a:r>
                <a14:m>
                  <m:oMath xmlns:m="http://schemas.openxmlformats.org/officeDocument/2006/math">
                    <m:r>
                      <m:t>X</m:t>
                    </m:r>
                    <m:r>
                      <m:rPr>
                        <m:sty m:val="p"/>
                      </m:rPr>
                      <m:t>=</m:t>
                    </m:r>
                    <m:r>
                      <m:rPr>
                        <m:sty m:val="p"/>
                      </m:rPr>
                      <m:t>(</m:t>
                    </m:r>
                    <m:sSub>
                      <m:e>
                        <m:r>
                          <m:t>x</m:t>
                        </m:r>
                      </m:e>
                      <m:sub>
                        <m:r>
                          <m:t>1</m:t>
                        </m:r>
                      </m:sub>
                    </m:sSub>
                    <m:r>
                      <m:rPr>
                        <m:sty m:val="p"/>
                      </m:rPr>
                      <m:t>,</m:t>
                    </m:r>
                    <m:sSub>
                      <m:e>
                        <m:r>
                          <m:t>x</m:t>
                        </m:r>
                      </m:e>
                      <m:sub>
                        <m:r>
                          <m:t>2</m:t>
                        </m:r>
                      </m:sub>
                    </m:sSub>
                    <m:r>
                      <m:rPr>
                        <m:sty m:val="p"/>
                      </m:rPr>
                      <m:t>,</m:t>
                    </m:r>
                    <m:r>
                      <m:rPr>
                        <m:sty m:val="p"/>
                      </m:rPr>
                      <m:t>…</m:t>
                    </m:r>
                    <m:r>
                      <m:rPr>
                        <m:sty m:val="p"/>
                      </m:rPr>
                      <m:t>,</m:t>
                    </m:r>
                    <m:sSub>
                      <m:e>
                        <m:r>
                          <m:t>x</m:t>
                        </m:r>
                      </m:e>
                      <m:sub>
                        <m:r>
                          <m:t>t</m:t>
                        </m:r>
                      </m:sub>
                    </m:sSub>
                    <m:r>
                      <m:rPr>
                        <m:sty m:val="p"/>
                      </m:rPr>
                      <m:t>)</m:t>
                    </m:r>
                  </m:oMath>
                </a14:m>
                <a:r>
                  <a:rPr/>
                  <a:t>, dự đoán giá trị tương lai </a:t>
                </a:r>
                <a14:m>
                  <m:oMath xmlns:m="http://schemas.openxmlformats.org/officeDocument/2006/math">
                    <m:sSub>
                      <m:e>
                        <m:r>
                          <m:t>x</m:t>
                        </m:r>
                      </m:e>
                      <m:sub>
                        <m:r>
                          <m:t>t</m:t>
                        </m:r>
                        <m:r>
                          <m:rPr>
                            <m:sty m:val="p"/>
                          </m:rPr>
                          <m:t>+</m:t>
                        </m:r>
                        <m:r>
                          <m:t>1</m:t>
                        </m:r>
                      </m:sub>
                    </m:sSub>
                  </m:oMath>
                </a14:m>
                <a:r>
                  <a:rPr/>
                  <a:t>.</a:t>
                </a:r>
              </a:p>
              <a:p>
                <a:pPr lvl="0" indent="0" marL="0">
                  <a:buNone/>
                </a:pPr>
                <a:r>
                  <a:rPr b="1"/>
                  <a:t>Bài toán 1: Next Word Prediction (NLP)</a:t>
                </a:r>
                <a:r>
                  <a:rPr/>
                  <a:t> Ngữ cảnh: </a:t>
                </a:r>
                <a:r>
                  <a:rPr>
                    <a:latin typeface="Courier"/>
                  </a:rPr>
                  <a:t>"We"</a:t>
                </a:r>
                <a:r>
                  <a:rPr/>
                  <a:t> </a:t>
                </a:r>
                <a14:m>
                  <m:oMath xmlns:m="http://schemas.openxmlformats.org/officeDocument/2006/math">
                    <m:r>
                      <m:rPr>
                        <m:sty m:val="p"/>
                      </m:rPr>
                      <m:t>→</m:t>
                    </m:r>
                  </m:oMath>
                </a14:m>
                <a:r>
                  <a:rPr/>
                  <a:t> </a:t>
                </a:r>
                <a:r>
                  <a:rPr>
                    <a:latin typeface="Courier"/>
                  </a:rPr>
                  <a:t>"are"</a:t>
                </a:r>
                <a:r>
                  <a:rPr/>
                  <a:t> </a:t>
                </a:r>
                <a14:m>
                  <m:oMath xmlns:m="http://schemas.openxmlformats.org/officeDocument/2006/math">
                    <m:r>
                      <m:rPr>
                        <m:sty m:val="p"/>
                      </m:rPr>
                      <m:t>→</m:t>
                    </m:r>
                  </m:oMath>
                </a14:m>
                <a:r>
                  <a:rPr/>
                  <a:t> </a:t>
                </a:r>
                <a:r>
                  <a:rPr>
                    <a:latin typeface="Courier"/>
                  </a:rPr>
                  <a:t>"learning"</a:t>
                </a:r>
                <a:r>
                  <a:rPr/>
                  <a:t> </a:t>
                </a:r>
                <a14:m>
                  <m:oMath xmlns:m="http://schemas.openxmlformats.org/officeDocument/2006/math">
                    <m:r>
                      <m:rPr>
                        <m:sty m:val="p"/>
                      </m:rPr>
                      <m:t>→</m:t>
                    </m:r>
                  </m:oMath>
                </a14:m>
                <a:r>
                  <a:rPr/>
                  <a:t> </a:t>
                </a:r>
                <a:r>
                  <a:rPr>
                    <a:latin typeface="Courier"/>
                  </a:rPr>
                  <a:t>"AI"</a:t>
                </a:r>
                <a:r>
                  <a:rPr/>
                  <a:t> </a:t>
                </a:r>
                <a14:m>
                  <m:oMath xmlns:m="http://schemas.openxmlformats.org/officeDocument/2006/math">
                    <m:r>
                      <m:rPr>
                        <m:sty m:val="p"/>
                      </m:rPr>
                      <m:t>→</m:t>
                    </m:r>
                  </m:oMath>
                </a14:m>
                <a:r>
                  <a:rPr/>
                  <a:t> </a:t>
                </a:r>
                <a:r>
                  <a:rPr b="1"/>
                  <a:t>[ ? ]</a:t>
                </a:r>
                <a:br/>
                <a14:m>
                  <m:oMath xmlns:m="http://schemas.openxmlformats.org/officeDocument/2006/math">
                    <m:r>
                      <m:rPr>
                        <m:sty m:val="p"/>
                      </m:rPr>
                      <m:t>→</m:t>
                    </m:r>
                  </m:oMath>
                </a14:m>
                <a:r>
                  <a:rPr/>
                  <a:t> Target kỳ vọng: </a:t>
                </a:r>
                <a:r>
                  <a:rPr b="1"/>
                  <a:t>"is"</a:t>
                </a:r>
              </a:p>
              <a:p>
                <a:pPr lvl="0" indent="0" marL="0">
                  <a:buNone/>
                </a:pPr>
                <a:r>
                  <a:rPr b="1"/>
                  <a:t>Bài toán 2: Dự báo Chuỗi thời gian (Time-Series)</a:t>
                </a:r>
                <a:r>
                  <a:rPr/>
                  <a:t> Cửa sổ trượt (30 ngày lịch sử):</a:t>
                </a:r>
                <a:br/>
                <a14:m>
                  <m:oMath xmlns:m="http://schemas.openxmlformats.org/officeDocument/2006/math">
                    <m:r>
                      <m:rPr>
                        <m:sty m:val="p"/>
                      </m:rPr>
                      <m:t>[</m:t>
                    </m:r>
                    <m:r>
                      <m:t>P</m:t>
                    </m:r>
                    <m:r>
                      <m:rPr>
                        <m:sty m:val="p"/>
                      </m:rPr>
                      <m:t>(</m:t>
                    </m:r>
                    <m:r>
                      <m:t>t</m:t>
                    </m:r>
                    <m:r>
                      <m:rPr>
                        <m:sty m:val="p"/>
                      </m:rPr>
                      <m:t>−</m:t>
                    </m:r>
                    <m:r>
                      <m:t>29</m:t>
                    </m:r>
                    <m:r>
                      <m:rPr>
                        <m:sty m:val="p"/>
                      </m:rPr>
                      <m:t>)</m:t>
                    </m:r>
                    <m:r>
                      <m:rPr>
                        <m:sty m:val="p"/>
                      </m:rPr>
                      <m:t>,</m:t>
                    </m:r>
                    <m:r>
                      <m:t>P</m:t>
                    </m:r>
                    <m:r>
                      <m:rPr>
                        <m:sty m:val="p"/>
                      </m:rPr>
                      <m:t>(</m:t>
                    </m:r>
                    <m:r>
                      <m:t>t</m:t>
                    </m:r>
                    <m:r>
                      <m:rPr>
                        <m:sty m:val="p"/>
                      </m:rPr>
                      <m:t>−</m:t>
                    </m:r>
                    <m:r>
                      <m:t>28</m:t>
                    </m:r>
                    <m:r>
                      <m:rPr>
                        <m:sty m:val="p"/>
                      </m:rPr>
                      <m:t>)</m:t>
                    </m:r>
                    <m:r>
                      <m:rPr>
                        <m:sty m:val="p"/>
                      </m:rPr>
                      <m:t>,</m:t>
                    </m:r>
                    <m:r>
                      <m:rPr>
                        <m:sty m:val="p"/>
                      </m:rPr>
                      <m:t>…</m:t>
                    </m:r>
                    <m:r>
                      <m:rPr>
                        <m:sty m:val="p"/>
                      </m:rPr>
                      <m:t>,</m:t>
                    </m:r>
                    <m:r>
                      <m:t>P</m:t>
                    </m:r>
                    <m:r>
                      <m:rPr>
                        <m:sty m:val="p"/>
                      </m:rPr>
                      <m:t>(</m:t>
                    </m:r>
                    <m:r>
                      <m:t>t</m:t>
                    </m:r>
                    <m:r>
                      <m:rPr>
                        <m:sty m:val="p"/>
                      </m:rPr>
                      <m:t>−</m:t>
                    </m:r>
                    <m:r>
                      <m:t>1</m:t>
                    </m:r>
                    <m:r>
                      <m:rPr>
                        <m:sty m:val="p"/>
                      </m:rPr>
                      <m:t>)</m:t>
                    </m:r>
                    <m:r>
                      <m:rPr>
                        <m:sty m:val="p"/>
                      </m:rPr>
                      <m:t>,</m:t>
                    </m:r>
                    <m:r>
                      <m:t>P</m:t>
                    </m:r>
                    <m:r>
                      <m:rPr>
                        <m:sty m:val="p"/>
                      </m:rPr>
                      <m:t>(</m:t>
                    </m:r>
                    <m:r>
                      <m:t>t</m:t>
                    </m:r>
                    <m:r>
                      <m:rPr>
                        <m:sty m:val="p"/>
                      </m:rPr>
                      <m:t>)</m:t>
                    </m:r>
                    <m:r>
                      <m:rPr>
                        <m:sty m:val="p"/>
                      </m:rPr>
                      <m:t>]</m:t>
                    </m:r>
                    <m:r>
                      <m:rPr>
                        <m:sty m:val="p"/>
                      </m:rPr>
                      <m:t>→</m:t>
                    </m:r>
                    <m:r>
                      <m:rPr>
                        <m:nor/>
                        <m:sty m:val="b"/>
                      </m:rPr>
                      <m:t>[ P(t+1) ]</m:t>
                    </m:r>
                  </m:oMath>
                </a14:m>
                <a:br/>
                <a14:m>
                  <m:oMath xmlns:m="http://schemas.openxmlformats.org/officeDocument/2006/math">
                    <m:r>
                      <m:rPr>
                        <m:sty m:val="p"/>
                      </m:rPr>
                      <m:t>→</m:t>
                    </m:r>
                  </m:oMath>
                </a14:m>
                <a:r>
                  <a:rPr/>
                  <a:t> Dự báo biến động ngày 31.</a:t>
                </a:r>
              </a:p>
              <a:p>
                <a:pPr lvl="0" indent="0" marL="0">
                  <a:buNone/>
                </a:pPr>
                <a:r>
                  <a:rPr/>
                  <a:t>Hai Pipeline Tiền xử lý Đặc trưng </a:t>
                </a:r>
                <a:r>
                  <a:rPr i="1"/>
                  <a:t>Dữ liệu thô không thể đưa trực tiếp vào mạng mà phải đi qua pipeline chuẩn hóa:</a:t>
                </a:r>
              </a:p>
              <a:p>
                <a:pPr lvl="0" indent="0" marL="0">
                  <a:buNone/>
                </a:pPr>
                <a:r>
                  <a:rPr/>
                  <a:t>0.48</a:t>
                </a:r>
              </a:p>
              <a:p>
                <a:pPr lvl="0" indent="0" marL="0">
                  <a:buNone/>
                </a:pPr>
                <a:r>
                  <a:rPr b="1"/>
                  <a:t>Văn bản (Text Pipeline)</a:t>
                </a:r>
              </a:p>
              <a:p>
                <a:pPr lvl="0" indent="-342900" marL="342900">
                  <a:buAutoNum type="arabicPeriod"/>
                </a:pPr>
                <a:r>
                  <a:rPr b="1"/>
                  <a:t>Văn bản thô:</a:t>
                </a:r>
                <a:r>
                  <a:rPr/>
                  <a:t> "giá vàng tăng"</a:t>
                </a:r>
              </a:p>
              <a:p>
                <a:pPr lvl="0" indent="-342900" marL="342900">
                  <a:buAutoNum type="arabicPeriod"/>
                </a:pPr>
                <a:r>
                  <a:rPr b="1"/>
                  <a:t>Tokenizer:</a:t>
                </a:r>
                <a:r>
                  <a:rPr/>
                  <a:t> ["giá", "vàng", "tăng"]</a:t>
                </a:r>
              </a:p>
              <a:p>
                <a:pPr lvl="0" indent="-342900" marL="342900">
                  <a:buAutoNum type="arabicPeriod"/>
                </a:pPr>
                <a:r>
                  <a:rPr b="1"/>
                  <a:t>Vocab Index:</a:t>
                </a:r>
                <a:r>
                  <a:rPr/>
                  <a:t> </a:t>
                </a:r>
                <a14:m>
                  <m:oMath xmlns:m="http://schemas.openxmlformats.org/officeDocument/2006/math">
                    <m:r>
                      <m:rPr>
                        <m:sty m:val="p"/>
                      </m:rPr>
                      <m:t>[</m:t>
                    </m:r>
                    <m:r>
                      <m:t>2</m:t>
                    </m:r>
                    <m:r>
                      <m:rPr>
                        <m:sty m:val="p"/>
                      </m:rPr>
                      <m:t>,</m:t>
                    </m:r>
                    <m:r>
                      <m:t>3</m:t>
                    </m:r>
                    <m:r>
                      <m:rPr>
                        <m:sty m:val="p"/>
                      </m:rPr>
                      <m:t>,</m:t>
                    </m:r>
                    <m:r>
                      <m:t>4</m:t>
                    </m:r>
                    <m:r>
                      <m:rPr>
                        <m:sty m:val="p"/>
                      </m:rPr>
                      <m:t>]</m:t>
                    </m:r>
                  </m:oMath>
                </a14:m>
              </a:p>
              <a:p>
                <a:pPr lvl="0" indent="-342900" marL="342900">
                  <a:buAutoNum type="arabicPeriod"/>
                </a:pPr>
                <a:r>
                  <a:rPr b="1"/>
                  <a:t>Padding:</a:t>
                </a:r>
                <a:r>
                  <a:rPr/>
                  <a:t> </a:t>
                </a:r>
                <a14:m>
                  <m:oMath xmlns:m="http://schemas.openxmlformats.org/officeDocument/2006/math">
                    <m:r>
                      <m:rPr>
                        <m:sty m:val="p"/>
                      </m:rPr>
                      <m:t>[</m:t>
                    </m:r>
                    <m:r>
                      <m:t>2</m:t>
                    </m:r>
                    <m:r>
                      <m:rPr>
                        <m:sty m:val="p"/>
                      </m:rPr>
                      <m:t>,</m:t>
                    </m:r>
                    <m:r>
                      <m:t>3</m:t>
                    </m:r>
                    <m:r>
                      <m:rPr>
                        <m:sty m:val="p"/>
                      </m:rPr>
                      <m:t>,</m:t>
                    </m:r>
                    <m:r>
                      <m:t>4</m:t>
                    </m:r>
                    <m:r>
                      <m:rPr>
                        <m:sty m:val="p"/>
                      </m:rPr>
                      <m:t>,</m:t>
                    </m:r>
                    <m:r>
                      <m:t>0</m:t>
                    </m:r>
                    <m:r>
                      <m:rPr>
                        <m:sty m:val="p"/>
                      </m:rPr>
                      <m:t>,</m:t>
                    </m:r>
                    <m:r>
                      <m:t>0</m:t>
                    </m:r>
                    <m:r>
                      <m:rPr>
                        <m:sty m:val="p"/>
                      </m:rPr>
                      <m:t>]</m:t>
                    </m:r>
                  </m:oMath>
                </a14:m>
              </a:p>
              <a:p>
                <a:pPr lvl="0" indent="-342900" marL="342900">
                  <a:buAutoNum type="arabicPeriod"/>
                </a:pPr>
                <a:r>
                  <a:rPr b="1"/>
                  <a:t>Embedding:</a:t>
                </a:r>
                <a:r>
                  <a:rPr/>
                  <a:t> Tensor </a:t>
                </a:r>
                <a14:m>
                  <m:oMath xmlns:m="http://schemas.openxmlformats.org/officeDocument/2006/math">
                    <m:r>
                      <m:rPr>
                        <m:sty m:val="p"/>
                      </m:rPr>
                      <m:t>[</m:t>
                    </m:r>
                    <m:r>
                      <m:rPr>
                        <m:nor/>
                        <m:sty m:val="p"/>
                      </m:rPr>
                      <m:t>Batch</m:t>
                    </m:r>
                    <m:r>
                      <m:rPr>
                        <m:sty m:val="p"/>
                      </m:rPr>
                      <m:t>,</m:t>
                    </m:r>
                    <m:r>
                      <m:rPr>
                        <m:nor/>
                        <m:sty m:val="p"/>
                      </m:rPr>
                      <m:t>Seq_Len</m:t>
                    </m:r>
                    <m:r>
                      <m:rPr>
                        <m:sty m:val="p"/>
                      </m:rPr>
                      <m:t>,</m:t>
                    </m:r>
                    <m:r>
                      <m:t>d</m:t>
                    </m:r>
                    <m:r>
                      <m:rPr>
                        <m:sty m:val="p"/>
                      </m:rPr>
                      <m:t>]</m:t>
                    </m:r>
                  </m:oMath>
                </a14:m>
              </a:p>
              <a:p>
                <a:pPr lvl="0" indent="0" marL="0">
                  <a:buNone/>
                </a:pPr>
                <a:r>
                  <a:rPr/>
                  <a:t>0.48</a:t>
                </a:r>
              </a:p>
              <a:p>
                <a:pPr lvl="0" indent="0" marL="0">
                  <a:buNone/>
                </a:pPr>
                <a:r>
                  <a:rPr b="1"/>
                  <a:t>Chuỗi số (Time-Series Pipeline)</a:t>
                </a:r>
              </a:p>
              <a:p>
                <a:pPr lvl="0" indent="-342900" marL="342900">
                  <a:buAutoNum type="arabicPeriod"/>
                </a:pPr>
                <a:r>
                  <a:rPr b="1"/>
                  <a:t>File CSV thô:</a:t>
                </a:r>
                <a:r>
                  <a:rPr/>
                  <a:t> Date, Price</a:t>
                </a:r>
              </a:p>
              <a:p>
                <a:pPr lvl="0" indent="-342900" marL="342900">
                  <a:buAutoNum type="arabicPeriod"/>
                </a:pPr>
                <a:r>
                  <a:rPr b="1"/>
                  <a:t>Làm sạch &amp; Chia tập:</a:t>
                </a:r>
                <a:r>
                  <a:rPr/>
                  <a:t> Train 70%, Val 15%, Test 15%</a:t>
                </a:r>
              </a:p>
              <a:p>
                <a:pPr lvl="0" indent="-342900" marL="342900">
                  <a:buAutoNum type="arabicPeriod"/>
                </a:pPr>
                <a:r>
                  <a:rPr b="1"/>
                  <a:t>Scaling:</a:t>
                </a:r>
                <a:r>
                  <a:rPr/>
                  <a:t> log1p(Price) </a:t>
                </a:r>
                <a14:m>
                  <m:oMath xmlns:m="http://schemas.openxmlformats.org/officeDocument/2006/math">
                    <m:r>
                      <m:rPr>
                        <m:sty m:val="p"/>
                      </m:rPr>
                      <m:t>→</m:t>
                    </m:r>
                  </m:oMath>
                </a14:m>
                <a:r>
                  <a:rPr/>
                  <a:t> MinMax (chỉ fit trên Train)</a:t>
                </a:r>
              </a:p>
              <a:p>
                <a:pPr lvl="0" indent="-342900" marL="342900">
                  <a:buAutoNum type="arabicPeriod"/>
                </a:pPr>
                <a:r>
                  <a:rPr b="1"/>
                  <a:t>Windowing:</a:t>
                </a:r>
                <a:r>
                  <a:rPr/>
                  <a:t> Cửa sổ trượt 30 ngày</a:t>
                </a:r>
              </a:p>
              <a:p>
                <a:pPr lvl="0" indent="-342900" marL="342900">
                  <a:buAutoNum type="arabicPeriod"/>
                </a:pPr>
                <a:r>
                  <a:rPr b="1"/>
                  <a:t>Đầu vào:</a:t>
                </a:r>
                <a:r>
                  <a:rPr/>
                  <a:t> Tensor </a:t>
                </a:r>
                <a14:m>
                  <m:oMath xmlns:m="http://schemas.openxmlformats.org/officeDocument/2006/math">
                    <m:r>
                      <m:rPr>
                        <m:sty m:val="p"/>
                      </m:rPr>
                      <m:t>[</m:t>
                    </m:r>
                    <m:r>
                      <m:rPr>
                        <m:nor/>
                        <m:sty m:val="p"/>
                      </m:rPr>
                      <m:t>N</m:t>
                    </m:r>
                    <m:r>
                      <m:rPr>
                        <m:sty m:val="p"/>
                      </m:rPr>
                      <m:t>,</m:t>
                    </m:r>
                    <m:r>
                      <m:t>30</m:t>
                    </m:r>
                    <m:r>
                      <m:rPr>
                        <m:sty m:val="p"/>
                      </m:rPr>
                      <m:t>,</m:t>
                    </m:r>
                    <m:r>
                      <m:t>1</m:t>
                    </m:r>
                    <m:r>
                      <m:rPr>
                        <m:sty m:val="p"/>
                      </m:rPr>
                      <m:t>]</m:t>
                    </m:r>
                  </m:oMath>
                </a14:m>
              </a:p>
              <a:p>
                <a:pPr lvl="0" indent="0" marL="0">
                  <a:buNone/>
                </a:pPr>
                <a:r>
                  <a:rPr/>
                  <a:t>Tiếp cận bằng MLP &amp; Cơ chế Ghép phẳng (Flatten) </a:t>
                </a:r>
                <a:r>
                  <a:rPr i="1"/>
                  <a:t>Mạng truyền thẳng (MLP) bắt buộc phải biến toàn bộ ngữ cảnh thành một vector phẳng duy nhất.</a:t>
                </a:r>
              </a:p>
              <a:p>
                <a:pPr lvl="0" indent="0" marL="0">
                  <a:buNone/>
                </a:pPr>
                <a:r>
                  <a:rPr/>
                  <a:t>Ví dụ: Tokenizer &amp; Vocabulary cho Next-Word Prediction</a:t>
                </a:r>
              </a:p>
              <a:p>
                <a:pPr lvl="0" indent="0" marL="0">
                  <a:buNone/>
                </a:pPr>
                <a:r>
                  <a:rPr/>
                  <a:t>0.57</a:t>
                </a:r>
              </a:p>
              <a:p>
                <a:pPr lvl="0" indent="0" marL="0">
                  <a:buNone/>
                </a:pPr>
                <a:r>
                  <a:rPr/>
                  <a:t>1. Code Python: tokenize, chuẩn hóa và tra ID</a:t>
                </a:r>
              </a:p>
              <a:p>
                <a:pPr lvl="0" indent="0">
                  <a:buNone/>
                </a:pPr>
                <a:r>
                  <a:rPr>
                    <a:latin typeface="Courier"/>
                  </a:rPr>
                  <a:t>text = "We are learning AI"
tokens = text.split()
tokens = [tok.lower() for tok in tokens]
vocab = {
    "[UNK]": 0, "[PAD]": 1, "ai": 2,
    "a": 3, "are": 4, "cs": 5,
    "is": 6, "learning": 7,
}
ids = [vocab.get(tok, vocab["[UNK]"]) for tok in tokens]
target = vocab["is"]</a:t>
                </a:r>
              </a:p>
              <a:p>
                <a:pPr lvl="0" indent="0" marL="0">
                  <a:buNone/>
                </a:pPr>
                <a:r>
                  <a:rPr/>
                  <a:t>2. Kết quả đầu ra </a:t>
                </a:r>
                <a:r>
                  <a:rPr>
                    <a:latin typeface="Courier"/>
                  </a:rPr>
                  <a:t>tokens = ["we", "are", "learning", "ai"]</a:t>
                </a:r>
                <a:br/>
                <a:r>
                  <a:rPr>
                    <a:latin typeface="Courier"/>
                  </a:rPr>
                  <a:t>ids = [0, 4, 7, 2], target = 6</a:t>
                </a:r>
              </a:p>
              <a:p>
                <a:pPr lvl="0" indent="0" marL="0">
                  <a:buNone/>
                </a:pPr>
                <a:r>
                  <a:rPr/>
                  <a:t>0.39</a:t>
                </a:r>
              </a:p>
              <a:p>
                <a:pPr lvl="0" indent="0" marL="0">
                  <a:buNone/>
                </a:pPr>
                <a:r>
                  <a:rPr i="1"/>
                  <a:t>Tokenizer chỉ biến chuỗi thành token; vocabulary biến token thành ID.</a:t>
                </a:r>
              </a:p>
              <a:p>
                <a:pPr lvl="0" indent="0" marL="0">
                  <a:buNone/>
                </a:pPr>
                <a:r>
                  <a:rPr/>
                  <a:t>Padding &amp; Embedding: biến ID thành vector số</a:t>
                </a:r>
              </a:p>
              <a:p>
                <a:pPr lvl="0" indent="0" marL="0">
                  <a:buNone/>
                </a:pPr>
                <a:r>
                  <a:rPr/>
                  <a:t>0.48</a:t>
                </a:r>
              </a:p>
              <a:p>
                <a:pPr lvl="0" indent="0" marL="0">
                  <a:buNone/>
                </a:pPr>
                <a:r>
                  <a:rPr/>
                  <a:t>Code PyTorch: padding và embedding</a:t>
                </a:r>
              </a:p>
              <a:p>
                <a:pPr lvl="0" indent="0">
                  <a:buNone/>
                </a:pPr>
                <a:r>
                  <a:rPr>
                    <a:latin typeface="Courier"/>
                  </a:rPr>
                  <a:t>import torch
import torch.nn as nn
import torch.nn.functional as F
ids = torch.tensor([0, 4, 7, 2])
ids = F.pad(ids, (0, 1), value=1)
embedding = nn.Embedding(8, 4)
X = embedding(ids)</a:t>
                </a:r>
              </a:p>
              <a:p>
                <a:pPr lvl="0" indent="0" marL="0">
                  <a:buNone/>
                </a:pPr>
                <a:r>
                  <a:rPr/>
                  <a:t>Kết quả về kích thước </a:t>
                </a:r>
                <a:r>
                  <a:rPr>
                    <a:latin typeface="Courier"/>
                  </a:rPr>
                  <a:t>ids = [0, 4, 7, 2, 1]</a:t>
                </a:r>
                <a:br/>
                <a:r>
                  <a:rPr>
                    <a:latin typeface="Courier"/>
                  </a:rPr>
                  <a:t>X.shape = torch.Size([5, 4])</a:t>
                </a:r>
              </a:p>
              <a:p>
                <a:pPr lvl="0" indent="0" marL="0">
                  <a:buNone/>
                </a:pPr>
                <a:r>
                  <a:rPr/>
                  <a:t>0.48</a:t>
                </a:r>
              </a:p>
              <a:p>
                <a:pPr lvl="0" indent="0" marL="0">
                  <a:buNone/>
                </a:pPr>
                <a:r>
                  <a:rPr/>
                  <a:t>Ý nghĩa của từng bước </a:t>
                </a:r>
                <a14:m>
                  <m:oMath xmlns:m="http://schemas.openxmlformats.org/officeDocument/2006/math">
                    <m:r>
                      <m:t>L</m:t>
                    </m:r>
                    <m:r>
                      <m:rPr>
                        <m:sty m:val="p"/>
                      </m:rPr>
                      <m:t>=</m:t>
                    </m:r>
                    <m:r>
                      <m:t>5</m:t>
                    </m:r>
                  </m:oMath>
                </a14:m>
                <a:r>
                  <a:rPr/>
                  <a:t> là cửa sổ đầu vào cố định; </a:t>
                </a:r>
                <a:r>
                  <a:rPr>
                    <a:latin typeface="Courier"/>
                  </a:rPr>
                  <a:t>[PAD]</a:t>
                </a:r>
                <a:r>
                  <a:rPr/>
                  <a:t> chỉ được thêm để mọi mẫu có cùng chiều dài.</a:t>
                </a:r>
              </a:p>
              <a:p>
                <a:pPr lvl="0" indent="0" marL="0">
                  <a:buNone/>
                </a:pPr>
                <a:r>
                  <a:rPr/>
                  <a:t>Nhãn cần dự đoán:</a:t>
                </a:r>
              </a:p>
              <a:p>
                <a:pPr lvl="0" indent="0" marL="0">
                  <a:buNone/>
                </a:pPr>
                <a14:m>
                  <m:oMathPara xmlns:m="http://schemas.openxmlformats.org/officeDocument/2006/math">
                    <m:oMathParaPr>
                      <m:jc m:val="center"/>
                    </m:oMathParaPr>
                    <m:oMath>
                      <m:r>
                        <m:t>y</m:t>
                      </m:r>
                      <m:r>
                        <m:rPr>
                          <m:sty m:val="p"/>
                        </m:rPr>
                        <m:t>=</m:t>
                      </m:r>
                      <m:r>
                        <m:t>6</m:t>
                      </m:r>
                      <m:r>
                        <m:t> </m:t>
                      </m:r>
                      <m:r>
                        <m:rPr>
                          <m:sty m:val="p"/>
                        </m:rPr>
                        <m:t>⇔</m:t>
                      </m:r>
                      <m:r>
                        <m:t> </m:t>
                      </m:r>
                      <m:r>
                        <m:rPr>
                          <m:nor/>
                          <m:scr m:val="monospace"/>
                          <m:sty m:val="p"/>
                        </m:rPr>
                        <m:t>is</m:t>
                      </m:r>
                    </m:oMath>
                  </m:oMathPara>
                </a14:m>
              </a:p>
              <a:p>
                <a:pPr lvl="0" indent="0" marL="0">
                  <a:buNone/>
                </a:pPr>
                <a:r>
                  <a:rPr/>
                  <a:t>Embedding lookup Ma trận embedding </a:t>
                </a:r>
                <a14:m>
                  <m:oMath xmlns:m="http://schemas.openxmlformats.org/officeDocument/2006/math">
                    <m:r>
                      <m:t>E</m:t>
                    </m:r>
                    <m:r>
                      <m:rPr>
                        <m:sty m:val="p"/>
                      </m:rPr>
                      <m:t>∈</m:t>
                    </m:r>
                    <m:sSup>
                      <m:e>
                        <m:r>
                          <m:rPr>
                            <m:scr m:val="double-struck"/>
                            <m:sty m:val="p"/>
                          </m:rPr>
                          <m:t>R</m:t>
                        </m:r>
                      </m:e>
                      <m:sup>
                        <m:r>
                          <m:rPr>
                            <m:sty m:val="p"/>
                          </m:rPr>
                          <m:t>|</m:t>
                        </m:r>
                        <m:r>
                          <m:t>V</m:t>
                        </m:r>
                        <m:r>
                          <m:rPr>
                            <m:sty m:val="p"/>
                          </m:rPr>
                          <m:t>|</m:t>
                        </m:r>
                        <m:r>
                          <m:rPr>
                            <m:sty m:val="p"/>
                          </m:rPr>
                          <m:t>×</m:t>
                        </m:r>
                        <m:r>
                          <m:t>d</m:t>
                        </m:r>
                      </m:sup>
                    </m:sSup>
                    <m:r>
                      <m:rPr>
                        <m:sty m:val="p"/>
                      </m:rPr>
                      <m:t>=</m:t>
                    </m:r>
                    <m:sSup>
                      <m:e>
                        <m:r>
                          <m:rPr>
                            <m:scr m:val="double-struck"/>
                            <m:sty m:val="p"/>
                          </m:rPr>
                          <m:t>R</m:t>
                        </m:r>
                      </m:e>
                      <m:sup>
                        <m:r>
                          <m:t>8</m:t>
                        </m:r>
                        <m:r>
                          <m:rPr>
                            <m:sty m:val="p"/>
                          </m:rPr>
                          <m:t>×</m:t>
                        </m:r>
                        <m:r>
                          <m:t>4</m:t>
                        </m:r>
                      </m:sup>
                    </m:sSup>
                  </m:oMath>
                </a14:m>
                <a:r>
                  <a:rPr/>
                  <a:t>.</a:t>
                </a:r>
              </a:p>
              <a:p>
                <a:pPr lvl="0" indent="0" marL="0">
                  <a:buNone/>
                </a:pPr>
                <a:r>
                  <a:rPr/>
                  <a:t>Mỗi ID được thay bằng một vector học được:</a:t>
                </a:r>
              </a:p>
              <a:p>
                <a:pPr lvl="0" indent="0" marL="0">
                  <a:buNone/>
                </a:pPr>
                <a14:m>
                  <m:oMathPara xmlns:m="http://schemas.openxmlformats.org/officeDocument/2006/math">
                    <m:oMathParaPr>
                      <m:jc m:val="center"/>
                    </m:oMathParaPr>
                    <m:oMath>
                      <m:d>
                        <m:dPr>
                          <m:begChr m:val="["/>
                          <m:sepChr m:val=""/>
                          <m:endChr m:val="]"/>
                          <m:grow/>
                        </m:dPr>
                        <m:e>
                          <m:m>
                            <m:mPr>
                              <m:baseJc m:val="center"/>
                              <m:plcHide m:val="on"/>
                              <m:mcs>
                                <m:mc>
                                  <m:mcPr>
                                    <m:mcJc m:val="center"/>
                                    <m:count m:val="1"/>
                                  </m:mcPr>
                                </m:mc>
                              </m:mcs>
                            </m:mPr>
                            <m:mr>
                              <m:e>
                                <m:r>
                                  <m:t>0</m:t>
                                </m:r>
                              </m:e>
                            </m:mr>
                            <m:mr>
                              <m:e>
                                <m:r>
                                  <m:t>4</m:t>
                                </m:r>
                              </m:e>
                            </m:mr>
                            <m:mr>
                              <m:e>
                                <m:r>
                                  <m:t>7</m:t>
                                </m:r>
                              </m:e>
                            </m:mr>
                            <m:mr>
                              <m:e>
                                <m:r>
                                  <m:t>2</m:t>
                                </m:r>
                              </m:e>
                            </m:mr>
                            <m:mr>
                              <m:e>
                                <m:r>
                                  <m:t>1</m:t>
                                </m:r>
                              </m:e>
                            </m:mr>
                          </m:m>
                        </m:e>
                      </m:d>
                      <m:r>
                        <m:t> </m:t>
                      </m:r>
                      <m:r>
                        <m:rPr>
                          <m:sty m:val="p"/>
                        </m:rPr>
                        <m:t>→</m:t>
                      </m:r>
                      <m:r>
                        <m:t> </m:t>
                      </m:r>
                      <m:d>
                        <m:dPr>
                          <m:begChr m:val="["/>
                          <m:sepChr m:val=""/>
                          <m:endChr m:val="]"/>
                          <m:grow/>
                        </m:dPr>
                        <m:e>
                          <m:m>
                            <m:mPr>
                              <m:baseJc m:val="center"/>
                              <m:plcHide m:val="on"/>
                              <m:mcs>
                                <m:mc>
                                  <m:mcPr>
                                    <m:mcJc m:val="center"/>
                                    <m:count m:val="1"/>
                                  </m:mcPr>
                                </m:mc>
                              </m:mcs>
                            </m:mPr>
                            <m:mr>
                              <m:e>
                                <m:sSub>
                                  <m:e>
                                    <m:r>
                                      <m:t>e</m:t>
                                    </m:r>
                                  </m:e>
                                  <m:sub>
                                    <m:r>
                                      <m:t>0</m:t>
                                    </m:r>
                                  </m:sub>
                                </m:sSub>
                              </m:e>
                            </m:mr>
                            <m:mr>
                              <m:e>
                                <m:sSub>
                                  <m:e>
                                    <m:r>
                                      <m:t>e</m:t>
                                    </m:r>
                                  </m:e>
                                  <m:sub>
                                    <m:r>
                                      <m:t>4</m:t>
                                    </m:r>
                                  </m:sub>
                                </m:sSub>
                              </m:e>
                            </m:mr>
                            <m:mr>
                              <m:e>
                                <m:sSub>
                                  <m:e>
                                    <m:r>
                                      <m:t>e</m:t>
                                    </m:r>
                                  </m:e>
                                  <m:sub>
                                    <m:r>
                                      <m:t>7</m:t>
                                    </m:r>
                                  </m:sub>
                                </m:sSub>
                              </m:e>
                            </m:mr>
                            <m:mr>
                              <m:e>
                                <m:sSub>
                                  <m:e>
                                    <m:r>
                                      <m:t>e</m:t>
                                    </m:r>
                                  </m:e>
                                  <m:sub>
                                    <m:r>
                                      <m:t>2</m:t>
                                    </m:r>
                                  </m:sub>
                                </m:sSub>
                              </m:e>
                            </m:mr>
                            <m:mr>
                              <m:e>
                                <m:sSub>
                                  <m:e>
                                    <m:r>
                                      <m:t>e</m:t>
                                    </m:r>
                                  </m:e>
                                  <m:sub>
                                    <m:r>
                                      <m:t>1</m:t>
                                    </m:r>
                                  </m:sub>
                                </m:sSub>
                              </m:e>
                            </m:mr>
                          </m:m>
                        </m:e>
                      </m:d>
                      <m:r>
                        <m:rPr>
                          <m:sty m:val="p"/>
                        </m:rPr>
                        <m:t>∈</m:t>
                      </m:r>
                      <m:sSup>
                        <m:e>
                          <m:r>
                            <m:rPr>
                              <m:scr m:val="double-struck"/>
                              <m:sty m:val="p"/>
                            </m:rPr>
                            <m:t>R</m:t>
                          </m:r>
                        </m:e>
                        <m:sup>
                          <m:r>
                            <m:t>5</m:t>
                          </m:r>
                          <m:r>
                            <m:rPr>
                              <m:sty m:val="p"/>
                            </m:rPr>
                            <m:t>×</m:t>
                          </m:r>
                          <m:r>
                            <m:t>4</m:t>
                          </m:r>
                        </m:sup>
                      </m:sSup>
                    </m:oMath>
                  </m:oMathPara>
                </a14:m>
              </a:p>
              <a:p>
                <a:pPr lvl="0" indent="0" marL="0">
                  <a:buNone/>
                </a:pPr>
                <a:r>
                  <a:rPr/>
                  <a:t>MLP dự đoán từ tiếp theo: Forward Pass</a:t>
                </a:r>
              </a:p>
              <a:p>
                <a:pPr lvl="0" indent="0" marL="0">
                  <a:buNone/>
                </a:pPr>
                <a:r>
                  <a:rPr/>
                  <a:t>0.61</a:t>
                </a:r>
              </a:p>
              <a:p>
                <a:pPr lvl="0" indent="0" marL="0">
                  <a:buNone/>
                </a:pPr>
                <a:r>
                  <a:rPr/>
                  <a:t>Code PyTorch: Flatten và MLP</a:t>
                </a:r>
              </a:p>
              <a:p>
                <a:pPr lvl="0" indent="0">
                  <a:buNone/>
                </a:pPr>
                <a:r>
                  <a:rPr>
                    <a:latin typeface="Courier"/>
                  </a:rPr>
                  <a:t>import torch
import torch.nn as nn
X = torch.randn(5, 4)       # output cua Embedding
mlp = nn.Sequential(
    nn.Linear(5 * 4, 16), nn.ReLU(),
    nn.Linear(16, 8)
)
x = X.flatten().unsqueeze(0) # [1, 20]
logits = mlp(x)              # [1, 8]</a:t>
                </a:r>
              </a:p>
              <a:p>
                <a:pPr lvl="0" indent="0" marL="0">
                  <a:buNone/>
                </a:pPr>
                <a:r>
                  <a:rPr/>
                  <a:t>0.35</a:t>
                </a:r>
              </a:p>
              <a:p>
                <a:pPr lvl="0" indent="0" marL="0">
                  <a:buNone/>
                </a:pPr>
                <a:r>
                  <a:rPr/>
                  <a:t>Kích thước tensor </a:t>
                </a:r>
                <a:r>
                  <a:rPr>
                    <a:latin typeface="Courier"/>
                  </a:rPr>
                  <a:t>X.shape = [5, 4]</a:t>
                </a:r>
                <a:br/>
                <a:r>
                  <a:rPr>
                    <a:latin typeface="Courier"/>
                  </a:rPr>
                  <a:t>x.shape = [1, 20]</a:t>
                </a:r>
                <a:br/>
                <a:r>
                  <a:rPr>
                    <a:latin typeface="Courier"/>
                  </a:rPr>
                  <a:t>logits.shape = [1, 8]</a:t>
                </a:r>
              </a:p>
              <a:p>
                <a:pPr lvl="0" indent="0" marL="0">
                  <a:buNone/>
                </a:pPr>
                <a:r>
                  <a:rPr/>
                  <a:t>Flatten biến 5 vector embedding thành một vector phẳng; MLP không còn thấy trạng thái theo thời gian.</a:t>
                </a:r>
              </a:p>
              <a:p>
                <a:pPr lvl="0" indent="0" marL="0">
                  <a:buNone/>
                </a:pPr>
                <a:r>
                  <a:rPr/>
                  <a:t>Từ Softmax đến từ được dự đoán: Loss</a:t>
                </a:r>
              </a:p>
              <a:p>
                <a:pPr lvl="0" indent="0" marL="0">
                  <a:buNone/>
                </a:pPr>
                <a:r>
                  <a:rPr/>
                  <a:t>0.56</a:t>
                </a:r>
              </a:p>
              <a:p>
                <a:pPr lvl="0" indent="0" marL="0">
                  <a:buNone/>
                </a:pPr>
                <a:r>
                  <a:rPr/>
                  <a:t>Code PyTorch: Softmax và Cross-Entropy</a:t>
                </a:r>
              </a:p>
              <a:p>
                <a:pPr lvl="0" indent="0">
                  <a:buNone/>
                </a:pPr>
                <a:r>
                  <a:rPr>
                    <a:latin typeface="Courier"/>
                  </a:rPr>
                  <a:t>import torch
import torch.nn.functional as F
target_probs = torch.tensor([
    [.02, .04, .05, .02, .08, .06, .62, .11]])
logits = target_probs.log()
probs = F.softmax(logits, dim=-1)
y = torch.tensor([6])
loss = F.cross_entropy(logits, y)
print(probs.argmax(dim=-1).item()) # 6 = is
print(loss.item())                 # -log(0.62)</a:t>
                </a:r>
              </a:p>
              <a:p>
                <a:pPr lvl="0" indent="0" marL="0">
                  <a:buNone/>
                </a:pPr>
                <a:r>
                  <a:rPr/>
                  <a:t>Ý nghĩa </a:t>
                </a:r>
                <a14:m>
                  <m:oMath xmlns:m="http://schemas.openxmlformats.org/officeDocument/2006/math">
                    <m:sSub>
                      <m:e>
                        <m:r>
                          <m:t>p</m:t>
                        </m:r>
                      </m:e>
                      <m:sub>
                        <m:r>
                          <m:t>i</m:t>
                        </m:r>
                      </m:sub>
                    </m:sSub>
                    <m:r>
                      <m:rPr>
                        <m:sty m:val="p"/>
                      </m:rPr>
                      <m:t>=</m:t>
                    </m:r>
                    <m:r>
                      <m:rPr>
                        <m:sty m:val="p"/>
                      </m:rPr>
                      <m:t>softmax</m:t>
                    </m:r>
                    <m:r>
                      <m:rPr>
                        <m:sty m:val="p"/>
                      </m:rPr>
                      <m:t>(</m:t>
                    </m:r>
                    <m:r>
                      <m:t>z</m:t>
                    </m:r>
                    <m:sSub>
                      <m:e>
                        <m:r>
                          <m:rPr>
                            <m:sty m:val="p"/>
                          </m:rPr>
                          <m:t>)</m:t>
                        </m:r>
                      </m:e>
                      <m:sub>
                        <m:r>
                          <m:t>i</m:t>
                        </m:r>
                      </m:sub>
                    </m:sSub>
                  </m:oMath>
                </a14:m>
                <a:r>
                  <a:rPr/>
                  <a:t>, nhãn đúng là </a:t>
                </a:r>
                <a14:m>
                  <m:oMath xmlns:m="http://schemas.openxmlformats.org/officeDocument/2006/math">
                    <m:r>
                      <m:t>y</m:t>
                    </m:r>
                    <m:r>
                      <m:rPr>
                        <m:sty m:val="p"/>
                      </m:rPr>
                      <m:t>=</m:t>
                    </m:r>
                    <m:r>
                      <m:t>6</m:t>
                    </m:r>
                  </m:oMath>
                </a14:m>
                <a:r>
                  <a:rPr/>
                  <a:t> (từ </a:t>
                </a:r>
                <a:r>
                  <a:rPr>
                    <a:latin typeface="Courier"/>
                  </a:rPr>
                  <a:t>is</a:t>
                </a:r>
                <a:r>
                  <a:rPr/>
                  <a:t>):</a:t>
                </a:r>
              </a:p>
              <a:p>
                <a:pPr lvl="0" indent="0" marL="0">
                  <a:buNone/>
                </a:pPr>
                <a14:m>
                  <m:oMathPara xmlns:m="http://schemas.openxmlformats.org/officeDocument/2006/math">
                    <m:oMathParaPr>
                      <m:jc m:val="center"/>
                    </m:oMathParaPr>
                    <m:oMath>
                      <m:r>
                        <m:rPr>
                          <m:scr m:val="script"/>
                          <m:sty m:val="p"/>
                        </m:rPr>
                        <m:t>L</m:t>
                      </m:r>
                      <m:r>
                        <m:rPr>
                          <m:sty m:val="p"/>
                        </m:rPr>
                        <m:t>=</m:t>
                      </m:r>
                      <m:r>
                        <m:rPr>
                          <m:sty m:val="p"/>
                        </m:rPr>
                        <m:t>−</m:t>
                      </m:r>
                      <m:r>
                        <m:rPr>
                          <m:sty m:val="p"/>
                        </m:rPr>
                        <m:t>log</m:t>
                      </m:r>
                      <m:sSub>
                        <m:e>
                          <m:r>
                            <m:t>p</m:t>
                          </m:r>
                        </m:e>
                        <m:sub>
                          <m:r>
                            <m:t>6</m:t>
                          </m:r>
                        </m:sub>
                      </m:sSub>
                    </m:oMath>
                  </m:oMathPara>
                </a14:m>
              </a:p>
              <a:p>
                <a:pPr lvl="0" indent="0" marL="0">
                  <a:buNone/>
                </a:pPr>
                <a:r>
                  <a:rPr/>
                  <a:t>Muốn loss nhỏ, mô hình phải đẩy xác suất của </a:t>
                </a:r>
                <a:r>
                  <a:rPr>
                    <a:latin typeface="Courier"/>
                  </a:rPr>
                  <a:t>is</a:t>
                </a:r>
                <a:r>
                  <a:rPr/>
                  <a:t> lên cao.</a:t>
                </a:r>
              </a:p>
              <a:p>
                <a:pPr lvl="0" indent="0" marL="0">
                  <a:buNone/>
                </a:pPr>
                <a:r>
                  <a:rPr/>
                  <a:t>0.38</a:t>
                </a:r>
              </a:p>
              <a:p>
                <a:pPr lvl="0" indent="0" marL="0">
                  <a:buNone/>
                </a:pPr>
                <a:r>
                  <a:rPr/>
                  <a:t>Ví dụ đầu ra</a:t>
                </a:r>
              </a:p>
              <a:p>
                <a:pPr lvl="0" indent="0" marL="0">
                  <a:buNone/>
                </a:pPr>
                <a14:m>
                  <m:oMathPara xmlns:m="http://schemas.openxmlformats.org/officeDocument/2006/math">
                    <m:oMathParaPr>
                      <m:jc m:val="center"/>
                    </m:oMathParaPr>
                    <m:oMath>
                      <m:acc>
                        <m:accPr>
                          <m:chr m:val="̂"/>
                        </m:accPr>
                        <m:e>
                          <m:r>
                            <m:t>y</m:t>
                          </m:r>
                        </m:e>
                      </m:acc>
                      <m:r>
                        <m:rPr>
                          <m:sty m:val="p"/>
                        </m:rPr>
                        <m:t>=</m:t>
                      </m:r>
                      <m:r>
                        <m:rPr>
                          <m:sty m:val="p"/>
                        </m:rPr>
                        <m:t>arg</m:t>
                      </m:r>
                      <m:limLow>
                        <m:e>
                          <m:r>
                            <m:rPr>
                              <m:sty m:val="p"/>
                            </m:rPr>
                            <m:t>max</m:t>
                          </m:r>
                        </m:e>
                        <m:lim>
                          <m:r>
                            <m:t>i</m:t>
                          </m:r>
                        </m:lim>
                      </m:limLow>
                      <m:sSub>
                        <m:e>
                          <m:r>
                            <m:t>p</m:t>
                          </m:r>
                        </m:e>
                        <m:sub>
                          <m:r>
                            <m:t>i</m:t>
                          </m:r>
                        </m:sub>
                      </m:sSub>
                      <m:r>
                        <m:rPr>
                          <m:sty m:val="p"/>
                        </m:rPr>
                        <m:t>=</m:t>
                      </m:r>
                      <m:r>
                        <m:t>6</m:t>
                      </m:r>
                    </m:oMath>
                  </m:oMathPara>
                </a14:m>
              </a:p>
              <a:p>
                <a:pPr lvl="0" indent="0" marL="0">
                  <a:buNone/>
                </a:pPr>
                <a:r>
                  <a:rPr b="1"/>
                  <a:t>Dự đoán: “is”</a:t>
                </a:r>
              </a:p>
              <a:p>
                <a:pPr lvl="0" indent="0" marL="0">
                  <a:buNone/>
                </a:pPr>
                <a:r>
                  <a:rPr/>
                  <a:t>Từ giới hạn của MLP đến nhu cầu về RNN</a:t>
                </a:r>
              </a:p>
              <a:p>
                <a:pPr lvl="0" indent="0" marL="0">
                  <a:buNone/>
                </a:pPr>
                <a:r>
                  <a:rPr/>
                  <a:t>Ý tưởng Cốt lõi của RNN: Trạng thái Ẩn (</a:t>
                </a:r>
                <a14:m>
                  <m:oMath xmlns:m="http://schemas.openxmlformats.org/officeDocument/2006/math">
                    <m:sSub>
                      <m:e>
                        <m:r>
                          <m:t>h</m:t>
                        </m:r>
                      </m:e>
                      <m:sub>
                        <m:r>
                          <m:t>t</m:t>
                        </m:r>
                      </m:sub>
                    </m:sSub>
                  </m:oMath>
                </a14:m>
                <a:r>
                  <a:rPr/>
                  <a:t>) </a:t>
                </a:r>
                <a:r>
                  <a:rPr b="1"/>
                  <a:t>Trực giác:</a:t>
                </a:r>
                <a:r>
                  <a:rPr/>
                  <a:t> Con người không bắt đầu tư duy lại từ đầu ở từng chữ, mà liên tục duy trì một dòng ý thức </a:t>
                </a:r>
                <a:r>
                  <a:rPr b="1"/>
                  <a:t>nén dần thông tin quá khứ</a:t>
                </a:r>
                <a:r>
                  <a:rPr/>
                  <a:t>.</a:t>
                </a:r>
              </a:p>
              <a:p>
                <a:pPr lvl="0" indent="0" marL="0">
                  <a:buNone/>
                </a:pPr>
                <a:r>
                  <a:rPr/>
                  <a:t>0.46</a:t>
                </a:r>
              </a:p>
              <a:p>
                <a:pPr lvl="0" indent="0" marL="0">
                  <a:buNone/>
                </a:pPr>
                <a14:m>
                  <m:oMath xmlns:m="http://schemas.openxmlformats.org/officeDocument/2006/math">
                    <m:sSub>
                      <m:e>
                        <m:r>
                          <m:t>h</m:t>
                        </m:r>
                      </m:e>
                      <m:sub>
                        <m:r>
                          <m:t>t</m:t>
                        </m:r>
                      </m:sub>
                    </m:sSub>
                  </m:oMath>
                </a14:m>
                <a:r>
                  <a:rPr b="1"/>
                  <a:t> = "trí nhớ" nén toàn bộ quá khứ:</a:t>
                </a:r>
              </a:p>
              <a:p>
                <a:pPr lvl="0"/>
                <a14:m>
                  <m:oMath xmlns:m="http://schemas.openxmlformats.org/officeDocument/2006/math">
                    <m:sSub>
                      <m:e>
                        <m:r>
                          <m:t>h</m:t>
                        </m:r>
                      </m:e>
                      <m:sub>
                        <m:r>
                          <m:t>1</m:t>
                        </m:r>
                      </m:sub>
                    </m:sSub>
                  </m:oMath>
                </a14:m>
                <a:r>
                  <a:rPr/>
                  <a:t>: chỉ nhớ "Tôi"</a:t>
                </a:r>
              </a:p>
              <a:p>
                <a:pPr lvl="0"/>
                <a14:m>
                  <m:oMath xmlns:m="http://schemas.openxmlformats.org/officeDocument/2006/math">
                    <m:sSub>
                      <m:e>
                        <m:r>
                          <m:t>h</m:t>
                        </m:r>
                      </m:e>
                      <m:sub>
                        <m:r>
                          <m:t>2</m:t>
                        </m:r>
                      </m:sub>
                    </m:sSub>
                  </m:oMath>
                </a14:m>
                <a:r>
                  <a:rPr/>
                  <a:t>: nhớ "Tôi" + "đang"</a:t>
                </a:r>
              </a:p>
              <a:p>
                <a:pPr lvl="0"/>
                <a14:m>
                  <m:oMath xmlns:m="http://schemas.openxmlformats.org/officeDocument/2006/math">
                    <m:sSub>
                      <m:e>
                        <m:r>
                          <m:t>h</m:t>
                        </m:r>
                      </m:e>
                      <m:sub>
                        <m:r>
                          <m:t>3</m:t>
                        </m:r>
                      </m:sub>
                    </m:sSub>
                  </m:oMath>
                </a14:m>
                <a:r>
                  <a:rPr/>
                  <a:t>: nhớ trọn câu "Tôi đang học"</a:t>
                </a:r>
              </a:p>
              <a:p>
                <a:pPr lvl="0" indent="0" marL="0">
                  <a:buNone/>
                </a:pPr>
                <a:r>
                  <a:rPr/>
                  <a:t>0.52</a:t>
                </a:r>
              </a:p>
              <a:p>
                <a:pPr lvl="0" indent="0" marL="0">
                  <a:buNone/>
                </a:pPr>
                <a:r>
                  <a:rPr b="1"/>
                  <a:t>Phương trình đệ quy của RNN</a:t>
                </a:r>
                <a:r>
                  <a:rPr/>
                  <a:t> Mỗi bước chỉ cần </a:t>
                </a:r>
                <a:r>
                  <a:rPr b="1"/>
                  <a:t>trạng thái liền trước</a:t>
                </a:r>
                <a:r>
                  <a:rPr/>
                  <a:t> </a:t>
                </a:r>
                <a14:m>
                  <m:oMath xmlns:m="http://schemas.openxmlformats.org/officeDocument/2006/math">
                    <m:sSub>
                      <m:e>
                        <m:r>
                          <m:t>h</m:t>
                        </m:r>
                      </m:e>
                      <m:sub>
                        <m:r>
                          <m:t>t</m:t>
                        </m:r>
                        <m:r>
                          <m:rPr>
                            <m:sty m:val="p"/>
                          </m:rPr>
                          <m:t>−</m:t>
                        </m:r>
                        <m:r>
                          <m:t>1</m:t>
                        </m:r>
                      </m:sub>
                    </m:sSub>
                  </m:oMath>
                </a14:m>
                <a:r>
                  <a:rPr/>
                  <a:t> và </a:t>
                </a:r>
                <a:r>
                  <a:rPr b="1"/>
                  <a:t>đầu vào hiện tại</a:t>
                </a:r>
                <a:r>
                  <a:rPr/>
                  <a:t> </a:t>
                </a:r>
                <a14:m>
                  <m:oMath xmlns:m="http://schemas.openxmlformats.org/officeDocument/2006/math">
                    <m:sSub>
                      <m:e>
                        <m:r>
                          <m:t>x</m:t>
                        </m:r>
                      </m:e>
                      <m:sub>
                        <m:r>
                          <m:t>t</m:t>
                        </m:r>
                      </m:sub>
                    </m:sSub>
                  </m:oMath>
                </a14:m>
                <a:r>
                  <a:rPr/>
                  <a:t>:</a:t>
                </a:r>
              </a:p>
              <a:p>
                <a:pPr lvl="0" indent="0" marL="0">
                  <a:buNone/>
                </a:pPr>
                <a14:m>
                  <m:oMathPara xmlns:m="http://schemas.openxmlformats.org/officeDocument/2006/math">
                    <m:oMathParaPr>
                      <m:jc m:val="center"/>
                    </m:oMathParaPr>
                    <m:oMath>
                      <m:sSub>
                        <m:e>
                          <m:r>
                            <m:t>h</m:t>
                          </m:r>
                        </m:e>
                        <m:sub>
                          <m:r>
                            <m:t>t</m:t>
                          </m:r>
                        </m:sub>
                      </m:sSub>
                      <m:r>
                        <m:rPr>
                          <m:sty m:val="p"/>
                        </m:rPr>
                        <m:t>=</m:t>
                      </m:r>
                      <m:sSub>
                        <m:e>
                          <m:r>
                            <m:t>f</m:t>
                          </m:r>
                        </m:e>
                        <m:sub>
                          <m:r>
                            <m:t>θ</m:t>
                          </m:r>
                        </m:sub>
                      </m:sSub>
                      <m:r>
                        <m:t>​</m:t>
                      </m:r>
                      <m:d>
                        <m:dPr>
                          <m:begChr m:val="("/>
                          <m:sepChr m:val=""/>
                          <m:endChr m:val=")"/>
                          <m:grow/>
                        </m:dPr>
                        <m:e>
                          <m:sSub>
                            <m:e>
                              <m:r>
                                <m:t>h</m:t>
                              </m:r>
                            </m:e>
                            <m:sub>
                              <m:r>
                                <m:t>t</m:t>
                              </m:r>
                              <m:r>
                                <m:rPr>
                                  <m:sty m:val="p"/>
                                </m:rPr>
                                <m:t>−</m:t>
                              </m:r>
                              <m:r>
                                <m:t>1</m:t>
                              </m:r>
                            </m:sub>
                          </m:sSub>
                          <m:r>
                            <m:rPr>
                              <m:sty m:val="p"/>
                            </m:rPr>
                            <m:t>,</m:t>
                          </m:r>
                          <m:r>
                            <m:t> </m:t>
                          </m:r>
                          <m:sSub>
                            <m:e>
                              <m:r>
                                <m:t>x</m:t>
                              </m:r>
                            </m:e>
                            <m:sub>
                              <m:r>
                                <m:t>t</m:t>
                              </m:r>
                            </m:sub>
                          </m:sSub>
                        </m:e>
                      </m:d>
                    </m:oMath>
                  </m:oMathPara>
                </a14:m>
              </a:p>
              <a:p>
                <a:pPr lvl="0"/>
                <a:r>
                  <a:rPr b="1"/>
                  <a:t>Tóm tắt lịch sử vô hạn:</a:t>
                </a:r>
                <a:r>
                  <a:rPr/>
                  <a:t> </a:t>
                </a:r>
                <a14:m>
                  <m:oMath xmlns:m="http://schemas.openxmlformats.org/officeDocument/2006/math">
                    <m:sSub>
                      <m:e>
                        <m:r>
                          <m:t>h</m:t>
                        </m:r>
                      </m:e>
                      <m:sub>
                        <m:r>
                          <m:t>t</m:t>
                        </m:r>
                        <m:r>
                          <m:rPr>
                            <m:sty m:val="p"/>
                          </m:rPr>
                          <m:t>−</m:t>
                        </m:r>
                        <m:r>
                          <m:t>1</m:t>
                        </m:r>
                      </m:sub>
                    </m:sSub>
                  </m:oMath>
                </a14:m>
                <a:r>
                  <a:rPr/>
                  <a:t> đã chứa cả chuỗi quá khứ </a:t>
                </a:r>
                <a14:m>
                  <m:oMath xmlns:m="http://schemas.openxmlformats.org/officeDocument/2006/math">
                    <m:sSub>
                      <m:e>
                        <m:r>
                          <m:t>x</m:t>
                        </m:r>
                      </m:e>
                      <m:sub>
                        <m:r>
                          <m:t>1</m:t>
                        </m:r>
                      </m:sub>
                    </m:sSub>
                    <m:r>
                      <m:rPr>
                        <m:sty m:val="p"/>
                      </m:rPr>
                      <m:t>,</m:t>
                    </m:r>
                    <m:r>
                      <m:rPr>
                        <m:sty m:val="p"/>
                      </m:rPr>
                      <m:t>…</m:t>
                    </m:r>
                    <m:r>
                      <m:rPr>
                        <m:sty m:val="p"/>
                      </m:rPr>
                      <m:t>,</m:t>
                    </m:r>
                    <m:sSub>
                      <m:e>
                        <m:r>
                          <m:t>x</m:t>
                        </m:r>
                      </m:e>
                      <m:sub>
                        <m:r>
                          <m:t>t</m:t>
                        </m:r>
                        <m:r>
                          <m:rPr>
                            <m:sty m:val="p"/>
                          </m:rPr>
                          <m:t>−</m:t>
                        </m:r>
                        <m:r>
                          <m:t>1</m:t>
                        </m:r>
                      </m:sub>
                    </m:sSub>
                  </m:oMath>
                </a14:m>
                <a:r>
                  <a:rPr/>
                  <a:t>, nên quá khứ dài bao nhiêu cũng được nén vào vector </a:t>
                </a:r>
                <a:r>
                  <a:rPr b="1"/>
                  <a:t>cố định </a:t>
                </a:r>
                <a14:m>
                  <m:oMath xmlns:m="http://schemas.openxmlformats.org/officeDocument/2006/math">
                    <m:sSub>
                      <m:e>
                        <m:r>
                          <m:t>d</m:t>
                        </m:r>
                      </m:e>
                      <m:sub>
                        <m:r>
                          <m:t>h</m:t>
                        </m:r>
                      </m:sub>
                    </m:sSub>
                  </m:oMath>
                </a14:m>
                <a:r>
                  <a:rPr b="1"/>
                  <a:t> chiều</a:t>
                </a:r>
                <a:r>
                  <a:rPr/>
                  <a:t>.</a:t>
                </a:r>
              </a:p>
              <a:p>
                <a:pPr lvl="0"/>
                <a:r>
                  <a:rPr b="1"/>
                  <a:t>Cập nhật từng bước </a:t>
                </a:r>
                <a14:m>
                  <m:oMath xmlns:m="http://schemas.openxmlformats.org/officeDocument/2006/math">
                    <m:r>
                      <m:t>O</m:t>
                    </m:r>
                    <m:r>
                      <m:rPr>
                        <m:sty m:val="p"/>
                      </m:rPr>
                      <m:t>(</m:t>
                    </m:r>
                    <m:r>
                      <m:t>1</m:t>
                    </m:r>
                    <m:r>
                      <m:rPr>
                        <m:sty m:val="p"/>
                      </m:rPr>
                      <m:t>)</m:t>
                    </m:r>
                  </m:oMath>
                </a14:m>
                <a:r>
                  <a:rPr b="1"/>
                  <a:t>:</a:t>
                </a:r>
                <a:r>
                  <a:rPr/>
                  <a:t> mỗi token đến chỉ cần </a:t>
                </a:r>
                <a:r>
                  <a:rPr b="1"/>
                  <a:t>một</a:t>
                </a:r>
                <a:r>
                  <a:rPr/>
                  <a:t> phép cập nhật; xử lý kiểu streaming, không phải lưu toàn chuỗi trong bộ nhớ.</a:t>
                </a:r>
              </a:p>
              <a:p>
                <a:pPr lvl="0"/>
                <a:r>
                  <a:rPr b="1"/>
                  <a:t>Khác MLP cửa sổ trượt:</a:t>
                </a:r>
                <a:r>
                  <a:rPr/>
                  <a:t> MLP phải thấy đủ </a:t>
                </a:r>
                <a14:m>
                  <m:oMath xmlns:m="http://schemas.openxmlformats.org/officeDocument/2006/math">
                    <m:r>
                      <m:t>L</m:t>
                    </m:r>
                  </m:oMath>
                </a14:m>
                <a:r>
                  <a:rPr/>
                  <a:t> phần tử trong cửa sổ; RNN duy trì "tóm tắt động" </a:t>
                </a:r>
                <a14:m>
                  <m:oMath xmlns:m="http://schemas.openxmlformats.org/officeDocument/2006/math">
                    <m:sSub>
                      <m:e>
                        <m:r>
                          <m:t>h</m:t>
                        </m:r>
                      </m:e>
                      <m:sub>
                        <m:r>
                          <m:t>t</m:t>
                        </m:r>
                      </m:sub>
                    </m:sSub>
                  </m:oMath>
                </a14:m>
                <a:r>
                  <a:rPr/>
                  <a:t> </a:t>
                </a:r>
                <a:r>
                  <a:rPr b="1"/>
                  <a:t>không phụ thuộc độ dài</a:t>
                </a:r>
                <a:r>
                  <a:rPr/>
                  <a:t> chuỗi.</a:t>
                </a:r>
              </a:p>
              <a:p>
                <a:pPr lvl="0" indent="0" marL="0">
                  <a:buNone/>
                </a:pPr>
                <a:r>
                  <a:rPr/>
                  <a:t>Công thức Toán học – Quá trình Forward Ba phương trình forward tại bước </a:t>
                </a:r>
                <a14:m>
                  <m:oMath xmlns:m="http://schemas.openxmlformats.org/officeDocument/2006/math">
                    <m:r>
                      <m:t>t</m:t>
                    </m:r>
                  </m:oMath>
                </a14:m>
                <a:r>
                  <a:rPr/>
                  <a:t>, với </a:t>
                </a:r>
                <a14:m>
                  <m:oMath xmlns:m="http://schemas.openxmlformats.org/officeDocument/2006/math">
                    <m:sSub>
                      <m:e>
                        <m:r>
                          <m:t>x</m:t>
                        </m:r>
                      </m:e>
                      <m:sub>
                        <m:r>
                          <m:t>t</m:t>
                        </m:r>
                      </m:sub>
                    </m:sSub>
                    <m:r>
                      <m:rPr>
                        <m:sty m:val="p"/>
                      </m:rPr>
                      <m:t>∈</m:t>
                    </m:r>
                    <m:sSup>
                      <m:e>
                        <m:r>
                          <m:rPr>
                            <m:scr m:val="double-struck"/>
                            <m:sty m:val="p"/>
                          </m:rPr>
                          <m:t>R</m:t>
                        </m:r>
                      </m:e>
                      <m:sup>
                        <m:sSub>
                          <m:e>
                            <m:r>
                              <m:t>d</m:t>
                            </m:r>
                          </m:e>
                          <m:sub>
                            <m:r>
                              <m:t>x</m:t>
                            </m:r>
                          </m:sub>
                        </m:sSub>
                      </m:sup>
                    </m:sSup>
                  </m:oMath>
                </a14:m>
                <a:r>
                  <a:rPr/>
                  <a:t> (đầu vào), </a:t>
                </a:r>
                <a14:m>
                  <m:oMath xmlns:m="http://schemas.openxmlformats.org/officeDocument/2006/math">
                    <m:sSub>
                      <m:e>
                        <m:r>
                          <m:t>h</m:t>
                        </m:r>
                      </m:e>
                      <m:sub>
                        <m:r>
                          <m:t>t</m:t>
                        </m:r>
                      </m:sub>
                    </m:sSub>
                    <m:r>
                      <m:rPr>
                        <m:sty m:val="p"/>
                      </m:rPr>
                      <m:t>∈</m:t>
                    </m:r>
                    <m:sSup>
                      <m:e>
                        <m:r>
                          <m:rPr>
                            <m:scr m:val="double-struck"/>
                            <m:sty m:val="p"/>
                          </m:rPr>
                          <m:t>R</m:t>
                        </m:r>
                      </m:e>
                      <m:sup>
                        <m:sSub>
                          <m:e>
                            <m:r>
                              <m:t>d</m:t>
                            </m:r>
                          </m:e>
                          <m:sub>
                            <m:r>
                              <m:t>h</m:t>
                            </m:r>
                          </m:sub>
                        </m:sSub>
                      </m:sup>
                    </m:sSup>
                  </m:oMath>
                </a14:m>
                <a:r>
                  <a:rPr/>
                  <a:t> (trạng thái ẩn), </a:t>
                </a:r>
                <a14:m>
                  <m:oMath xmlns:m="http://schemas.openxmlformats.org/officeDocument/2006/math">
                    <m:sSub>
                      <m:e>
                        <m:acc>
                          <m:accPr>
                            <m:chr m:val="̂"/>
                          </m:accPr>
                          <m:e>
                            <m:r>
                              <m:t>y</m:t>
                            </m:r>
                          </m:e>
                        </m:acc>
                      </m:e>
                      <m:sub>
                        <m:r>
                          <m:t>t</m:t>
                        </m:r>
                      </m:sub>
                    </m:sSub>
                    <m:r>
                      <m:rPr>
                        <m:sty m:val="p"/>
                      </m:rPr>
                      <m:t>∈</m:t>
                    </m:r>
                    <m:sSup>
                      <m:e>
                        <m:r>
                          <m:rPr>
                            <m:scr m:val="double-struck"/>
                            <m:sty m:val="p"/>
                          </m:rPr>
                          <m:t>R</m:t>
                        </m:r>
                      </m:e>
                      <m:sup>
                        <m:sSub>
                          <m:e>
                            <m:r>
                              <m:t>d</m:t>
                            </m:r>
                          </m:e>
                          <m:sub>
                            <m:r>
                              <m:t>y</m:t>
                            </m:r>
                          </m:sub>
                        </m:sSub>
                      </m:sup>
                    </m:sSup>
                  </m:oMath>
                </a14:m>
                <a:r>
                  <a:rPr/>
                  <a:t> (dự đoán):</a:t>
                </a:r>
              </a:p>
              <a:p>
                <a:pPr lvl="0" indent="0" marL="0">
                  <a:buNone/>
                </a:pPr>
                <a:r>
                  <a:rPr/>
                  <a:t>$$\begin{align*}
    a_t &amp;= \mathbf{W} x_t + \mathbf{U} h_{t-1} + b_h
    &amp;&amp; \text{\footnotesize tổng nhập: ghép tin mới với trí nhớ cũ} \\
    h_t &amp;= \tanh(a_t)
    &amp;&amp; \text{\footnotesize trạng thái ẩn mới, truyền sang bước \(t+1\)} \\
    \hat{y}_t &amp;= \mathbf{V} h_t + b_y
    &amp;&amp; \text{\footnotesize đọc bộ nhớ \(h_t\) để đưa ra dự đoán}
\end{align*}$$</a:t>
                </a:r>
              </a:p>
              <a:p>
                <a:pPr lvl="0" indent="0" marL="0">
                  <a:buNone/>
                </a:pPr>
                <a:r>
                  <a:rPr/>
                  <a:t>0.54</a:t>
                </a:r>
              </a:p>
              <a:p>
                <a:pPr lvl="0" indent="0" marL="0">
                  <a:buNone/>
                </a:pPr>
                <a:r>
                  <a:rPr/>
                  <a:t>0.43</a:t>
                </a:r>
              </a:p>
              <a:p>
                <a:pPr lvl="0"/>
                <a:r>
                  <a:rPr b="1"/>
                  <a:t>Vì sao hàm </a:t>
                </a:r>
                <a14:m>
                  <m:oMath xmlns:m="http://schemas.openxmlformats.org/officeDocument/2006/math">
                    <m:r>
                      <m:rPr>
                        <m:sty m:val="p"/>
                      </m:rPr>
                      <m:t>tanh</m:t>
                    </m:r>
                  </m:oMath>
                </a14:m>
                <a:r>
                  <a:rPr b="1"/>
                  <a:t>?</a:t>
                </a:r>
                <a:r>
                  <a:rPr/>
                  <a:t> Tâm </a:t>
                </a:r>
                <a14:m>
                  <m:oMath xmlns:m="http://schemas.openxmlformats.org/officeDocument/2006/math">
                    <m:r>
                      <m:t>0</m:t>
                    </m:r>
                  </m:oMath>
                </a14:m>
                <a:r>
                  <a:rPr/>
                  <a:t>, chặn </a:t>
                </a:r>
                <a14:m>
                  <m:oMath xmlns:m="http://schemas.openxmlformats.org/officeDocument/2006/math">
                    <m:r>
                      <m:rPr>
                        <m:sty m:val="p"/>
                      </m:rPr>
                      <m:t>(</m:t>
                    </m:r>
                    <m:r>
                      <m:rPr>
                        <m:sty m:val="p"/>
                      </m:rPr>
                      <m:t>−</m:t>
                    </m:r>
                    <m:r>
                      <m:t>1</m:t>
                    </m:r>
                    <m:r>
                      <m:rPr>
                        <m:sty m:val="p"/>
                      </m:rPr>
                      <m:t>,</m:t>
                    </m:r>
                    <m:r>
                      <m:t>1</m:t>
                    </m:r>
                    <m:r>
                      <m:rPr>
                        <m:sty m:val="p"/>
                      </m:rPr>
                      <m:t>)</m:t>
                    </m:r>
                  </m:oMath>
                </a14:m>
                <a:r>
                  <a:rPr/>
                  <a:t> nên chuẩn của </a:t>
                </a:r>
                <a14:m>
                  <m:oMath xmlns:m="http://schemas.openxmlformats.org/officeDocument/2006/math">
                    <m:sSub>
                      <m:e>
                        <m:r>
                          <m:t>h</m:t>
                        </m:r>
                      </m:e>
                      <m:sub>
                        <m:r>
                          <m:t>t</m:t>
                        </m:r>
                      </m:sub>
                    </m:sSub>
                  </m:oMath>
                </a14:m>
                <a:r>
                  <a:rPr/>
                  <a:t> ổn định qua các bước, đạo hàm </a:t>
                </a:r>
                <a14:m>
                  <m:oMath xmlns:m="http://schemas.openxmlformats.org/officeDocument/2006/math">
                    <m:r>
                      <m:t>1</m:t>
                    </m:r>
                    <m:r>
                      <m:rPr>
                        <m:sty m:val="p"/>
                      </m:rPr>
                      <m:t>−</m:t>
                    </m:r>
                    <m:sSup>
                      <m:e>
                        <m:r>
                          <m:rPr>
                            <m:sty m:val="p"/>
                          </m:rPr>
                          <m:t>tanh</m:t>
                        </m:r>
                      </m:e>
                      <m:sup>
                        <m:r>
                          <m:t>2</m:t>
                        </m:r>
                      </m:sup>
                    </m:sSup>
                    <m:r>
                      <m:rPr>
                        <m:sty m:val="p"/>
                      </m:rPr>
                      <m:t>(</m:t>
                    </m:r>
                    <m:sSub>
                      <m:e>
                        <m:r>
                          <m:t>a</m:t>
                        </m:r>
                      </m:e>
                      <m:sub>
                        <m:r>
                          <m:t>t</m:t>
                        </m:r>
                      </m:sub>
                    </m:sSub>
                    <m:r>
                      <m:rPr>
                        <m:sty m:val="p"/>
                      </m:rPr>
                      <m:t>)</m:t>
                    </m:r>
                  </m:oMath>
                </a14:m>
                <a:r>
                  <a:rPr/>
                  <a:t> gọn; </a:t>
                </a:r>
                <a:r>
                  <a:rPr i="1"/>
                  <a:t>sigmoid</a:t>
                </a:r>
                <a:r>
                  <a:rPr/>
                  <a:t> lệch dương (trung bình </a:t>
                </a:r>
                <a14:m>
                  <m:oMath xmlns:m="http://schemas.openxmlformats.org/officeDocument/2006/math">
                    <m:r>
                      <m:t>1</m:t>
                    </m:r>
                    <m:r>
                      <m:rPr>
                        <m:sty m:val="p"/>
                      </m:rPr>
                      <m:t>/</m:t>
                    </m:r>
                    <m:r>
                      <m:t>2</m:t>
                    </m:r>
                  </m:oMath>
                </a14:m>
                <a:r>
                  <a:rPr/>
                  <a:t>), đạo hàm </a:t>
                </a:r>
                <a14:m>
                  <m:oMath xmlns:m="http://schemas.openxmlformats.org/officeDocument/2006/math">
                    <m:r>
                      <m:rPr>
                        <m:sty m:val="p"/>
                      </m:rPr>
                      <m:t>≤</m:t>
                    </m:r>
                    <m:r>
                      <m:t>0.25</m:t>
                    </m:r>
                  </m:oMath>
                </a14:m>
                <a:r>
                  <a:rPr/>
                  <a:t> làm gradient tắt nhanh; </a:t>
                </a:r>
                <a:r>
                  <a:rPr i="1"/>
                  <a:t>ReLU</a:t>
                </a:r>
                <a:r>
                  <a:rPr/>
                  <a:t> không chặn trên, trạng thái cộng dồn dễ bùng nổ.</a:t>
                </a:r>
              </a:p>
              <a:p>
                <a:pPr lvl="0"/>
                <a:r>
                  <a:rPr b="1"/>
                  <a:t>Tên PyTorch tương ứng:</a:t>
                </a:r>
                <a:r>
                  <a:rPr/>
                  <a:t> </a:t>
                </a:r>
                <a14:m>
                  <m:oMath xmlns:m="http://schemas.openxmlformats.org/officeDocument/2006/math">
                    <m:r>
                      <m:rPr>
                        <m:sty m:val="bi"/>
                      </m:rPr>
                      <m:t>W</m:t>
                    </m:r>
                  </m:oMath>
                </a14:m>
                <a:r>
                  <a:rPr/>
                  <a:t> = </a:t>
                </a:r>
                <a:r>
                  <a:rPr>
                    <a:latin typeface="Courier"/>
                  </a:rPr>
                  <a:t>weight_ih_l0</a:t>
                </a:r>
                <a:r>
                  <a:rPr/>
                  <a:t>, </a:t>
                </a:r>
                <a14:m>
                  <m:oMath xmlns:m="http://schemas.openxmlformats.org/officeDocument/2006/math">
                    <m:r>
                      <m:rPr>
                        <m:sty m:val="bi"/>
                      </m:rPr>
                      <m:t>U</m:t>
                    </m:r>
                  </m:oMath>
                </a14:m>
                <a:r>
                  <a:rPr/>
                  <a:t> = </a:t>
                </a:r>
                <a:r>
                  <a:rPr>
                    <a:latin typeface="Courier"/>
                  </a:rPr>
                  <a:t>weight_hh_l0</a:t>
                </a:r>
                <a:r>
                  <a:rPr/>
                  <a:t> (Keras: </a:t>
                </a:r>
                <a:r>
                  <a:rPr>
                    <a:latin typeface="Courier"/>
                  </a:rPr>
                  <a:t>kernel</a:t>
                </a:r>
                <a:r>
                  <a:rPr/>
                  <a:t>, </a:t>
                </a:r>
                <a:r>
                  <a:rPr>
                    <a:latin typeface="Courier"/>
                  </a:rPr>
                  <a:t>recurrent_kernel</a:t>
                </a:r>
                <a:r>
                  <a:rPr/>
                  <a:t>); mất mát tổng theo thời gian </a:t>
                </a:r>
                <a14:m>
                  <m:oMath xmlns:m="http://schemas.openxmlformats.org/officeDocument/2006/math">
                    <m:r>
                      <m:t>L</m:t>
                    </m:r>
                    <m:r>
                      <m:rPr>
                        <m:sty m:val="p"/>
                      </m:rPr>
                      <m:t>=</m:t>
                    </m:r>
                    <m:nary>
                      <m:naryPr>
                        <m:chr m:val="∑"/>
                        <m:limLoc m:val="undOvr"/>
                        <m:subHide m:val="off"/>
                        <m:supHide m:val="off"/>
                      </m:naryPr>
                      <m:sub>
                        <m:r>
                          <m:t>t</m:t>
                        </m:r>
                        <m:r>
                          <m:rPr>
                            <m:sty m:val="p"/>
                          </m:rPr>
                          <m:t>=</m:t>
                        </m:r>
                        <m:r>
                          <m:t>1</m:t>
                        </m:r>
                      </m:sub>
                      <m:sup>
                        <m:r>
                          <m:t>T</m:t>
                        </m:r>
                      </m:sup>
                      <m:e>
                        <m:r>
                          <m:t>ℓ</m:t>
                        </m:r>
                      </m:e>
                    </m:nary>
                    <m:r>
                      <m:rPr>
                        <m:sty m:val="p"/>
                      </m:rPr>
                      <m:t>(</m:t>
                    </m:r>
                    <m:sSub>
                      <m:e>
                        <m:acc>
                          <m:accPr>
                            <m:chr m:val="̂"/>
                          </m:accPr>
                          <m:e>
                            <m:r>
                              <m:t>y</m:t>
                            </m:r>
                          </m:e>
                        </m:acc>
                      </m:e>
                      <m:sub>
                        <m:r>
                          <m:t>t</m:t>
                        </m:r>
                      </m:sub>
                    </m:sSub>
                    <m:r>
                      <m:rPr>
                        <m:sty m:val="p"/>
                      </m:rPr>
                      <m:t>,</m:t>
                    </m:r>
                    <m:sSub>
                      <m:e>
                        <m:r>
                          <m:t>y</m:t>
                        </m:r>
                      </m:e>
                      <m:sub>
                        <m:r>
                          <m:t>t</m:t>
                        </m:r>
                      </m:sub>
                    </m:sSub>
                    <m:r>
                      <m:rPr>
                        <m:sty m:val="p"/>
                      </m:rPr>
                      <m:t>)</m:t>
                    </m:r>
                  </m:oMath>
                </a14:m>
                <a:r>
                  <a:rPr/>
                  <a:t> (MSE cho hồi quy).</a:t>
                </a:r>
              </a:p>
              <a:p>
                <a:pPr lvl="0" indent="0" marL="0">
                  <a:buNone/>
                </a:pPr>
                <a:r>
                  <a:rPr/>
                  <a:t>Ví dụ Tính Toán Forward Từng Bước (số cụ thể)</a:t>
                </a:r>
              </a:p>
              <a:p>
                <a:pPr lvl="0" indent="0" marL="0">
                  <a:buNone/>
                </a:pPr>
                <a14:m>
                  <m:oMath xmlns:m="http://schemas.openxmlformats.org/officeDocument/2006/math">
                    <m:sSub>
                      <m:e>
                        <m:r>
                          <m:t>d</m:t>
                        </m:r>
                      </m:e>
                      <m:sub>
                        <m:r>
                          <m:t>x</m:t>
                        </m:r>
                      </m:sub>
                    </m:sSub>
                    <m:r>
                      <m:rPr>
                        <m:sty m:val="p"/>
                      </m:rPr>
                      <m:t>=</m:t>
                    </m:r>
                    <m:r>
                      <m:t>2</m:t>
                    </m:r>
                  </m:oMath>
                </a14:m>
                <a:r>
                  <a:rPr/>
                  <a:t>, </a:t>
                </a:r>
                <a14:m>
                  <m:oMath xmlns:m="http://schemas.openxmlformats.org/officeDocument/2006/math">
                    <m:r>
                      <m:t> </m:t>
                    </m:r>
                    <m:sSub>
                      <m:e>
                        <m:r>
                          <m:t>d</m:t>
                        </m:r>
                      </m:e>
                      <m:sub>
                        <m:r>
                          <m:t>h</m:t>
                        </m:r>
                      </m:sub>
                    </m:sSub>
                    <m:r>
                      <m:rPr>
                        <m:sty m:val="p"/>
                      </m:rPr>
                      <m:t>=</m:t>
                    </m:r>
                    <m:r>
                      <m:t>2</m:t>
                    </m:r>
                  </m:oMath>
                </a14:m>
                <a:r>
                  <a:rPr/>
                  <a:t>, </a:t>
                </a:r>
                <a14:m>
                  <m:oMath xmlns:m="http://schemas.openxmlformats.org/officeDocument/2006/math">
                    <m:r>
                      <m:t> </m:t>
                    </m:r>
                    <m:sSub>
                      <m:e>
                        <m:r>
                          <m:t>d</m:t>
                        </m:r>
                      </m:e>
                      <m:sub>
                        <m:r>
                          <m:t>y</m:t>
                        </m:r>
                      </m:sub>
                    </m:sSub>
                    <m:r>
                      <m:rPr>
                        <m:sty m:val="p"/>
                      </m:rPr>
                      <m:t>=</m:t>
                    </m:r>
                    <m:r>
                      <m:t>1</m:t>
                    </m:r>
                  </m:oMath>
                </a14:m>
                <a:r>
                  <a:rPr/>
                  <a:t>; </a:t>
                </a:r>
                <a14:m>
                  <m:oMath xmlns:m="http://schemas.openxmlformats.org/officeDocument/2006/math">
                    <m:r>
                      <m:t>W</m:t>
                    </m:r>
                    <m:r>
                      <m:rPr>
                        <m:sty m:val="p"/>
                      </m:rPr>
                      <m:t>=</m:t>
                    </m:r>
                    <m:d>
                      <m:dPr>
                        <m:begChr m:val="("/>
                        <m:sepChr m:val=""/>
                        <m:endChr m:val=")"/>
                        <m:grow/>
                      </m:dPr>
                      <m:e>
                        <m:m>
                          <m:mPr>
                            <m:baseJc m:val="center"/>
                            <m:plcHide m:val="on"/>
                            <m:mcs>
                              <m:mc>
                                <m:mcPr>
                                  <m:mcJc m:val="center"/>
                                  <m:count m:val="1"/>
                                </m:mcPr>
                              </m:mc>
                              <m:mc>
                                <m:mcPr>
                                  <m:mcJc m:val="center"/>
                                  <m:count m:val="1"/>
                                </m:mcPr>
                              </m:mc>
                            </m:mcs>
                          </m:mPr>
                          <m:mr>
                            <m:e>
                              <m:r>
                                <m:t>0.5</m:t>
                              </m:r>
                            </m:e>
                            <m:e>
                              <m:r>
                                <m:t>0.2</m:t>
                              </m:r>
                            </m:e>
                          </m:mr>
                          <m:mr>
                            <m:e>
                              <m:r>
                                <m:rPr>
                                  <m:sty m:val="p"/>
                                </m:rPr>
                                <m:t>−</m:t>
                              </m:r>
                              <m:r>
                                <m:t>0.1</m:t>
                              </m:r>
                            </m:e>
                            <m:e>
                              <m:r>
                                <m:t>0.4</m:t>
                              </m:r>
                            </m:e>
                          </m:mr>
                        </m:m>
                      </m:e>
                    </m:d>
                  </m:oMath>
                </a14:m>
                <a:r>
                  <a:rPr/>
                  <a:t>, </a:t>
                </a:r>
                <a14:m>
                  <m:oMath xmlns:m="http://schemas.openxmlformats.org/officeDocument/2006/math">
                    <m:r>
                      <m:t>U</m:t>
                    </m:r>
                    <m:r>
                      <m:rPr>
                        <m:sty m:val="p"/>
                      </m:rPr>
                      <m:t>=</m:t>
                    </m:r>
                    <m:d>
                      <m:dPr>
                        <m:begChr m:val="("/>
                        <m:sepChr m:val=""/>
                        <m:endChr m:val=")"/>
                        <m:grow/>
                      </m:dPr>
                      <m:e>
                        <m:m>
                          <m:mPr>
                            <m:baseJc m:val="center"/>
                            <m:plcHide m:val="on"/>
                            <m:mcs>
                              <m:mc>
                                <m:mcPr>
                                  <m:mcJc m:val="center"/>
                                  <m:count m:val="1"/>
                                </m:mcPr>
                              </m:mc>
                              <m:mc>
                                <m:mcPr>
                                  <m:mcJc m:val="center"/>
                                  <m:count m:val="1"/>
                                </m:mcPr>
                              </m:mc>
                            </m:mcs>
                          </m:mPr>
                          <m:mr>
                            <m:e>
                              <m:r>
                                <m:t>0.3</m:t>
                              </m:r>
                            </m:e>
                            <m:e>
                              <m:r>
                                <m:t>0.0</m:t>
                              </m:r>
                            </m:e>
                          </m:mr>
                          <m:mr>
                            <m:e>
                              <m:r>
                                <m:t>0.2</m:t>
                              </m:r>
                            </m:e>
                            <m:e>
                              <m:r>
                                <m:t>0.5</m:t>
                              </m:r>
                            </m:e>
                          </m:mr>
                        </m:m>
                      </m:e>
                    </m:d>
                  </m:oMath>
                </a14:m>
                <a:r>
                  <a:rPr/>
                  <a:t>, </a:t>
                </a:r>
                <a14:m>
                  <m:oMath xmlns:m="http://schemas.openxmlformats.org/officeDocument/2006/math">
                    <m:r>
                      <m:t>V</m:t>
                    </m:r>
                    <m:r>
                      <m:rPr>
                        <m:sty m:val="p"/>
                      </m:rPr>
                      <m:t>=</m:t>
                    </m:r>
                    <m:d>
                      <m:dPr>
                        <m:begChr m:val="("/>
                        <m:sepChr m:val=""/>
                        <m:endChr m:val=")"/>
                        <m:grow/>
                      </m:dPr>
                      <m:e>
                        <m:m>
                          <m:mPr>
                            <m:baseJc m:val="center"/>
                            <m:plcHide m:val="on"/>
                            <m:mcs>
                              <m:mc>
                                <m:mcPr>
                                  <m:mcJc m:val="center"/>
                                  <m:count m:val="1"/>
                                </m:mcPr>
                              </m:mc>
                              <m:mc>
                                <m:mcPr>
                                  <m:mcJc m:val="center"/>
                                  <m:count m:val="1"/>
                                </m:mcPr>
                              </m:mc>
                            </m:mcs>
                          </m:mPr>
                          <m:mr>
                            <m:e>
                              <m:r>
                                <m:t>1.0</m:t>
                              </m:r>
                            </m:e>
                            <m:e>
                              <m:r>
                                <m:rPr>
                                  <m:sty m:val="p"/>
                                </m:rPr>
                                <m:t>−</m:t>
                              </m:r>
                              <m:r>
                                <m:t>1.0</m:t>
                              </m:r>
                            </m:e>
                          </m:mr>
                        </m:m>
                      </m:e>
                    </m:d>
                  </m:oMath>
                </a14:m>
                <a:r>
                  <a:rPr/>
                  <a:t>,</a:t>
                </a:r>
                <a:br/>
                <a14:m>
                  <m:oMath xmlns:m="http://schemas.openxmlformats.org/officeDocument/2006/math">
                    <m:sSub>
                      <m:e>
                        <m:r>
                          <m:rPr>
                            <m:sty m:val="bi"/>
                          </m:rPr>
                          <m:t>x</m:t>
                        </m:r>
                      </m:e>
                      <m:sub>
                        <m:r>
                          <m:t>1</m:t>
                        </m:r>
                      </m:sub>
                    </m:sSub>
                    <m:r>
                      <m:rPr>
                        <m:sty m:val="p"/>
                      </m:rPr>
                      <m:t>=</m:t>
                    </m:r>
                    <m:d>
                      <m:dPr>
                        <m:begChr m:val="("/>
                        <m:sepChr m:val=""/>
                        <m:endChr m:val=")"/>
                        <m:grow/>
                      </m:dPr>
                      <m:e>
                        <m:m>
                          <m:mPr>
                            <m:baseJc m:val="center"/>
                            <m:plcHide m:val="on"/>
                            <m:mcs>
                              <m:mc>
                                <m:mcPr>
                                  <m:mcJc m:val="center"/>
                                  <m:count m:val="1"/>
                                </m:mcPr>
                              </m:mc>
                            </m:mcs>
                          </m:mPr>
                          <m:mr>
                            <m:e>
                              <m:r>
                                <m:t>1</m:t>
                              </m:r>
                            </m:e>
                          </m:mr>
                          <m:mr>
                            <m:e>
                              <m:r>
                                <m:t>0</m:t>
                              </m:r>
                            </m:e>
                          </m:mr>
                        </m:m>
                      </m:e>
                    </m:d>
                  </m:oMath>
                </a14:m>
                <a:r>
                  <a:rPr/>
                  <a:t>, </a:t>
                </a:r>
                <a14:m>
                  <m:oMath xmlns:m="http://schemas.openxmlformats.org/officeDocument/2006/math">
                    <m:sSub>
                      <m:e>
                        <m:r>
                          <m:rPr>
                            <m:sty m:val="bi"/>
                          </m:rPr>
                          <m:t>h</m:t>
                        </m:r>
                      </m:e>
                      <m:sub>
                        <m:r>
                          <m:t>0</m:t>
                        </m:r>
                      </m:sub>
                    </m:sSub>
                    <m:r>
                      <m:rPr>
                        <m:sty m:val="p"/>
                      </m:rPr>
                      <m:t>=</m:t>
                    </m:r>
                    <m:d>
                      <m:dPr>
                        <m:begChr m:val="("/>
                        <m:sepChr m:val=""/>
                        <m:endChr m:val=")"/>
                        <m:grow/>
                      </m:dPr>
                      <m:e>
                        <m:m>
                          <m:mPr>
                            <m:baseJc m:val="center"/>
                            <m:plcHide m:val="on"/>
                            <m:mcs>
                              <m:mc>
                                <m:mcPr>
                                  <m:mcJc m:val="center"/>
                                  <m:count m:val="1"/>
                                </m:mcPr>
                              </m:mc>
                            </m:mcs>
                          </m:mPr>
                          <m:mr>
                            <m:e>
                              <m:r>
                                <m:t>0</m:t>
                              </m:r>
                            </m:e>
                          </m:mr>
                          <m:mr>
                            <m:e>
                              <m:r>
                                <m:t>0</m:t>
                              </m:r>
                            </m:e>
                          </m:mr>
                        </m:m>
                      </m:e>
                    </m:d>
                  </m:oMath>
                </a14:m>
                <a:r>
                  <a:rPr/>
                  <a:t>, </a:t>
                </a:r>
                <a14:m>
                  <m:oMath xmlns:m="http://schemas.openxmlformats.org/officeDocument/2006/math">
                    <m:sSub>
                      <m:e>
                        <m:r>
                          <m:rPr>
                            <m:sty m:val="bi"/>
                          </m:rPr>
                          <m:t>b</m:t>
                        </m:r>
                      </m:e>
                      <m:sub>
                        <m:r>
                          <m:t>h</m:t>
                        </m:r>
                      </m:sub>
                    </m:sSub>
                    <m:r>
                      <m:rPr>
                        <m:sty m:val="p"/>
                      </m:rPr>
                      <m:t>=</m:t>
                    </m:r>
                    <m:r>
                      <m:rPr>
                        <m:sty m:val="b"/>
                      </m:rPr>
                      <m:t>0</m:t>
                    </m:r>
                  </m:oMath>
                </a14:m>
                <a:r>
                  <a:rPr/>
                  <a:t>, </a:t>
                </a:r>
                <a14:m>
                  <m:oMath xmlns:m="http://schemas.openxmlformats.org/officeDocument/2006/math">
                    <m:sSub>
                      <m:e>
                        <m:r>
                          <m:t>b</m:t>
                        </m:r>
                      </m:e>
                      <m:sub>
                        <m:r>
                          <m:t>y</m:t>
                        </m:r>
                      </m:sub>
                    </m:sSub>
                    <m:r>
                      <m:rPr>
                        <m:sty m:val="p"/>
                      </m:rPr>
                      <m:t>=</m:t>
                    </m:r>
                    <m:r>
                      <m:t>0.1</m:t>
                    </m:r>
                  </m:oMath>
                </a14:m>
              </a:p>
              <a:p>
                <a:pPr lvl="0" indent="0" marL="0">
                  <a:buNone/>
                </a:pPr>
                <a:r>
                  <a:rPr b="1"/>
                  <a:t>Bước </a:t>
                </a:r>
                <a14:m>
                  <m:oMath xmlns:m="http://schemas.openxmlformats.org/officeDocument/2006/math">
                    <m:r>
                      <m:t>t</m:t>
                    </m:r>
                    <m:r>
                      <m:rPr>
                        <m:sty m:val="p"/>
                      </m:rPr>
                      <m:t>=</m:t>
                    </m:r>
                    <m:r>
                      <m:t>2</m:t>
                    </m:r>
                  </m:oMath>
                </a14:m>
                <a:r>
                  <a:rPr b="1"/>
                  <a:t>: lặp nguyên hệ thống.</a:t>
                </a:r>
                <a:r>
                  <a:rPr/>
                  <a:t> Thay </a:t>
                </a:r>
                <a14:m>
                  <m:oMath xmlns:m="http://schemas.openxmlformats.org/officeDocument/2006/math">
                    <m:sSub>
                      <m:e>
                        <m:r>
                          <m:rPr>
                            <m:sty m:val="bi"/>
                          </m:rPr>
                          <m:t>x</m:t>
                        </m:r>
                      </m:e>
                      <m:sub>
                        <m:r>
                          <m:t>2</m:t>
                        </m:r>
                      </m:sub>
                    </m:sSub>
                    <m:r>
                      <m:rPr>
                        <m:sty m:val="p"/>
                      </m:rPr>
                      <m:t>=</m:t>
                    </m:r>
                    <m:r>
                      <m:rPr>
                        <m:sty m:val="p"/>
                      </m:rPr>
                      <m:t>(</m:t>
                    </m:r>
                    <m:r>
                      <m:t>0</m:t>
                    </m:r>
                    <m:r>
                      <m:rPr>
                        <m:sty m:val="p"/>
                      </m:rPr>
                      <m:t>,</m:t>
                    </m:r>
                    <m:r>
                      <m:t> </m:t>
                    </m:r>
                    <m:r>
                      <m:t>1</m:t>
                    </m:r>
                    <m:r>
                      <m:rPr>
                        <m:sty m:val="p"/>
                      </m:rPr>
                      <m:t>)</m:t>
                    </m:r>
                  </m:oMath>
                </a14:m>
                <a:r>
                  <a:rPr/>
                  <a:t>, lấy </a:t>
                </a:r>
                <a14:m>
                  <m:oMath xmlns:m="http://schemas.openxmlformats.org/officeDocument/2006/math">
                    <m:sSub>
                      <m:e>
                        <m:r>
                          <m:rPr>
                            <m:sty m:val="bi"/>
                          </m:rPr>
                          <m:t>h</m:t>
                        </m:r>
                      </m:e>
                      <m:sub>
                        <m:r>
                          <m:t>1</m:t>
                        </m:r>
                      </m:sub>
                    </m:sSub>
                  </m:oMath>
                </a14:m>
                <a:r>
                  <a:rPr/>
                  <a:t> vừa tính làm </a:t>
                </a:r>
                <a:r>
                  <a:rPr i="1"/>
                  <a:t>trí nhớ cũ</a:t>
                </a:r>
                <a:r>
                  <a:rPr/>
                  <a:t> (lúc này </a:t>
                </a:r>
                <a14:m>
                  <m:oMath xmlns:m="http://schemas.openxmlformats.org/officeDocument/2006/math">
                    <m:r>
                      <m:t>U</m:t>
                    </m:r>
                    <m:r>
                      <m:rPr>
                        <m:sty m:val="p"/>
                      </m:rPr>
                      <m:t>⋅</m:t>
                    </m:r>
                    <m:sSub>
                      <m:e>
                        <m:r>
                          <m:rPr>
                            <m:sty m:val="bi"/>
                          </m:rPr>
                          <m:t>h</m:t>
                        </m:r>
                      </m:e>
                      <m:sub>
                        <m:r>
                          <m:t>1</m:t>
                        </m:r>
                      </m:sub>
                    </m:sSub>
                    <m:r>
                      <m:rPr>
                        <m:sty m:val="p"/>
                      </m:rPr>
                      <m:t>≠</m:t>
                    </m:r>
                    <m:r>
                      <m:rPr>
                        <m:sty m:val="b"/>
                      </m:rPr>
                      <m:t>0</m:t>
                    </m:r>
                  </m:oMath>
                </a14:m>
                <a:r>
                  <a:rPr/>
                  <a:t>: thành phần hồi quy xuất hiện lần đầu); bộ trọng số </a:t>
                </a:r>
                <a14:m>
                  <m:oMath xmlns:m="http://schemas.openxmlformats.org/officeDocument/2006/math">
                    <m:r>
                      <m:rPr>
                        <m:sty m:val="p"/>
                      </m:rPr>
                      <m:t>(</m:t>
                    </m:r>
                    <m:r>
                      <m:t>W</m:t>
                    </m:r>
                    <m:r>
                      <m:rPr>
                        <m:sty m:val="p"/>
                      </m:rPr>
                      <m:t>,</m:t>
                    </m:r>
                    <m:r>
                      <m:t>U</m:t>
                    </m:r>
                    <m:r>
                      <m:rPr>
                        <m:sty m:val="p"/>
                      </m:rPr>
                      <m:t>,</m:t>
                    </m:r>
                    <m:r>
                      <m:t>V</m:t>
                    </m:r>
                    <m:r>
                      <m:rPr>
                        <m:sty m:val="p"/>
                      </m:rPr>
                      <m:t>)</m:t>
                    </m:r>
                  </m:oMath>
                </a14:m>
                <a:r>
                  <a:rPr/>
                  <a:t> giữ nguyên tuyệt đối, chạy dần đến </a:t>
                </a:r>
                <a14:m>
                  <m:oMath xmlns:m="http://schemas.openxmlformats.org/officeDocument/2006/math">
                    <m:r>
                      <m:t>t</m:t>
                    </m:r>
                    <m:r>
                      <m:rPr>
                        <m:sty m:val="p"/>
                      </m:rPr>
                      <m:t>=</m:t>
                    </m:r>
                    <m:r>
                      <m:t>T</m:t>
                    </m:r>
                  </m:oMath>
                </a14:m>
                <a:r>
                  <a:rPr/>
                  <a:t>.</a:t>
                </a:r>
              </a:p>
              <a:p>
                <a:pPr lvl="0" indent="0" marL="0">
                  <a:buNone/>
                </a:pPr>
                <a:r>
                  <a:rPr b="1"/>
                  <a:t>Shape flow:</a:t>
                </a:r>
                <a:r>
                  <a:rPr/>
                  <a:t> </a:t>
                </a:r>
                <a14:m>
                  <m:oMath xmlns:m="http://schemas.openxmlformats.org/officeDocument/2006/math">
                    <m:r>
                      <m:rPr>
                        <m:sty m:val="bi"/>
                      </m:rPr>
                      <m:t>x</m:t>
                    </m:r>
                    <m:r>
                      <m:rPr>
                        <m:sty m:val="p"/>
                      </m:rPr>
                      <m:t>∈</m:t>
                    </m:r>
                    <m:sSup>
                      <m:e>
                        <m:r>
                          <m:rPr>
                            <m:scr m:val="double-struck"/>
                            <m:sty m:val="p"/>
                          </m:rPr>
                          <m:t>R</m:t>
                        </m:r>
                      </m:e>
                      <m:sup>
                        <m:r>
                          <m:t>T</m:t>
                        </m:r>
                        <m:r>
                          <m:rPr>
                            <m:sty m:val="p"/>
                          </m:rPr>
                          <m:t>×</m:t>
                        </m:r>
                        <m:sSub>
                          <m:e>
                            <m:r>
                              <m:t>d</m:t>
                            </m:r>
                          </m:e>
                          <m:sub>
                            <m:r>
                              <m:t>x</m:t>
                            </m:r>
                          </m:sub>
                        </m:sSub>
                      </m:sup>
                    </m:sSup>
                    <m:r>
                      <m:t> </m:t>
                    </m:r>
                    <m:r>
                      <m:rPr>
                        <m:sty m:val="p"/>
                      </m:rPr>
                      <m:t>→</m:t>
                    </m:r>
                    <m:r>
                      <m:t> </m:t>
                    </m:r>
                    <m:r>
                      <m:rPr>
                        <m:sty m:val="bi"/>
                      </m:rPr>
                      <m:t>h</m:t>
                    </m:r>
                    <m:r>
                      <m:rPr>
                        <m:sty m:val="p"/>
                      </m:rPr>
                      <m:t>∈</m:t>
                    </m:r>
                    <m:sSup>
                      <m:e>
                        <m:r>
                          <m:rPr>
                            <m:scr m:val="double-struck"/>
                            <m:sty m:val="p"/>
                          </m:rPr>
                          <m:t>R</m:t>
                        </m:r>
                      </m:e>
                      <m:sup>
                        <m:r>
                          <m:t>T</m:t>
                        </m:r>
                        <m:r>
                          <m:rPr>
                            <m:sty m:val="p"/>
                          </m:rPr>
                          <m:t>×</m:t>
                        </m:r>
                        <m:sSub>
                          <m:e>
                            <m:r>
                              <m:t>d</m:t>
                            </m:r>
                          </m:e>
                          <m:sub>
                            <m:r>
                              <m:t>h</m:t>
                            </m:r>
                          </m:sub>
                        </m:sSub>
                      </m:sup>
                    </m:sSup>
                    <m:r>
                      <m:t> </m:t>
                    </m:r>
                    <m:r>
                      <m:rPr>
                        <m:sty m:val="p"/>
                      </m:rPr>
                      <m:t>→</m:t>
                    </m:r>
                    <m:r>
                      <m:t> </m:t>
                    </m:r>
                    <m:acc>
                      <m:accPr>
                        <m:chr m:val="̂"/>
                      </m:accPr>
                      <m:e>
                        <m:r>
                          <m:rPr>
                            <m:sty m:val="bi"/>
                          </m:rPr>
                          <m:t>y</m:t>
                        </m:r>
                      </m:e>
                    </m:acc>
                    <m:r>
                      <m:rPr>
                        <m:sty m:val="p"/>
                      </m:rPr>
                      <m:t>∈</m:t>
                    </m:r>
                    <m:sSup>
                      <m:e>
                        <m:r>
                          <m:rPr>
                            <m:scr m:val="double-struck"/>
                            <m:sty m:val="p"/>
                          </m:rPr>
                          <m:t>R</m:t>
                        </m:r>
                      </m:e>
                      <m:sup>
                        <m:r>
                          <m:t>T</m:t>
                        </m:r>
                        <m:r>
                          <m:rPr>
                            <m:sty m:val="p"/>
                          </m:rPr>
                          <m:t>×</m:t>
                        </m:r>
                        <m:sSub>
                          <m:e>
                            <m:r>
                              <m:t>d</m:t>
                            </m:r>
                          </m:e>
                          <m:sub>
                            <m:r>
                              <m:t>y</m:t>
                            </m:r>
                          </m:sub>
                        </m:sSub>
                      </m:sup>
                    </m:sSup>
                  </m:oMath>
                </a14:m>
                <a:br/>
                <a:r>
                  <a:rPr i="1"/>
                  <a:t>Ghi chú: PyTorch </a:t>
                </a:r>
                <a:r>
                  <a:rPr i="1">
                    <a:latin typeface="Courier"/>
                  </a:rPr>
                  <a:t>nn.RNN(2, 2)</a:t>
                </a:r>
                <a:r>
                  <a:rPr i="1"/>
                  <a:t> + </a:t>
                </a:r>
                <a:r>
                  <a:rPr i="1">
                    <a:latin typeface="Courier"/>
                  </a:rPr>
                  <a:t>nn.Linear(2, 1)</a:t>
                </a:r>
                <a:r>
                  <a:rPr i="1"/>
                  <a:t> nạp đúng </a:t>
                </a:r>
                <a14:m>
                  <m:oMath xmlns:m="http://schemas.openxmlformats.org/officeDocument/2006/math">
                    <m:r>
                      <m:t>W</m:t>
                    </m:r>
                  </m:oMath>
                </a14:m>
                <a:r>
                  <a:rPr i="1"/>
                  <a:t>, </a:t>
                </a:r>
                <a14:m>
                  <m:oMath xmlns:m="http://schemas.openxmlformats.org/officeDocument/2006/math">
                    <m:r>
                      <m:t>U</m:t>
                    </m:r>
                  </m:oMath>
                </a14:m>
                <a:r>
                  <a:rPr i="1"/>
                  <a:t>, </a:t>
                </a:r>
                <a14:m>
                  <m:oMath xmlns:m="http://schemas.openxmlformats.org/officeDocument/2006/math">
                    <m:r>
                      <m:t>V</m:t>
                    </m:r>
                  </m:oMath>
                </a14:m>
                <a:r>
                  <a:rPr i="1"/>
                  <a:t>, đặt 2 bias của </a:t>
                </a:r>
                <a:r>
                  <a:rPr i="1">
                    <a:latin typeface="Courier"/>
                  </a:rPr>
                  <a:t>nn.RNN</a:t>
                </a:r>
                <a:r>
                  <a:rPr i="1"/>
                  <a:t> về 0 và bias </a:t>
                </a:r>
                <a:r>
                  <a:rPr i="1">
                    <a:latin typeface="Courier"/>
                  </a:rPr>
                  <a:t>Linear</a:t>
                </a:r>
                <a:r>
                  <a:rPr i="1"/>
                  <a:t> </a:t>
                </a:r>
                <a14:m>
                  <m:oMath xmlns:m="http://schemas.openxmlformats.org/officeDocument/2006/math">
                    <m:r>
                      <m:rPr>
                        <m:sty m:val="p"/>
                      </m:rPr>
                      <m:t>=</m:t>
                    </m:r>
                    <m:r>
                      <m:t>0.1</m:t>
                    </m:r>
                  </m:oMath>
                </a14:m>
                <a:r>
                  <a:rPr i="1"/>
                  <a:t> thì chạy đúng ví dụ (sai số </a:t>
                </a:r>
                <a14:m>
                  <m:oMath xmlns:m="http://schemas.openxmlformats.org/officeDocument/2006/math">
                    <m:r>
                      <m:rPr>
                        <m:sty m:val="p"/>
                      </m:rPr>
                      <m:t>&lt;</m:t>
                    </m:r>
                    <m:sSup>
                      <m:e>
                        <m:r>
                          <m:t>10</m:t>
                        </m:r>
                      </m:e>
                      <m:sup>
                        <m:r>
                          <m:rPr>
                            <m:sty m:val="p"/>
                          </m:rPr>
                          <m:t>−</m:t>
                        </m:r>
                        <m:r>
                          <m:t>6</m:t>
                        </m:r>
                      </m:sup>
                    </m:sSup>
                  </m:oMath>
                </a14:m>
                <a:r>
                  <a:rPr i="1"/>
                  <a:t>).</a:t>
                </a:r>
              </a:p>
              <a:p>
                <a:pPr lvl="0" indent="0" marL="0">
                  <a:buNone/>
                </a:pPr>
                <a:r>
                  <a:rPr/>
                  <a:t>Nguyên lý Chia sẻ Trọng số (Weight Sharing) </a:t>
                </a:r>
                <a:r>
                  <a:rPr i="1"/>
                  <a:t>Chuỗi dài 5 bước hay 5.000 bước, RNN đều </a:t>
                </a:r>
                <a:r>
                  <a:rPr b="1" i="1"/>
                  <a:t>dùng chung một bộ ma trận</a:t>
                </a:r>
                <a:r>
                  <a:rPr i="1"/>
                  <a:t> </a:t>
                </a:r>
                <a14:m>
                  <m:oMath xmlns:m="http://schemas.openxmlformats.org/officeDocument/2006/math">
                    <m:r>
                      <m:rPr>
                        <m:sty m:val="bi"/>
                      </m:rPr>
                      <m:t>W</m:t>
                    </m:r>
                    <m:r>
                      <m:rPr>
                        <m:sty m:val="p"/>
                      </m:rPr>
                      <m:t>,</m:t>
                    </m:r>
                    <m:r>
                      <m:rPr>
                        <m:sty m:val="bi"/>
                      </m:rPr>
                      <m:t>U</m:t>
                    </m:r>
                    <m:r>
                      <m:rPr>
                        <m:sty m:val="p"/>
                      </m:rPr>
                      <m:t>,</m:t>
                    </m:r>
                    <m:r>
                      <m:rPr>
                        <m:sty m:val="bi"/>
                      </m:rPr>
                      <m:t>V</m:t>
                    </m:r>
                  </m:oMath>
                </a14:m>
                <a:r>
                  <a:rPr i="1"/>
                  <a:t> duy nhất:</a:t>
                </a:r>
              </a:p>
              <a:p>
                <a:pPr lvl="0" indent="0" marL="0">
                  <a:buNone/>
                </a:pPr>
                <a:r>
                  <a:rPr/>
                  <a:t>0.57</a:t>
                </a:r>
              </a:p>
              <a:p>
                <a:pPr lvl="0" indent="0" marL="0">
                  <a:buNone/>
                </a:pPr>
                <a:r>
                  <a:rPr b="1"/>
                  <a:t>Tổng số tham số </a:t>
                </a:r>
                <a14:m>
                  <m:oMath xmlns:m="http://schemas.openxmlformats.org/officeDocument/2006/math">
                    <m:r>
                      <m:t>P</m:t>
                    </m:r>
                  </m:oMath>
                </a14:m>
                <a:r>
                  <a:rPr b="1"/>
                  <a:t> — không chứa </a:t>
                </a:r>
                <a14:m>
                  <m:oMath xmlns:m="http://schemas.openxmlformats.org/officeDocument/2006/math">
                    <m:r>
                      <m:t>T</m:t>
                    </m:r>
                  </m:oMath>
                </a14:m>
                <a:r>
                  <a:rPr/>
                  <a:t>  </a:t>
                </a:r>
                <a14:m>
                  <m:oMathPara xmlns:m="http://schemas.openxmlformats.org/officeDocument/2006/math">
                    <m:oMathParaPr>
                      <m:jc m:val="center"/>
                    </m:oMathParaPr>
                    <m:oMath>
                      <m:r>
                        <m:t>P</m:t>
                      </m:r>
                      <m:r>
                        <m:rPr>
                          <m:sty m:val="p"/>
                        </m:rPr>
                        <m:t>=</m:t>
                      </m:r>
                      <m:limLow>
                        <m:e>
                          <m:limLow>
                            <m:e>
                              <m:sSub>
                                <m:e>
                                  <m:r>
                                    <m:t>d</m:t>
                                  </m:r>
                                </m:e>
                                <m:sub>
                                  <m:r>
                                    <m:t>h</m:t>
                                  </m:r>
                                </m:sub>
                              </m:sSub>
                              <m:r>
                                <m:rPr>
                                  <m:sty m:val="p"/>
                                </m:rPr>
                                <m:t>⋅</m:t>
                              </m:r>
                              <m:sSub>
                                <m:e>
                                  <m:r>
                                    <m:t>d</m:t>
                                  </m:r>
                                </m:e>
                                <m:sub>
                                  <m:r>
                                    <m:t>x</m:t>
                                  </m:r>
                                </m:sub>
                              </m:sSub>
                            </m:e>
                            <m:lim>
                              <m:r>
                                <m:rPr>
                                  <m:sty m:val="p"/>
                                </m:rPr>
                                <m:t>⏟</m:t>
                              </m:r>
                            </m:lim>
                          </m:limLow>
                        </m:e>
                        <m:lim>
                          <m:r>
                            <m:rPr>
                              <m:sty m:val="bi"/>
                            </m:rPr>
                            <m:t>W</m:t>
                          </m:r>
                        </m:lim>
                      </m:limLow>
                      <m:r>
                        <m:rPr>
                          <m:sty m:val="p"/>
                        </m:rPr>
                        <m:t>+</m:t>
                      </m:r>
                      <m:limLow>
                        <m:e>
                          <m:limLow>
                            <m:e>
                              <m:sSubSup>
                                <m:e>
                                  <m:r>
                                    <m:t>d</m:t>
                                  </m:r>
                                </m:e>
                                <m:sub>
                                  <m:r>
                                    <m:t>h</m:t>
                                  </m:r>
                                </m:sub>
                                <m:sup>
                                  <m:r>
                                    <m:t>2</m:t>
                                  </m:r>
                                </m:sup>
                              </m:sSubSup>
                            </m:e>
                            <m:lim>
                              <m:r>
                                <m:rPr>
                                  <m:sty m:val="p"/>
                                </m:rPr>
                                <m:t>⏟</m:t>
                              </m:r>
                            </m:lim>
                          </m:limLow>
                        </m:e>
                        <m:lim>
                          <m:r>
                            <m:rPr>
                              <m:sty m:val="bi"/>
                            </m:rPr>
                            <m:t>U</m:t>
                          </m:r>
                        </m:lim>
                      </m:limLow>
                      <m:r>
                        <m:rPr>
                          <m:sty m:val="p"/>
                        </m:rPr>
                        <m:t>+</m:t>
                      </m:r>
                      <m:limLow>
                        <m:e>
                          <m:limLow>
                            <m:e>
                              <m:sSub>
                                <m:e>
                                  <m:r>
                                    <m:t>d</m:t>
                                  </m:r>
                                </m:e>
                                <m:sub>
                                  <m:r>
                                    <m:t>y</m:t>
                                  </m:r>
                                </m:sub>
                              </m:sSub>
                              <m:r>
                                <m:rPr>
                                  <m:sty m:val="p"/>
                                </m:rPr>
                                <m:t>⋅</m:t>
                              </m:r>
                              <m:sSub>
                                <m:e>
                                  <m:r>
                                    <m:t>d</m:t>
                                  </m:r>
                                </m:e>
                                <m:sub>
                                  <m:r>
                                    <m:t>h</m:t>
                                  </m:r>
                                </m:sub>
                              </m:sSub>
                            </m:e>
                            <m:lim>
                              <m:r>
                                <m:rPr>
                                  <m:sty m:val="p"/>
                                </m:rPr>
                                <m:t>⏟</m:t>
                              </m:r>
                            </m:lim>
                          </m:limLow>
                        </m:e>
                        <m:lim>
                          <m:r>
                            <m:rPr>
                              <m:sty m:val="bi"/>
                            </m:rPr>
                            <m:t>V</m:t>
                          </m:r>
                        </m:lim>
                      </m:limLow>
                      <m:r>
                        <m:rPr>
                          <m:sty m:val="p"/>
                        </m:rPr>
                        <m:t>+</m:t>
                      </m:r>
                      <m:limLow>
                        <m:e>
                          <m:limLow>
                            <m:e>
                              <m:sSub>
                                <m:e>
                                  <m:r>
                                    <m:t>d</m:t>
                                  </m:r>
                                </m:e>
                                <m:sub>
                                  <m:r>
                                    <m:t>h</m:t>
                                  </m:r>
                                </m:sub>
                              </m:sSub>
                            </m:e>
                            <m:lim>
                              <m:r>
                                <m:rPr>
                                  <m:sty m:val="p"/>
                                </m:rPr>
                                <m:t>⏟</m:t>
                              </m:r>
                            </m:lim>
                          </m:limLow>
                        </m:e>
                        <m:lim>
                          <m:sSub>
                            <m:e>
                              <m:r>
                                <m:t>b</m:t>
                              </m:r>
                            </m:e>
                            <m:sub>
                              <m:r>
                                <m:t>h</m:t>
                              </m:r>
                            </m:sub>
                          </m:sSub>
                        </m:lim>
                      </m:limLow>
                      <m:r>
                        <m:rPr>
                          <m:sty m:val="p"/>
                        </m:rPr>
                        <m:t>+</m:t>
                      </m:r>
                      <m:limLow>
                        <m:e>
                          <m:limLow>
                            <m:e>
                              <m:sSub>
                                <m:e>
                                  <m:r>
                                    <m:t>d</m:t>
                                  </m:r>
                                </m:e>
                                <m:sub>
                                  <m:r>
                                    <m:t>y</m:t>
                                  </m:r>
                                </m:sub>
                              </m:sSub>
                            </m:e>
                            <m:lim>
                              <m:r>
                                <m:rPr>
                                  <m:sty m:val="p"/>
                                </m:rPr>
                                <m:t>⏟</m:t>
                              </m:r>
                            </m:lim>
                          </m:limLow>
                        </m:e>
                        <m:lim>
                          <m:sSub>
                            <m:e>
                              <m:r>
                                <m:t>b</m:t>
                              </m:r>
                            </m:e>
                            <m:sub>
                              <m:r>
                                <m:t>y</m:t>
                              </m:r>
                            </m:sub>
                          </m:sSub>
                        </m:lim>
                      </m:limLow>
                    </m:oMath>
                  </m:oMathPara>
                </a14:m>
                <a:r>
                  <a:rPr/>
                  <a:t> Ví dụ </a:t>
                </a:r>
                <a14:m>
                  <m:oMath xmlns:m="http://schemas.openxmlformats.org/officeDocument/2006/math">
                    <m:sSub>
                      <m:e>
                        <m:r>
                          <m:t>d</m:t>
                        </m:r>
                      </m:e>
                      <m:sub>
                        <m:r>
                          <m:t>x</m:t>
                        </m:r>
                      </m:sub>
                    </m:sSub>
                    <m:r>
                      <m:rPr>
                        <m:sty m:val="p"/>
                      </m:rPr>
                      <m:t>=</m:t>
                    </m:r>
                    <m:r>
                      <m:t>2</m:t>
                    </m:r>
                    <m:r>
                      <m:rPr>
                        <m:sty m:val="p"/>
                      </m:rPr>
                      <m:t>,</m:t>
                    </m:r>
                    <m:r>
                      <m:t> </m:t>
                    </m:r>
                    <m:sSub>
                      <m:e>
                        <m:r>
                          <m:t>d</m:t>
                        </m:r>
                      </m:e>
                      <m:sub>
                        <m:r>
                          <m:t>h</m:t>
                        </m:r>
                      </m:sub>
                    </m:sSub>
                    <m:r>
                      <m:rPr>
                        <m:sty m:val="p"/>
                      </m:rPr>
                      <m:t>=</m:t>
                    </m:r>
                    <m:r>
                      <m:t>64</m:t>
                    </m:r>
                    <m:r>
                      <m:rPr>
                        <m:sty m:val="p"/>
                      </m:rPr>
                      <m:t>,</m:t>
                    </m:r>
                    <m:r>
                      <m:t> </m:t>
                    </m:r>
                    <m:sSub>
                      <m:e>
                        <m:r>
                          <m:t>d</m:t>
                        </m:r>
                      </m:e>
                      <m:sub>
                        <m:r>
                          <m:t>y</m:t>
                        </m:r>
                      </m:sub>
                    </m:sSub>
                    <m:r>
                      <m:rPr>
                        <m:sty m:val="p"/>
                      </m:rPr>
                      <m:t>=</m:t>
                    </m:r>
                    <m:r>
                      <m:t>1</m:t>
                    </m:r>
                  </m:oMath>
                </a14:m>
                <a:r>
                  <a:rPr/>
                  <a:t>: </a:t>
                </a:r>
                <a14:m>
                  <m:oMath xmlns:m="http://schemas.openxmlformats.org/officeDocument/2006/math">
                    <m:r>
                      <m:t>P</m:t>
                    </m:r>
                    <m:r>
                      <m:rPr>
                        <m:sty m:val="p"/>
                      </m:rPr>
                      <m:t>=</m:t>
                    </m:r>
                    <m:r>
                      <m:t>128</m:t>
                    </m:r>
                    <m:r>
                      <m:rPr>
                        <m:sty m:val="p"/>
                      </m:rPr>
                      <m:t>+</m:t>
                    </m:r>
                    <m:r>
                      <m:t>4096</m:t>
                    </m:r>
                    <m:r>
                      <m:rPr>
                        <m:sty m:val="p"/>
                      </m:rPr>
                      <m:t>+</m:t>
                    </m:r>
                    <m:r>
                      <m:t>64</m:t>
                    </m:r>
                    <m:r>
                      <m:rPr>
                        <m:sty m:val="p"/>
                      </m:rPr>
                      <m:t>+</m:t>
                    </m:r>
                    <m:r>
                      <m:t>64</m:t>
                    </m:r>
                    <m:r>
                      <m:rPr>
                        <m:sty m:val="p"/>
                      </m:rPr>
                      <m:t>+</m:t>
                    </m:r>
                    <m:r>
                      <m:t>1</m:t>
                    </m:r>
                    <m:r>
                      <m:rPr>
                        <m:sty m:val="p"/>
                      </m:rPr>
                      <m:t>=</m:t>
                    </m:r>
                    <m:r>
                      <m:t>4353</m:t>
                    </m:r>
                  </m:oMath>
                </a14:m>
                <a:r>
                  <a:rPr/>
                  <a:t> tham số cho </a:t>
                </a:r>
                <a:r>
                  <a:rPr b="1"/>
                  <a:t>mọi độ dài chuỗi</a:t>
                </a:r>
                <a:r>
                  <a:rPr/>
                  <a:t>.</a:t>
                </a:r>
              </a:p>
              <a:p>
                <a:pPr lvl="0" indent="0" marL="0">
                  <a:buNone/>
                </a:pPr>
                <a:r>
                  <a:rPr/>
                  <a:t>0.41</a:t>
                </a:r>
              </a:p>
              <a:p>
                <a:pPr lvl="0" indent="0" marL="0">
                  <a:buNone/>
                </a:pPr>
                <a:r>
                  <a:rPr b="1"/>
                  <a:t>So với MLP cửa sổ </a:t>
                </a:r>
                <a14:m>
                  <m:oMath xmlns:m="http://schemas.openxmlformats.org/officeDocument/2006/math">
                    <m:r>
                      <m:t>L</m:t>
                    </m:r>
                    <m:r>
                      <m:rPr>
                        <m:sty m:val="p"/>
                      </m:rPr>
                      <m:t>=</m:t>
                    </m:r>
                    <m:r>
                      <m:t>30</m:t>
                    </m:r>
                  </m:oMath>
                </a14:m>
              </a:p>
              <a:p>
                <a:pPr lvl="0"/>
                <a:r>
                  <a:rPr b="1"/>
                  <a:t>MLP</a:t>
                </a:r>
                <a:r>
                  <a:rPr/>
                  <a:t> (</a:t>
                </a:r>
                <a14:m>
                  <m:oMath xmlns:m="http://schemas.openxmlformats.org/officeDocument/2006/math">
                    <m:sSub>
                      <m:e>
                        <m:r>
                          <m:t>d</m:t>
                        </m:r>
                      </m:e>
                      <m:sub>
                        <m:r>
                          <m:t>x</m:t>
                        </m:r>
                      </m:sub>
                    </m:sSub>
                    <m:r>
                      <m:rPr>
                        <m:sty m:val="p"/>
                      </m:rPr>
                      <m:t>=</m:t>
                    </m:r>
                    <m:r>
                      <m:t>2</m:t>
                    </m:r>
                  </m:oMath>
                </a14:m>
                <a:r>
                  <a:rPr/>
                  <a:t>, 64 nơ-ron ẩn): trọng số tầng đầu </a:t>
                </a:r>
                <a14:m>
                  <m:oMath xmlns:m="http://schemas.openxmlformats.org/officeDocument/2006/math">
                    <m:r>
                      <m:rPr>
                        <m:sty m:val="p"/>
                      </m:rPr>
                      <m:t>=</m:t>
                    </m:r>
                    <m:r>
                      <m:t>30</m:t>
                    </m:r>
                    <m:r>
                      <m:rPr>
                        <m:sty m:val="p"/>
                      </m:rPr>
                      <m:t>⋅</m:t>
                    </m:r>
                    <m:r>
                      <m:t>2</m:t>
                    </m:r>
                    <m:r>
                      <m:rPr>
                        <m:sty m:val="p"/>
                      </m:rPr>
                      <m:t>⋅</m:t>
                    </m:r>
                    <m:r>
                      <m:t>64</m:t>
                    </m:r>
                    <m:r>
                      <m:rPr>
                        <m:sty m:val="p"/>
                      </m:rPr>
                      <m:t>=</m:t>
                    </m:r>
                    <m:r>
                      <m:t>3840</m:t>
                    </m:r>
                  </m:oMath>
                </a14:m>
                <a:r>
                  <a:rPr/>
                  <a:t> (+64 bias), chỉ dùng cho </a:t>
                </a:r>
                <a:r>
                  <a:rPr b="1"/>
                  <a:t>một</a:t>
                </a:r>
                <a:r>
                  <a:rPr/>
                  <a:t> độ rộng cửa sổ 30.</a:t>
                </a:r>
              </a:p>
              <a:p>
                <a:pPr lvl="0"/>
                <a:r>
                  <a:rPr b="1"/>
                  <a:t>RNN:</a:t>
                </a:r>
                <a:r>
                  <a:rPr/>
                  <a:t> </a:t>
                </a:r>
                <a14:m>
                  <m:oMath xmlns:m="http://schemas.openxmlformats.org/officeDocument/2006/math">
                    <m:r>
                      <m:rPr>
                        <m:sty m:val="bi"/>
                      </m:rPr>
                      <m:t>W</m:t>
                    </m:r>
                    <m:r>
                      <m:rPr>
                        <m:sty m:val="p"/>
                      </m:rPr>
                      <m:t>=</m:t>
                    </m:r>
                    <m:r>
                      <m:t>2</m:t>
                    </m:r>
                    <m:r>
                      <m:rPr>
                        <m:sty m:val="p"/>
                      </m:rPr>
                      <m:t>⋅</m:t>
                    </m:r>
                    <m:r>
                      <m:t>64</m:t>
                    </m:r>
                    <m:r>
                      <m:rPr>
                        <m:sty m:val="p"/>
                      </m:rPr>
                      <m:t>=</m:t>
                    </m:r>
                    <m:r>
                      <m:t>128</m:t>
                    </m:r>
                  </m:oMath>
                </a14:m>
                <a:r>
                  <a:rPr/>
                  <a:t> tham số nhưng </a:t>
                </a:r>
                <a:r>
                  <a:rPr b="1"/>
                  <a:t>tái sử dụng 30 lần</a:t>
                </a:r>
                <a:r>
                  <a:rPr/>
                  <a:t>.</a:t>
                </a:r>
              </a:p>
              <a:p>
                <a:pPr lvl="0" indent="0" marL="0">
                  <a:buNone/>
                </a:pPr>
                <a:r>
                  <a:rPr b="1"/>
                  <a:t>Bốn lợi ích cốt lõi</a:t>
                </a:r>
              </a:p>
              <a:p>
                <a:pPr lvl="0"/>
                <a:r>
                  <a:rPr b="1"/>
                  <a:t>Tham số hằng số theo </a:t>
                </a:r>
                <a14:m>
                  <m:oMath xmlns:m="http://schemas.openxmlformats.org/officeDocument/2006/math">
                    <m:r>
                      <m:t>T</m:t>
                    </m:r>
                  </m:oMath>
                </a14:m>
                <a:r>
                  <a:rPr/>
                  <a:t> — chuỗi dài bao nhiêu cũng không tăng thêm tham số.</a:t>
                </a:r>
              </a:p>
              <a:p>
                <a:pPr lvl="0"/>
                <a:r>
                  <a:rPr b="1"/>
                  <a:t>Tổng quát hóa:</a:t>
                </a:r>
                <a:r>
                  <a:rPr/>
                  <a:t> mẫu hình xuất hiện ở đầu hay cuối chuỗi đều được nhận diện giống nhau.</a:t>
                </a:r>
              </a:p>
              <a:p>
                <a:pPr lvl="0"/>
                <a:r>
                  <a:rPr b="1"/>
                  <a:t>Tự điều chuẩn hóa:</a:t>
                </a:r>
                <a:r>
                  <a:rPr/>
                  <a:t> ít tham số hơn trên cùng dữ liệu </a:t>
                </a:r>
                <a14:m>
                  <m:oMath xmlns:m="http://schemas.openxmlformats.org/officeDocument/2006/math">
                    <m:r>
                      <m:rPr>
                        <m:sty m:val="p"/>
                      </m:rPr>
                      <m:t>→</m:t>
                    </m:r>
                  </m:oMath>
                </a14:m>
                <a:r>
                  <a:rPr/>
                  <a:t> kháng quá khớp tốt hơn.</a:t>
                </a:r>
              </a:p>
              <a:p>
                <a:pPr lvl="0"/>
                <a:r>
                  <a:rPr b="1"/>
                  <a:t>Analogy CNN:</a:t>
                </a:r>
                <a:r>
                  <a:rPr/>
                  <a:t> kernel CNN chia sẻ trọng số theo </a:t>
                </a:r>
                <a:r>
                  <a:rPr b="1"/>
                  <a:t>KHÔNG GIAN</a:t>
                </a:r>
                <a:r>
                  <a:rPr/>
                  <a:t>, RNN chia sẻ theo </a:t>
                </a:r>
                <a:r>
                  <a:rPr b="1"/>
                  <a:t>THỜI GIAN</a:t>
                </a:r>
                <a:r>
                  <a:rPr/>
                  <a:t>.</a:t>
                </a:r>
              </a:p>
              <a:p>
                <a:pPr lvl="0" indent="0" marL="0">
                  <a:buNone/>
                </a:pPr>
                <a:r>
                  <a:rPr/>
                  <a:t>Đồ thị Tính toán dạng Mở cuộn (Unfolded Computation Graph) Một ô RNN hồi quy khi mở cuộn trở thành một </a:t>
                </a:r>
                <a:r>
                  <a:rPr b="1"/>
                  <a:t>mạng truyền thẳng cực sâu</a:t>
                </a:r>
                <a:r>
                  <a:rPr/>
                  <a:t> có độ sâu đúng bằng </a:t>
                </a:r>
                <a14:m>
                  <m:oMath xmlns:m="http://schemas.openxmlformats.org/officeDocument/2006/math">
                    <m:r>
                      <m:t>T</m:t>
                    </m:r>
                  </m:oMath>
                </a14:m>
                <a:r>
                  <a:rPr/>
                  <a:t>:</a:t>
                </a:r>
              </a:p>
              <a:p>
                <a:pPr lvl="0" indent="0" marL="0">
                  <a:buNone/>
                </a:pPr>
                <a:r>
                  <a:rPr/>
                  <a:t>0.22 </a:t>
                </a:r>
                <a:r>
                  <a:rPr b="1"/>
                  <a:t>DẠNG CUỘN</a:t>
                </a:r>
                <a:r>
                  <a:rPr/>
                  <a:t> (Folded)</a:t>
                </a:r>
                <a:br/>
              </a:p>
              <a:p>
                <a:pPr lvl="0" indent="0" marL="0">
                  <a:buNone/>
                </a:pPr>
                <a:r>
                  <a:rPr/>
                  <a:t>0.04 </a:t>
                </a:r>
                <a14:m>
                  <m:oMath xmlns:m="http://schemas.openxmlformats.org/officeDocument/2006/math">
                    <m:r>
                      <m:rPr>
                        <m:sty m:val="p"/>
                      </m:rPr>
                      <m:t>→</m:t>
                    </m:r>
                  </m:oMath>
                </a14:m>
              </a:p>
              <a:p>
                <a:pPr lvl="0" indent="0" marL="0">
                  <a:buNone/>
                </a:pPr>
                <a:r>
                  <a:rPr/>
                  <a:t>0.64 </a:t>
                </a:r>
                <a:r>
                  <a:rPr b="1"/>
                  <a:t>DẠNG MỞ CUỘN</a:t>
                </a:r>
                <a:r>
                  <a:rPr/>
                  <a:t> (Unfolded)</a:t>
                </a:r>
                <a:br/>
              </a:p>
              <a:p>
                <a:pPr lvl="0" indent="0" marL="0">
                  <a:buNone/>
                </a:pPr>
                <a:r>
                  <a:rPr/>
                  <a:t>0.325</a:t>
                </a:r>
              </a:p>
              <a:p>
                <a:pPr lvl="0" indent="0" marL="0">
                  <a:buNone/>
                </a:pPr>
                <a:r>
                  <a:rPr b="1"/>
                  <a:t>Mở cuộn = Mạng sâu </a:t>
                </a:r>
                <a14:m>
                  <m:oMath xmlns:m="http://schemas.openxmlformats.org/officeDocument/2006/math">
                    <m:r>
                      <m:t>T</m:t>
                    </m:r>
                  </m:oMath>
                </a14:m>
                <a:r>
                  <a:rPr b="1"/>
                  <a:t> tầng</a:t>
                </a:r>
                <a:r>
                  <a:rPr/>
                  <a:t> Truyền thẳng </a:t>
                </a:r>
                <a:r>
                  <a:rPr b="1"/>
                  <a:t>cực sâu</a:t>
                </a:r>
                <a:r>
                  <a:rPr/>
                  <a:t>, độ sâu đúng bằng </a:t>
                </a:r>
                <a14:m>
                  <m:oMath xmlns:m="http://schemas.openxmlformats.org/officeDocument/2006/math">
                    <m:r>
                      <m:t>T</m:t>
                    </m:r>
                  </m:oMath>
                </a14:m>
                <a:r>
                  <a:rPr/>
                  <a:t> </a:t>
                </a:r>
                <a14:m>
                  <m:oMath xmlns:m="http://schemas.openxmlformats.org/officeDocument/2006/math">
                    <m:r>
                      <m:rPr>
                        <m:sty m:val="p"/>
                      </m:rPr>
                      <m:t>→</m:t>
                    </m:r>
                  </m:oMath>
                </a14:m>
                <a:r>
                  <a:rPr/>
                  <a:t> </a:t>
                </a:r>
                <a:r>
                  <a:rPr b="1"/>
                  <a:t>BPTT</a:t>
                </a:r>
                <a:r>
                  <a:rPr/>
                  <a:t> chính là backprop chạy trên đúng đồ thị này.</a:t>
                </a:r>
              </a:p>
              <a:p>
                <a:pPr lvl="0" indent="0" marL="0">
                  <a:buNone/>
                </a:pPr>
                <a:r>
                  <a:rPr/>
                  <a:t>0.325</a:t>
                </a:r>
              </a:p>
              <a:p>
                <a:pPr lvl="0" indent="0" marL="0">
                  <a:buNone/>
                </a:pPr>
                <a14:m>
                  <m:oMath xmlns:m="http://schemas.openxmlformats.org/officeDocument/2006/math">
                    <m:r>
                      <m:rPr>
                        <m:sty m:val="bi"/>
                      </m:rPr>
                      <m:t>U</m:t>
                    </m:r>
                  </m:oMath>
                </a14:m>
                <a:r>
                  <a:rPr b="1"/>
                  <a:t> = Đường trí nhớ</a:t>
                </a:r>
                <a:r>
                  <a:rPr/>
                  <a:t> Cạnh ngang </a:t>
                </a:r>
                <a14:m>
                  <m:oMath xmlns:m="http://schemas.openxmlformats.org/officeDocument/2006/math">
                    <m:sSub>
                      <m:e>
                        <m:r>
                          <m:t>h</m:t>
                        </m:r>
                      </m:e>
                      <m:sub>
                        <m:r>
                          <m:t>t</m:t>
                        </m:r>
                        <m:r>
                          <m:rPr>
                            <m:sty m:val="p"/>
                          </m:rPr>
                          <m:t>−</m:t>
                        </m:r>
                        <m:r>
                          <m:t>1</m:t>
                        </m:r>
                      </m:sub>
                    </m:sSub>
                    <m:r>
                      <m:rPr>
                        <m:sty m:val="p"/>
                      </m:rPr>
                      <m:t>→</m:t>
                    </m:r>
                    <m:sSub>
                      <m:e>
                        <m:r>
                          <m:t>h</m:t>
                        </m:r>
                      </m:e>
                      <m:sub>
                        <m:r>
                          <m:t>t</m:t>
                        </m:r>
                      </m:sub>
                    </m:sSub>
                  </m:oMath>
                </a14:m>
                <a:r>
                  <a:rPr/>
                  <a:t> (màu đỏ) đưa quá khứ vào hiện tại; </a:t>
                </a:r>
                <a:r>
                  <a:rPr b="1"/>
                  <a:t>cắt nó</a:t>
                </a:r>
                <a:r>
                  <a:rPr/>
                  <a:t> thì mất hết thông tin quá khứ.</a:t>
                </a:r>
              </a:p>
              <a:p>
                <a:pPr lvl="0" indent="0" marL="0">
                  <a:buNone/>
                </a:pPr>
                <a:r>
                  <a:rPr/>
                  <a:t>0.325</a:t>
                </a:r>
              </a:p>
              <a:p>
                <a:pPr lvl="0" indent="0" marL="0">
                  <a:buNone/>
                </a:pPr>
                <a14:m>
                  <m:oMath xmlns:m="http://schemas.openxmlformats.org/officeDocument/2006/math">
                    <m:r>
                      <m:t>T</m:t>
                    </m:r>
                  </m:oMath>
                </a14:m>
                <a:r>
                  <a:rPr b="1"/>
                  <a:t> giãn mãi — tham số cố định</a:t>
                </a:r>
                <a:r>
                  <a:rPr/>
                  <a:t> Cùng bộ </a:t>
                </a:r>
                <a14:m>
                  <m:oMath xmlns:m="http://schemas.openxmlformats.org/officeDocument/2006/math">
                    <m:r>
                      <m:t>W</m:t>
                    </m:r>
                    <m:r>
                      <m:rPr>
                        <m:sty m:val="p"/>
                      </m:rPr>
                      <m:t>,</m:t>
                    </m:r>
                    <m:r>
                      <m:t>U</m:t>
                    </m:r>
                    <m:r>
                      <m:rPr>
                        <m:sty m:val="p"/>
                      </m:rPr>
                      <m:t>,</m:t>
                    </m:r>
                    <m:r>
                      <m:t>V</m:t>
                    </m:r>
                  </m:oMath>
                </a14:m>
                <a:r>
                  <a:rPr/>
                  <a:t> tái sử dụng </a:t>
                </a:r>
                <a14:m>
                  <m:oMath xmlns:m="http://schemas.openxmlformats.org/officeDocument/2006/math">
                    <m:r>
                      <m:rPr>
                        <m:sty m:val="p"/>
                      </m:rPr>
                      <m:t>→</m:t>
                    </m:r>
                  </m:oMath>
                </a14:m>
                <a:r>
                  <a:rPr/>
                  <a:t> đồ thị dài thêm bao nhiêu cũng </a:t>
                </a:r>
                <a:r>
                  <a:rPr b="1"/>
                  <a:t>không thêm trọng số</a:t>
                </a:r>
                <a:r>
                  <a:rPr/>
                  <a:t> nào.</a:t>
                </a:r>
              </a:p>
              <a:p>
                <a:pPr lvl="0" indent="0" marL="0">
                  <a:buNone/>
                </a:pPr>
                <a:r>
                  <a:rPr/>
                  <a:t>Các Dạng Kiến trúc Tương tác Chuỗi (Phần 1) Tùy số lượng bước vào / bước ra, một ô RNN tạo thành các kiến trúc tương tác chuỗi khác nhau:</a:t>
                </a:r>
              </a:p>
              <a:p>
                <a:pPr lvl="0" indent="0" marL="0">
                  <a:buNone/>
                </a:pPr>
                <a:r>
                  <a:rPr/>
                  <a:t>0.30</a:t>
                </a:r>
              </a:p>
              <a:p>
                <a:pPr lvl="0" indent="0" marL="0">
                  <a:buNone/>
                </a:pPr>
                <a:r>
                  <a:rPr b="1"/>
                  <a:t>One-to-One</a:t>
                </a:r>
                <a:br/>
                <a:r>
                  <a:rPr/>
                  <a:t>1 bước vào </a:t>
                </a:r>
                <a14:m>
                  <m:oMath xmlns:m="http://schemas.openxmlformats.org/officeDocument/2006/math">
                    <m:r>
                      <m:rPr>
                        <m:sty m:val="p"/>
                      </m:rPr>
                      <m:t>→</m:t>
                    </m:r>
                  </m:oMath>
                </a14:m>
                <a:r>
                  <a:rPr/>
                  <a:t> 1 bước ra</a:t>
                </a:r>
              </a:p>
              <a:p>
                <a:pPr lvl="0" indent="0" marL="0">
                  <a:buNone/>
                </a:pPr>
                <a:r>
                  <a:rPr i="1"/>
                  <a:t>Phân loại 1 ảnh — mốc đối chiếu, chưa khai thác ngữ cảnh chuỗi</a:t>
                </a:r>
              </a:p>
              <a:p>
                <a:pPr lvl="0" indent="0" marL="0">
                  <a:buNone/>
                </a:pPr>
                <a:r>
                  <a:rPr/>
                  <a:t>0.33</a:t>
                </a:r>
              </a:p>
              <a:p>
                <a:pPr lvl="0" indent="0" marL="0">
                  <a:buNone/>
                </a:pPr>
                <a:r>
                  <a:rPr b="1"/>
                  <a:t>One-to-Many</a:t>
                </a:r>
                <a:br/>
                <a:r>
                  <a:rPr/>
                  <a:t>1 bước vào </a:t>
                </a:r>
                <a14:m>
                  <m:oMath xmlns:m="http://schemas.openxmlformats.org/officeDocument/2006/math">
                    <m:r>
                      <m:rPr>
                        <m:sty m:val="p"/>
                      </m:rPr>
                      <m:t>→</m:t>
                    </m:r>
                  </m:oMath>
                </a14:m>
                <a:r>
                  <a:rPr/>
                  <a:t> chuỗi ra</a:t>
                </a:r>
              </a:p>
              <a:p>
                <a:pPr lvl="0" indent="0" marL="0">
                  <a:buNone/>
                </a:pPr>
                <a:r>
                  <a:rPr i="1"/>
                  <a:t>Sinh chú thích ảnh (image captioning), sinh nhạc</a:t>
                </a:r>
              </a:p>
              <a:p>
                <a:pPr lvl="0" indent="0" marL="0">
                  <a:buNone/>
                </a:pPr>
                <a:r>
                  <a:rPr/>
                  <a:t>0.33</a:t>
                </a:r>
              </a:p>
              <a:p>
                <a:pPr lvl="0" indent="0" marL="0">
                  <a:buNone/>
                </a:pPr>
                <a:r>
                  <a:rPr b="1"/>
                  <a:t>Many-to-One</a:t>
                </a:r>
                <a:br/>
                <a:r>
                  <a:rPr/>
                  <a:t>chuỗi vào </a:t>
                </a:r>
                <a14:m>
                  <m:oMath xmlns:m="http://schemas.openxmlformats.org/officeDocument/2006/math">
                    <m:r>
                      <m:rPr>
                        <m:sty m:val="p"/>
                      </m:rPr>
                      <m:t>→</m:t>
                    </m:r>
                  </m:oMath>
                </a14:m>
                <a:r>
                  <a:rPr/>
                  <a:t> 1 đầu ra</a:t>
                </a:r>
              </a:p>
              <a:p>
                <a:pPr lvl="0" indent="0" marL="0">
                  <a:buNone/>
                </a:pPr>
                <a:r>
                  <a:rPr i="1"/>
                  <a:t>Phân loại cảm xúc review; dự báo giá ngày mai — dạng dùng trong phần thực nghiệm của bài</a:t>
                </a:r>
              </a:p>
              <a:p>
                <a:pPr lvl="0" indent="0" marL="0">
                  <a:buNone/>
                </a:pPr>
                <a:r>
                  <a:rPr/>
                  <a:t>Các Dạng Kiến trúc Tương tác Chuỗi (Phần 2)</a:t>
                </a:r>
              </a:p>
              <a:p>
                <a:pPr lvl="0" indent="0" marL="0">
                  <a:buNone/>
                </a:pPr>
                <a:r>
                  <a:rPr/>
                  <a:t>0.32</a:t>
                </a:r>
              </a:p>
              <a:p>
                <a:pPr lvl="0" indent="0" marL="0">
                  <a:buNone/>
                </a:pPr>
                <a:r>
                  <a:rPr b="1"/>
                  <a:t>Many-to-Many (Đồng bộ)</a:t>
                </a:r>
                <a:br/>
                <a:r>
                  <a:rPr/>
                  <a:t>mỗi bước vào </a:t>
                </a:r>
                <a14:m>
                  <m:oMath xmlns:m="http://schemas.openxmlformats.org/officeDocument/2006/math">
                    <m:r>
                      <m:rPr>
                        <m:sty m:val="p"/>
                      </m:rPr>
                      <m:t>→</m:t>
                    </m:r>
                  </m:oMath>
                </a14:m>
                <a:r>
                  <a:rPr/>
                  <a:t> 1 nhãn ra</a:t>
                </a:r>
              </a:p>
              <a:p>
                <a:pPr lvl="0" indent="0" marL="0">
                  <a:buNone/>
                </a:pPr>
                <a:r>
                  <a:rPr i="1"/>
                  <a:t>Gán nhãn từ loại POS / NER: mỗi token ra đúng 1 nhãn</a:t>
                </a:r>
              </a:p>
              <a:p>
                <a:pPr lvl="0" indent="0" marL="0">
                  <a:buNone/>
                </a:pPr>
                <a:r>
                  <a:rPr/>
                  <a:t>0.34</a:t>
                </a:r>
              </a:p>
              <a:p>
                <a:pPr lvl="0" indent="0" marL="0">
                  <a:buNone/>
                </a:pPr>
                <a:r>
                  <a:rPr b="1"/>
                  <a:t>Seq2Seq (Encoder–Decoder)</a:t>
                </a:r>
                <a:br/>
                <a:r>
                  <a:rPr/>
                  <a:t>độ dài ra </a:t>
                </a:r>
                <a14:m>
                  <m:oMath xmlns:m="http://schemas.openxmlformats.org/officeDocument/2006/math">
                    <m:r>
                      <m:rPr>
                        <m:sty m:val="p"/>
                      </m:rPr>
                      <m:t>≠</m:t>
                    </m:r>
                  </m:oMath>
                </a14:m>
                <a:r>
                  <a:rPr/>
                  <a:t> độ dài vào</a:t>
                </a:r>
              </a:p>
              <a:p>
                <a:pPr lvl="0" indent="0" marL="0">
                  <a:buNone/>
                </a:pPr>
                <a:r>
                  <a:rPr i="1"/>
                  <a:t>Encoder nén chuỗi vào thành vector ngữ cảnh </a:t>
                </a:r>
                <a14:m>
                  <m:oMath xmlns:m="http://schemas.openxmlformats.org/officeDocument/2006/math">
                    <m:r>
                      <m:t>c</m:t>
                    </m:r>
                  </m:oMath>
                </a14:m>
                <a:r>
                  <a:rPr i="1"/>
                  <a:t>; Decoder sinh chuỗi ra: dịch máy, tóm tắt</a:t>
                </a:r>
              </a:p>
              <a:p>
                <a:pPr lvl="0" indent="0" marL="0">
                  <a:buNone/>
                </a:pPr>
                <a:r>
                  <a:rPr/>
                  <a:t>0.32</a:t>
                </a:r>
              </a:p>
              <a:p>
                <a:pPr lvl="0" indent="0" marL="0">
                  <a:buNone/>
                </a:pPr>
                <a:r>
                  <a:rPr b="1"/>
                  <a:t>Bidirectional RNN</a:t>
                </a:r>
                <a:br/>
                <a:r>
                  <a:rPr/>
                  <a:t>nhìn cả 2 chiều thời gian</a:t>
                </a:r>
              </a:p>
              <a:p>
                <a:pPr lvl="0" indent="0" marL="0">
                  <a:buNone/>
                </a:pPr>
                <a:r>
                  <a:rPr i="1"/>
                  <a:t>NER, embedding; không dùng dự báo tương lai — nhìn được tương lai = rò rỉ dữ liệu</a:t>
                </a:r>
              </a:p>
              <a:p>
                <a:pPr lvl="0" indent="0" marL="0">
                  <a:buNone/>
                </a:pPr>
                <a:r>
                  <a:rPr b="1"/>
                  <a:t>Liên hệ bài toán asm6</a:t>
                </a:r>
                <a:r>
                  <a:rPr/>
                  <a:t> Chuỗi giá quá khứ </a:t>
                </a:r>
                <a14:m>
                  <m:oMath xmlns:m="http://schemas.openxmlformats.org/officeDocument/2006/math">
                    <m:r>
                      <m:rPr>
                        <m:sty m:val="p"/>
                      </m:rPr>
                      <m:t>→</m:t>
                    </m:r>
                  </m:oMath>
                </a14:m>
                <a:r>
                  <a:rPr/>
                  <a:t> 1 giá ngày mai </a:t>
                </a:r>
                <a14:m>
                  <m:oMath xmlns:m="http://schemas.openxmlformats.org/officeDocument/2006/math">
                    <m:r>
                      <m:rPr>
                        <m:sty m:val="p"/>
                      </m:rPr>
                      <m:t>⇒</m:t>
                    </m:r>
                  </m:oMath>
                </a14:m>
                <a:r>
                  <a:rPr/>
                  <a:t> bài toán thực nghiệm thuộc dạng </a:t>
                </a:r>
                <a:r>
                  <a:rPr b="1"/>
                  <a:t>Many-to-One</a:t>
                </a:r>
                <a:r>
                  <a:rPr/>
                  <a:t>.</a:t>
                </a:r>
              </a:p>
              <a:p>
                <a:pPr lvl="0" indent="0" marL="0">
                  <a:buNone/>
                </a:pPr>
                <a:r>
                  <a:rPr/>
                  <a:t>Hàm mất mát (Loss Function) - Minh họa</a:t>
                </a:r>
              </a:p>
              <a:p>
                <a:pPr lvl="0" indent="0" marL="0">
                  <a:buNone/>
                </a:pPr>
                <a:r>
                  <a:rPr/>
                  <a:t>Backpropagation Through Time (BPTT) Có 3 tham số ta cần phải tìm là </a:t>
                </a:r>
                <a14:m>
                  <m:oMath xmlns:m="http://schemas.openxmlformats.org/officeDocument/2006/math">
                    <m:r>
                      <m:t>W</m:t>
                    </m:r>
                    <m:r>
                      <m:rPr>
                        <m:sty m:val="p"/>
                      </m:rPr>
                      <m:t>,</m:t>
                    </m:r>
                    <m:r>
                      <m:t>U</m:t>
                    </m:r>
                    <m:r>
                      <m:rPr>
                        <m:sty m:val="p"/>
                      </m:rPr>
                      <m:t>,</m:t>
                    </m:r>
                    <m:r>
                      <m:t>V</m:t>
                    </m:r>
                  </m:oMath>
                </a14:m>
                <a:r>
                  <a:rPr/>
                  <a:t>. Để thực hiện gradient descent, ta cần tính: </a:t>
                </a:r>
                <a14:m>
                  <m:oMath xmlns:m="http://schemas.openxmlformats.org/officeDocument/2006/math">
                    <m:f>
                      <m:fPr>
                        <m:type m:val="bar"/>
                      </m:fPr>
                      <m:num>
                        <m:r>
                          <m:rPr>
                            <m:sty m:val="p"/>
                          </m:rPr>
                          <m:t>∂</m:t>
                        </m:r>
                        <m:r>
                          <m:t>L</m:t>
                        </m:r>
                      </m:num>
                      <m:den>
                        <m:r>
                          <m:rPr>
                            <m:sty m:val="p"/>
                          </m:rPr>
                          <m:t>∂</m:t>
                        </m:r>
                        <m:r>
                          <m:t>U</m:t>
                        </m:r>
                      </m:den>
                    </m:f>
                  </m:oMath>
                </a14:m>
                <a:r>
                  <a:rPr/>
                  <a:t>, </a:t>
                </a:r>
                <a14:m>
                  <m:oMath xmlns:m="http://schemas.openxmlformats.org/officeDocument/2006/math">
                    <m:f>
                      <m:fPr>
                        <m:type m:val="bar"/>
                      </m:fPr>
                      <m:num>
                        <m:r>
                          <m:rPr>
                            <m:sty m:val="p"/>
                          </m:rPr>
                          <m:t>∂</m:t>
                        </m:r>
                        <m:r>
                          <m:t>L</m:t>
                        </m:r>
                      </m:num>
                      <m:den>
                        <m:r>
                          <m:rPr>
                            <m:sty m:val="p"/>
                          </m:rPr>
                          <m:t>∂</m:t>
                        </m:r>
                        <m:r>
                          <m:t>V</m:t>
                        </m:r>
                      </m:den>
                    </m:f>
                  </m:oMath>
                </a14:m>
                <a:r>
                  <a:rPr/>
                  <a:t>, </a:t>
                </a:r>
                <a14:m>
                  <m:oMath xmlns:m="http://schemas.openxmlformats.org/officeDocument/2006/math">
                    <m:f>
                      <m:fPr>
                        <m:type m:val="bar"/>
                      </m:fPr>
                      <m:num>
                        <m:r>
                          <m:rPr>
                            <m:sty m:val="p"/>
                          </m:rPr>
                          <m:t>∂</m:t>
                        </m:r>
                        <m:r>
                          <m:t>L</m:t>
                        </m:r>
                      </m:num>
                      <m:den>
                        <m:r>
                          <m:rPr>
                            <m:sty m:val="p"/>
                          </m:rPr>
                          <m:t>∂</m:t>
                        </m:r>
                        <m:r>
                          <m:t>W</m:t>
                        </m:r>
                      </m:den>
                    </m:f>
                  </m:oMath>
                </a14:m>
                <a:r>
                  <a:rPr/>
                  <a:t>.</a:t>
                </a:r>
              </a:p>
              <a:p>
                <a:pPr lvl="0" indent="0" marL="0">
                  <a:buNone/>
                </a:pPr>
                <a:r>
                  <a:rPr/>
                  <a:t>Tính đạo hàm với </a:t>
                </a:r>
                <a14:m>
                  <m:oMath xmlns:m="http://schemas.openxmlformats.org/officeDocument/2006/math">
                    <m:r>
                      <m:t>V</m:t>
                    </m:r>
                  </m:oMath>
                </a14:m>
                <a:r>
                  <a:rPr/>
                  <a:t> thì khá đơn giản vì nó chỉ phụ thuộc trực tiếp vào bước hiện tại:</a:t>
                </a:r>
              </a:p>
              <a:p>
                <a:pPr lvl="0" indent="0" marL="0">
                  <a:buNone/>
                </a:pPr>
                <a14:m>
                  <m:oMathPara xmlns:m="http://schemas.openxmlformats.org/officeDocument/2006/math">
                    <m:oMathParaPr>
                      <m:jc m:val="center"/>
                    </m:oMathParaPr>
                    <m:oMath>
                      <m:f>
                        <m:fPr>
                          <m:type m:val="bar"/>
                        </m:fPr>
                        <m:num>
                          <m:r>
                            <m:rPr>
                              <m:sty m:val="p"/>
                            </m:rPr>
                            <m:t>∂</m:t>
                          </m:r>
                          <m:r>
                            <m:t>L</m:t>
                          </m:r>
                        </m:num>
                        <m:den>
                          <m:r>
                            <m:rPr>
                              <m:sty m:val="p"/>
                            </m:rPr>
                            <m:t>∂</m:t>
                          </m:r>
                          <m:r>
                            <m:t>V</m:t>
                          </m:r>
                        </m:den>
                      </m:f>
                      <m:r>
                        <m:rPr>
                          <m:sty m:val="p"/>
                        </m:rPr>
                        <m:t>=</m:t>
                      </m:r>
                      <m:nary>
                        <m:naryPr>
                          <m:chr m:val="∑"/>
                          <m:limLoc m:val="undOvr"/>
                          <m:subHide m:val="off"/>
                          <m:supHide m:val="off"/>
                        </m:naryPr>
                        <m:sub>
                          <m:r>
                            <m:t>t</m:t>
                          </m:r>
                          <m:r>
                            <m:rPr>
                              <m:sty m:val="p"/>
                            </m:rPr>
                            <m:t>=</m:t>
                          </m:r>
                          <m:r>
                            <m:t>1</m:t>
                          </m:r>
                        </m:sub>
                        <m:sup>
                          <m:r>
                            <m:t>T</m:t>
                          </m:r>
                        </m:sup>
                        <m:e>
                          <m:f>
                            <m:fPr>
                              <m:type m:val="bar"/>
                            </m:fPr>
                            <m:num>
                              <m:r>
                                <m:rPr>
                                  <m:sty m:val="p"/>
                                </m:rPr>
                                <m:t>∂</m:t>
                              </m:r>
                              <m:sSub>
                                <m:e>
                                  <m:r>
                                    <m:t>L</m:t>
                                  </m:r>
                                </m:e>
                                <m:sub>
                                  <m:r>
                                    <m:t>t</m:t>
                                  </m:r>
                                </m:sub>
                              </m:sSub>
                            </m:num>
                            <m:den>
                              <m:r>
                                <m:rPr>
                                  <m:sty m:val="p"/>
                                </m:rPr>
                                <m:t>∂</m:t>
                              </m:r>
                              <m:sSub>
                                <m:e>
                                  <m:acc>
                                    <m:accPr>
                                      <m:chr m:val="̂"/>
                                    </m:accPr>
                                    <m:e>
                                      <m:r>
                                        <m:t>y</m:t>
                                      </m:r>
                                    </m:e>
                                  </m:acc>
                                </m:e>
                                <m:sub>
                                  <m:r>
                                    <m:t>t</m:t>
                                  </m:r>
                                </m:sub>
                              </m:sSub>
                            </m:den>
                          </m:f>
                        </m:e>
                      </m:nary>
                      <m:r>
                        <m:rPr>
                          <m:sty m:val="p"/>
                        </m:rPr>
                        <m:t>⋅</m:t>
                      </m:r>
                      <m:f>
                        <m:fPr>
                          <m:type m:val="bar"/>
                        </m:fPr>
                        <m:num>
                          <m:r>
                            <m:rPr>
                              <m:sty m:val="p"/>
                            </m:rPr>
                            <m:t>∂</m:t>
                          </m:r>
                          <m:sSub>
                            <m:e>
                              <m:acc>
                                <m:accPr>
                                  <m:chr m:val="̂"/>
                                </m:accPr>
                                <m:e>
                                  <m:r>
                                    <m:t>y</m:t>
                                  </m:r>
                                </m:e>
                              </m:acc>
                            </m:e>
                            <m:sub>
                              <m:r>
                                <m:t>t</m:t>
                              </m:r>
                            </m:sub>
                          </m:sSub>
                        </m:num>
                        <m:den>
                          <m:r>
                            <m:rPr>
                              <m:sty m:val="p"/>
                            </m:rPr>
                            <m:t>∂</m:t>
                          </m:r>
                          <m:r>
                            <m:t>V</m:t>
                          </m:r>
                        </m:den>
                      </m:f>
                    </m:oMath>
                  </m:oMathPara>
                </a14:m>
              </a:p>
              <a:p>
                <a:pPr lvl="0" indent="0" marL="0">
                  <a:buNone/>
                </a:pPr>
                <a:r>
                  <a:rPr/>
                  <a:t>Tuy nhiên với </a:t>
                </a:r>
                <a14:m>
                  <m:oMath xmlns:m="http://schemas.openxmlformats.org/officeDocument/2006/math">
                    <m:r>
                      <m:t>U</m:t>
                    </m:r>
                    <m:r>
                      <m:rPr>
                        <m:sty m:val="p"/>
                      </m:rPr>
                      <m:t>,</m:t>
                    </m:r>
                    <m:r>
                      <m:t>W</m:t>
                    </m:r>
                  </m:oMath>
                </a14:m>
                <a:r>
                  <a:rPr/>
                  <a:t> thì lại khác. Xét tổng quát tại thời điểm </a:t>
                </a:r>
                <a14:m>
                  <m:oMath xmlns:m="http://schemas.openxmlformats.org/officeDocument/2006/math">
                    <m:r>
                      <m:t>T</m:t>
                    </m:r>
                  </m:oMath>
                </a14:m>
                <a:r>
                  <a:rPr/>
                  <a:t>:</a:t>
                </a:r>
              </a:p>
              <a:p>
                <a:pPr lvl="0" indent="0" marL="0">
                  <a:buNone/>
                </a:pPr>
                <a14:m>
                  <m:oMathPara xmlns:m="http://schemas.openxmlformats.org/officeDocument/2006/math">
                    <m:oMathParaPr>
                      <m:jc m:val="center"/>
                    </m:oMathParaPr>
                    <m:oMath>
                      <m:f>
                        <m:fPr>
                          <m:type m:val="bar"/>
                        </m:fPr>
                        <m:num>
                          <m:r>
                            <m:rPr>
                              <m:sty m:val="p"/>
                            </m:rPr>
                            <m:t>∂</m:t>
                          </m:r>
                          <m:r>
                            <m:t>L</m:t>
                          </m:r>
                        </m:num>
                        <m:den>
                          <m:r>
                            <m:rPr>
                              <m:sty m:val="p"/>
                            </m:rPr>
                            <m:t>∂</m:t>
                          </m:r>
                          <m:r>
                            <m:t>W</m:t>
                          </m:r>
                        </m:den>
                      </m:f>
                      <m:r>
                        <m:rPr>
                          <m:sty m:val="p"/>
                        </m:rPr>
                        <m:t>=</m:t>
                      </m:r>
                      <m:nary>
                        <m:naryPr>
                          <m:chr m:val="∑"/>
                          <m:limLoc m:val="undOvr"/>
                          <m:subHide m:val="off"/>
                          <m:supHide m:val="off"/>
                        </m:naryPr>
                        <m:sub>
                          <m:r>
                            <m:t>t</m:t>
                          </m:r>
                          <m:r>
                            <m:rPr>
                              <m:sty m:val="p"/>
                            </m:rPr>
                            <m:t>=</m:t>
                          </m:r>
                          <m:r>
                            <m:t>1</m:t>
                          </m:r>
                        </m:sub>
                        <m:sup>
                          <m:r>
                            <m:t>T</m:t>
                          </m:r>
                        </m:sup>
                        <m:e>
                          <m:f>
                            <m:fPr>
                              <m:type m:val="bar"/>
                            </m:fPr>
                            <m:num>
                              <m:r>
                                <m:rPr>
                                  <m:sty m:val="p"/>
                                </m:rPr>
                                <m:t>∂</m:t>
                              </m:r>
                              <m:sSub>
                                <m:e>
                                  <m:r>
                                    <m:t>L</m:t>
                                  </m:r>
                                </m:e>
                                <m:sub>
                                  <m:r>
                                    <m:t>t</m:t>
                                  </m:r>
                                </m:sub>
                              </m:sSub>
                            </m:num>
                            <m:den>
                              <m:r>
                                <m:rPr>
                                  <m:sty m:val="p"/>
                                </m:rPr>
                                <m:t>∂</m:t>
                              </m:r>
                              <m:sSub>
                                <m:e>
                                  <m:acc>
                                    <m:accPr>
                                      <m:chr m:val="̂"/>
                                    </m:accPr>
                                    <m:e>
                                      <m:r>
                                        <m:t>y</m:t>
                                      </m:r>
                                    </m:e>
                                  </m:acc>
                                </m:e>
                                <m:sub>
                                  <m:r>
                                    <m:t>t</m:t>
                                  </m:r>
                                </m:sub>
                              </m:sSub>
                            </m:den>
                          </m:f>
                        </m:e>
                      </m:nary>
                      <m:r>
                        <m:rPr>
                          <m:sty m:val="p"/>
                        </m:rPr>
                        <m:t>⋅</m:t>
                      </m:r>
                      <m:f>
                        <m:fPr>
                          <m:type m:val="bar"/>
                        </m:fPr>
                        <m:num>
                          <m:r>
                            <m:rPr>
                              <m:sty m:val="p"/>
                            </m:rPr>
                            <m:t>∂</m:t>
                          </m:r>
                          <m:sSub>
                            <m:e>
                              <m:acc>
                                <m:accPr>
                                  <m:chr m:val="̂"/>
                                </m:accPr>
                                <m:e>
                                  <m:r>
                                    <m:t>y</m:t>
                                  </m:r>
                                </m:e>
                              </m:acc>
                            </m:e>
                            <m:sub>
                              <m:r>
                                <m:t>t</m:t>
                              </m:r>
                            </m:sub>
                          </m:sSub>
                        </m:num>
                        <m:den>
                          <m:r>
                            <m:rPr>
                              <m:sty m:val="p"/>
                            </m:rPr>
                            <m:t>∂</m:t>
                          </m:r>
                          <m:sSub>
                            <m:e>
                              <m:r>
                                <m:t>s</m:t>
                              </m:r>
                            </m:e>
                            <m:sub>
                              <m:r>
                                <m:t>t</m:t>
                              </m:r>
                            </m:sub>
                          </m:sSub>
                        </m:den>
                      </m:f>
                      <m:r>
                        <m:rPr>
                          <m:sty m:val="p"/>
                        </m:rPr>
                        <m:t>⋅</m:t>
                      </m:r>
                      <m:f>
                        <m:fPr>
                          <m:type m:val="bar"/>
                        </m:fPr>
                        <m:num>
                          <m:r>
                            <m:rPr>
                              <m:sty m:val="p"/>
                            </m:rPr>
                            <m:t>∂</m:t>
                          </m:r>
                          <m:sSub>
                            <m:e>
                              <m:r>
                                <m:t>s</m:t>
                              </m:r>
                            </m:e>
                            <m:sub>
                              <m:r>
                                <m:t>t</m:t>
                              </m:r>
                            </m:sub>
                          </m:sSub>
                        </m:num>
                        <m:den>
                          <m:r>
                            <m:rPr>
                              <m:sty m:val="p"/>
                            </m:rPr>
                            <m:t>∂</m:t>
                          </m:r>
                          <m:r>
                            <m:t>W</m:t>
                          </m:r>
                        </m:den>
                      </m:f>
                    </m:oMath>
                  </m:oMathPara>
                </a14:m>
              </a:p>
              <a:p>
                <a:pPr lvl="0" indent="0" marL="0">
                  <a:buNone/>
                </a:pPr>
                <a:r>
                  <a:rPr/>
                  <a:t>Do trạng thái </a:t>
                </a:r>
                <a14:m>
                  <m:oMath xmlns:m="http://schemas.openxmlformats.org/officeDocument/2006/math">
                    <m:sSub>
                      <m:e>
                        <m:r>
                          <m:t>s</m:t>
                        </m:r>
                      </m:e>
                      <m:sub>
                        <m:r>
                          <m:t>t</m:t>
                        </m:r>
                      </m:sub>
                    </m:sSub>
                    <m:r>
                      <m:rPr>
                        <m:sty m:val="p"/>
                      </m:rPr>
                      <m:t>=</m:t>
                    </m:r>
                    <m:r>
                      <m:rPr>
                        <m:sty m:val="p"/>
                      </m:rPr>
                      <m:t>tanh</m:t>
                    </m:r>
                    <m:r>
                      <m:rPr>
                        <m:sty m:val="p"/>
                      </m:rPr>
                      <m:t>(</m:t>
                    </m:r>
                    <m:r>
                      <m:t>W</m:t>
                    </m:r>
                    <m:r>
                      <m:rPr>
                        <m:sty m:val="p"/>
                      </m:rPr>
                      <m:t>⋅</m:t>
                    </m:r>
                    <m:sSub>
                      <m:e>
                        <m:r>
                          <m:t>s</m:t>
                        </m:r>
                      </m:e>
                      <m:sub>
                        <m:r>
                          <m:t>t</m:t>
                        </m:r>
                        <m:r>
                          <m:rPr>
                            <m:sty m:val="p"/>
                          </m:rPr>
                          <m:t>−</m:t>
                        </m:r>
                        <m:r>
                          <m:t>1</m:t>
                        </m:r>
                      </m:sub>
                    </m:sSub>
                    <m:r>
                      <m:rPr>
                        <m:sty m:val="p"/>
                      </m:rPr>
                      <m:t>+</m:t>
                    </m:r>
                    <m:r>
                      <m:t>U</m:t>
                    </m:r>
                    <m:r>
                      <m:rPr>
                        <m:sty m:val="p"/>
                      </m:rPr>
                      <m:t>⋅</m:t>
                    </m:r>
                    <m:sSub>
                      <m:e>
                        <m:r>
                          <m:t>x</m:t>
                        </m:r>
                      </m:e>
                      <m:sub>
                        <m:r>
                          <m:t>t</m:t>
                        </m:r>
                      </m:sub>
                    </m:sSub>
                    <m:r>
                      <m:rPr>
                        <m:sty m:val="p"/>
                      </m:rPr>
                      <m:t>)</m:t>
                    </m:r>
                  </m:oMath>
                </a14:m>
                <a:r>
                  <a:rPr/>
                  <a:t> có </a:t>
                </a:r>
                <a14:m>
                  <m:oMath xmlns:m="http://schemas.openxmlformats.org/officeDocument/2006/math">
                    <m:sSub>
                      <m:e>
                        <m:r>
                          <m:t>s</m:t>
                        </m:r>
                      </m:e>
                      <m:sub>
                        <m:r>
                          <m:t>t</m:t>
                        </m:r>
                        <m:r>
                          <m:rPr>
                            <m:sty m:val="p"/>
                          </m:rPr>
                          <m:t>−</m:t>
                        </m:r>
                        <m:r>
                          <m:t>1</m:t>
                        </m:r>
                      </m:sub>
                    </m:sSub>
                  </m:oMath>
                </a14:m>
                <a:r>
                  <a:rPr/>
                  <a:t> phụ thuộc vào </a:t>
                </a:r>
                <a14:m>
                  <m:oMath xmlns:m="http://schemas.openxmlformats.org/officeDocument/2006/math">
                    <m:r>
                      <m:t>W</m:t>
                    </m:r>
                  </m:oMath>
                </a14:m>
                <a:r>
                  <a:rPr/>
                  <a:t>, ta phải áp dụng Chain Rule truy hồi liên tục về tận thời điểm đầu tiên.</a:t>
                </a:r>
              </a:p>
              <a:p>
                <a:pPr lvl="0" indent="0" marL="0">
                  <a:buNone/>
                </a:pPr>
                <a:r>
                  <a:rPr/>
                  <a:t>BPTT: Đạo hàm cho W Sử dụng công thức đạo hàm hàm hợp </a:t>
                </a:r>
                <a14:m>
                  <m:oMath xmlns:m="http://schemas.openxmlformats.org/officeDocument/2006/math">
                    <m:r>
                      <m:rPr>
                        <m:sty m:val="p"/>
                      </m:rPr>
                      <m:t>(</m:t>
                    </m:r>
                    <m:r>
                      <m:t>f</m:t>
                    </m:r>
                    <m:r>
                      <m:rPr>
                        <m:sty m:val="p"/>
                      </m:rPr>
                      <m:t>(</m:t>
                    </m:r>
                    <m:r>
                      <m:t>x</m:t>
                    </m:r>
                    <m:r>
                      <m:rPr>
                        <m:sty m:val="p"/>
                      </m:rPr>
                      <m:t>)</m:t>
                    </m:r>
                    <m:r>
                      <m:rPr>
                        <m:sty m:val="p"/>
                      </m:rPr>
                      <m:t>⋅</m:t>
                    </m:r>
                    <m:r>
                      <m:t>g</m:t>
                    </m:r>
                    <m:r>
                      <m:rPr>
                        <m:sty m:val="p"/>
                      </m:rPr>
                      <m:t>(</m:t>
                    </m:r>
                    <m:r>
                      <m:t>x</m:t>
                    </m:r>
                    <m:r>
                      <m:rPr>
                        <m:sty m:val="p"/>
                      </m:rPr>
                      <m:t>)</m:t>
                    </m:r>
                    <m:sSup>
                      <m:e>
                        <m:r>
                          <m:rPr>
                            <m:sty m:val="p"/>
                          </m:rPr>
                          <m:t>)</m:t>
                        </m:r>
                      </m:e>
                      <m:sup>
                        <m:r>
                          <m:rPr>
                            <m:sty m:val="p"/>
                          </m:rPr>
                          <m:t>′</m:t>
                        </m:r>
                      </m:sup>
                    </m:sSup>
                    <m:r>
                      <m:rPr>
                        <m:sty m:val="p"/>
                      </m:rPr>
                      <m:t>=</m:t>
                    </m:r>
                    <m:sSup>
                      <m:e>
                        <m:r>
                          <m:t>f</m:t>
                        </m:r>
                      </m:e>
                      <m:sup>
                        <m:r>
                          <m:rPr>
                            <m:sty m:val="p"/>
                          </m:rPr>
                          <m:t>′</m:t>
                        </m:r>
                      </m:sup>
                    </m:sSup>
                    <m:r>
                      <m:rPr>
                        <m:sty m:val="p"/>
                      </m:rPr>
                      <m:t>(</m:t>
                    </m:r>
                    <m:r>
                      <m:t>x</m:t>
                    </m:r>
                    <m:r>
                      <m:rPr>
                        <m:sty m:val="p"/>
                      </m:rPr>
                      <m:t>)</m:t>
                    </m:r>
                    <m:r>
                      <m:t>g</m:t>
                    </m:r>
                    <m:r>
                      <m:rPr>
                        <m:sty m:val="p"/>
                      </m:rPr>
                      <m:t>(</m:t>
                    </m:r>
                    <m:r>
                      <m:t>x</m:t>
                    </m:r>
                    <m:r>
                      <m:rPr>
                        <m:sty m:val="p"/>
                      </m:rPr>
                      <m:t>)</m:t>
                    </m:r>
                    <m:r>
                      <m:rPr>
                        <m:sty m:val="p"/>
                      </m:rPr>
                      <m:t>+</m:t>
                    </m:r>
                    <m:r>
                      <m:t>f</m:t>
                    </m:r>
                    <m:r>
                      <m:rPr>
                        <m:sty m:val="p"/>
                      </m:rPr>
                      <m:t>(</m:t>
                    </m:r>
                    <m:r>
                      <m:t>x</m:t>
                    </m:r>
                    <m:r>
                      <m:rPr>
                        <m:sty m:val="p"/>
                      </m:rPr>
                      <m:t>)</m:t>
                    </m:r>
                    <m:sSup>
                      <m:e>
                        <m:r>
                          <m:t>g</m:t>
                        </m:r>
                      </m:e>
                      <m:sup>
                        <m:r>
                          <m:rPr>
                            <m:sty m:val="p"/>
                          </m:rPr>
                          <m:t>′</m:t>
                        </m:r>
                      </m:sup>
                    </m:sSup>
                    <m:r>
                      <m:rPr>
                        <m:sty m:val="p"/>
                      </m:rPr>
                      <m:t>(</m:t>
                    </m:r>
                    <m:r>
                      <m:t>x</m:t>
                    </m:r>
                    <m:r>
                      <m:rPr>
                        <m:sty m:val="p"/>
                      </m:rPr>
                      <m:t>)</m:t>
                    </m:r>
                  </m:oMath>
                </a14:m>
                <a:r>
                  <a:rPr/>
                  <a:t>, ta có:</a:t>
                </a:r>
              </a:p>
              <a:p>
                <a:pPr lvl="0" indent="0" marL="0">
                  <a:buNone/>
                </a:pPr>
                <a14:m>
                  <m:oMathPara xmlns:m="http://schemas.openxmlformats.org/officeDocument/2006/math">
                    <m:oMathParaPr>
                      <m:jc m:val="center"/>
                    </m:oMathParaPr>
                    <m:oMath>
                      <m:f>
                        <m:fPr>
                          <m:type m:val="bar"/>
                        </m:fPr>
                        <m:num>
                          <m:r>
                            <m:rPr>
                              <m:sty m:val="p"/>
                            </m:rPr>
                            <m:t>∂</m:t>
                          </m:r>
                          <m:sSub>
                            <m:e>
                              <m:r>
                                <m:t>s</m:t>
                              </m:r>
                            </m:e>
                            <m:sub>
                              <m:r>
                                <m:t>T</m:t>
                              </m:r>
                            </m:sub>
                          </m:sSub>
                        </m:num>
                        <m:den>
                          <m:r>
                            <m:rPr>
                              <m:sty m:val="p"/>
                            </m:rPr>
                            <m:t>∂</m:t>
                          </m:r>
                          <m:r>
                            <m:t>W</m:t>
                          </m:r>
                        </m:den>
                      </m:f>
                      <m:r>
                        <m:rPr>
                          <m:sty m:val="p"/>
                        </m:rPr>
                        <m:t>=</m:t>
                      </m:r>
                      <m:f>
                        <m:fPr>
                          <m:type m:val="bar"/>
                        </m:fPr>
                        <m:num>
                          <m:r>
                            <m:rPr>
                              <m:sty m:val="p"/>
                            </m:rPr>
                            <m:t>∂</m:t>
                          </m:r>
                          <m:sSubSup>
                            <m:e>
                              <m:r>
                                <m:t>s</m:t>
                              </m:r>
                            </m:e>
                            <m:sub>
                              <m:r>
                                <m:t>T</m:t>
                              </m:r>
                            </m:sub>
                            <m:sup>
                              <m:r>
                                <m:rPr>
                                  <m:sty m:val="p"/>
                                </m:rPr>
                                <m:t>′</m:t>
                              </m:r>
                            </m:sup>
                          </m:sSubSup>
                        </m:num>
                        <m:den>
                          <m:r>
                            <m:rPr>
                              <m:sty m:val="p"/>
                            </m:rPr>
                            <m:t>∂</m:t>
                          </m:r>
                          <m:r>
                            <m:t>W</m:t>
                          </m:r>
                        </m:den>
                      </m:f>
                      <m:r>
                        <m:rPr>
                          <m:sty m:val="p"/>
                        </m:rPr>
                        <m:t>+</m:t>
                      </m:r>
                      <m:f>
                        <m:fPr>
                          <m:type m:val="bar"/>
                        </m:fPr>
                        <m:num>
                          <m:r>
                            <m:rPr>
                              <m:sty m:val="p"/>
                            </m:rPr>
                            <m:t>∂</m:t>
                          </m:r>
                          <m:sSub>
                            <m:e>
                              <m:r>
                                <m:t>s</m:t>
                              </m:r>
                            </m:e>
                            <m:sub>
                              <m:r>
                                <m:t>T</m:t>
                              </m:r>
                            </m:sub>
                          </m:sSub>
                        </m:num>
                        <m:den>
                          <m:r>
                            <m:rPr>
                              <m:sty m:val="p"/>
                            </m:rPr>
                            <m:t>∂</m:t>
                          </m:r>
                          <m:sSub>
                            <m:e>
                              <m:r>
                                <m:t>s</m:t>
                              </m:r>
                            </m:e>
                            <m:sub>
                              <m:r>
                                <m:t>T</m:t>
                              </m:r>
                              <m:r>
                                <m:rPr>
                                  <m:sty m:val="p"/>
                                </m:rPr>
                                <m:t>−</m:t>
                              </m:r>
                              <m:r>
                                <m:t>1</m:t>
                              </m:r>
                            </m:sub>
                          </m:sSub>
                        </m:den>
                      </m:f>
                      <m:r>
                        <m:rPr>
                          <m:sty m:val="p"/>
                        </m:rPr>
                        <m:t>⋅</m:t>
                      </m:r>
                      <m:f>
                        <m:fPr>
                          <m:type m:val="bar"/>
                        </m:fPr>
                        <m:num>
                          <m:r>
                            <m:rPr>
                              <m:sty m:val="p"/>
                            </m:rPr>
                            <m:t>∂</m:t>
                          </m:r>
                          <m:sSub>
                            <m:e>
                              <m:r>
                                <m:t>s</m:t>
                              </m:r>
                            </m:e>
                            <m:sub>
                              <m:r>
                                <m:t>T</m:t>
                              </m:r>
                              <m:r>
                                <m:rPr>
                                  <m:sty m:val="p"/>
                                </m:rPr>
                                <m:t>−</m:t>
                              </m:r>
                              <m:r>
                                <m:t>1</m:t>
                              </m:r>
                            </m:sub>
                          </m:sSub>
                        </m:num>
                        <m:den>
                          <m:r>
                            <m:rPr>
                              <m:sty m:val="p"/>
                            </m:rPr>
                            <m:t>∂</m:t>
                          </m:r>
                          <m:r>
                            <m:t>W</m:t>
                          </m:r>
                        </m:den>
                      </m:f>
                    </m:oMath>
                  </m:oMathPara>
                </a14:m>
              </a:p>
              <a:p>
                <a:pPr lvl="0" indent="0" marL="0">
                  <a:buNone/>
                </a:pPr>
                <a:r>
                  <a:rPr/>
                  <a:t>trong đó </a:t>
                </a:r>
                <a14:m>
                  <m:oMath xmlns:m="http://schemas.openxmlformats.org/officeDocument/2006/math">
                    <m:f>
                      <m:fPr>
                        <m:type m:val="bar"/>
                      </m:fPr>
                      <m:num>
                        <m:r>
                          <m:rPr>
                            <m:sty m:val="p"/>
                          </m:rPr>
                          <m:t>∂</m:t>
                        </m:r>
                        <m:sSubSup>
                          <m:e>
                            <m:r>
                              <m:t>s</m:t>
                            </m:r>
                          </m:e>
                          <m:sub>
                            <m:r>
                              <m:t>T</m:t>
                            </m:r>
                          </m:sub>
                          <m:sup>
                            <m:r>
                              <m:rPr>
                                <m:sty m:val="p"/>
                              </m:rPr>
                              <m:t>′</m:t>
                            </m:r>
                          </m:sup>
                        </m:sSubSup>
                      </m:num>
                      <m:den>
                        <m:r>
                          <m:rPr>
                            <m:sty m:val="p"/>
                          </m:rPr>
                          <m:t>∂</m:t>
                        </m:r>
                        <m:r>
                          <m:t>W</m:t>
                        </m:r>
                      </m:den>
                    </m:f>
                  </m:oMath>
                </a14:m>
                <a:r>
                  <a:rPr/>
                  <a:t> là đạo hàm của </a:t>
                </a:r>
                <a14:m>
                  <m:oMath xmlns:m="http://schemas.openxmlformats.org/officeDocument/2006/math">
                    <m:sSub>
                      <m:e>
                        <m:r>
                          <m:t>s</m:t>
                        </m:r>
                      </m:e>
                      <m:sub>
                        <m:r>
                          <m:t>T</m:t>
                        </m:r>
                      </m:sub>
                    </m:sSub>
                  </m:oMath>
                </a14:m>
                <a:r>
                  <a:rPr/>
                  <a:t> với </a:t>
                </a:r>
                <a14:m>
                  <m:oMath xmlns:m="http://schemas.openxmlformats.org/officeDocument/2006/math">
                    <m:r>
                      <m:t>W</m:t>
                    </m:r>
                  </m:oMath>
                </a14:m>
                <a:r>
                  <a:rPr/>
                  <a:t> khi coi </a:t>
                </a:r>
                <a14:m>
                  <m:oMath xmlns:m="http://schemas.openxmlformats.org/officeDocument/2006/math">
                    <m:sSub>
                      <m:e>
                        <m:r>
                          <m:t>s</m:t>
                        </m:r>
                      </m:e>
                      <m:sub>
                        <m:r>
                          <m:t>T</m:t>
                        </m:r>
                        <m:r>
                          <m:rPr>
                            <m:sty m:val="p"/>
                          </m:rPr>
                          <m:t>−</m:t>
                        </m:r>
                        <m:r>
                          <m:t>1</m:t>
                        </m:r>
                      </m:sub>
                    </m:sSub>
                  </m:oMath>
                </a14:m>
                <a:r>
                  <a:rPr/>
                  <a:t> là hằng số đối với </a:t>
                </a:r>
                <a14:m>
                  <m:oMath xmlns:m="http://schemas.openxmlformats.org/officeDocument/2006/math">
                    <m:r>
                      <m:t>W</m:t>
                    </m:r>
                  </m:oMath>
                </a14:m>
                <a:r>
                  <a:rPr/>
                  <a:t>.</a:t>
                </a:r>
              </a:p>
              <a:p>
                <a:pPr lvl="0" indent="0" marL="0">
                  <a:buNone/>
                </a:pPr>
                <a:r>
                  <a:rPr/>
                  <a:t>Tương tự, trong biểu thức </a:t>
                </a:r>
                <a14:m>
                  <m:oMath xmlns:m="http://schemas.openxmlformats.org/officeDocument/2006/math">
                    <m:sSub>
                      <m:e>
                        <m:r>
                          <m:t>s</m:t>
                        </m:r>
                      </m:e>
                      <m:sub>
                        <m:r>
                          <m:t>T</m:t>
                        </m:r>
                        <m:r>
                          <m:rPr>
                            <m:sty m:val="p"/>
                          </m:rPr>
                          <m:t>−</m:t>
                        </m:r>
                        <m:r>
                          <m:t>1</m:t>
                        </m:r>
                      </m:sub>
                    </m:sSub>
                  </m:oMath>
                </a14:m>
                <a:r>
                  <a:rPr/>
                  <a:t> có </a:t>
                </a:r>
                <a14:m>
                  <m:oMath xmlns:m="http://schemas.openxmlformats.org/officeDocument/2006/math">
                    <m:sSub>
                      <m:e>
                        <m:r>
                          <m:t>s</m:t>
                        </m:r>
                      </m:e>
                      <m:sub>
                        <m:r>
                          <m:t>T</m:t>
                        </m:r>
                        <m:r>
                          <m:rPr>
                            <m:sty m:val="p"/>
                          </m:rPr>
                          <m:t>−</m:t>
                        </m:r>
                        <m:r>
                          <m:t>2</m:t>
                        </m:r>
                      </m:sub>
                    </m:sSub>
                  </m:oMath>
                </a14:m>
                <a:r>
                  <a:rPr/>
                  <a:t> phụ thuộc vào </a:t>
                </a:r>
                <a14:m>
                  <m:oMath xmlns:m="http://schemas.openxmlformats.org/officeDocument/2006/math">
                    <m:r>
                      <m:t>W</m:t>
                    </m:r>
                  </m:oMath>
                </a14:m>
                <a:r>
                  <a:rPr/>
                  <a:t> …nên áp dụng công thức trên và chuỗi Chain Rule, ta được:</a:t>
                </a:r>
              </a:p>
              <a:p>
                <a:pPr lvl="0" indent="0" marL="0">
                  <a:buNone/>
                </a:pPr>
                <a14:m>
                  <m:oMathPara xmlns:m="http://schemas.openxmlformats.org/officeDocument/2006/math">
                    <m:oMathParaPr>
                      <m:jc m:val="center"/>
                    </m:oMathParaPr>
                    <m:oMath>
                      <m:f>
                        <m:fPr>
                          <m:type m:val="bar"/>
                        </m:fPr>
                        <m:num>
                          <m:r>
                            <m:rPr>
                              <m:sty m:val="p"/>
                            </m:rPr>
                            <m:t>∂</m:t>
                          </m:r>
                          <m:r>
                            <m:t>L</m:t>
                          </m:r>
                        </m:num>
                        <m:den>
                          <m:r>
                            <m:rPr>
                              <m:sty m:val="p"/>
                            </m:rPr>
                            <m:t>∂</m:t>
                          </m:r>
                          <m:r>
                            <m:t>W</m:t>
                          </m:r>
                        </m:den>
                      </m:f>
                      <m:r>
                        <m:rPr>
                          <m:sty m:val="p"/>
                        </m:rPr>
                        <m:t>=</m:t>
                      </m:r>
                      <m:nary>
                        <m:naryPr>
                          <m:chr m:val="∑"/>
                          <m:limLoc m:val="undOvr"/>
                          <m:subHide m:val="off"/>
                          <m:supHide m:val="off"/>
                        </m:naryPr>
                        <m:sub>
                          <m:r>
                            <m:t>t</m:t>
                          </m:r>
                          <m:r>
                            <m:rPr>
                              <m:sty m:val="p"/>
                            </m:rPr>
                            <m:t>=</m:t>
                          </m:r>
                          <m:r>
                            <m:t>1</m:t>
                          </m:r>
                        </m:sub>
                        <m:sup>
                          <m:r>
                            <m:t>T</m:t>
                          </m:r>
                        </m:sup>
                        <m:e>
                          <m:nary>
                            <m:naryPr>
                              <m:chr m:val="∑"/>
                              <m:limLoc m:val="undOvr"/>
                              <m:subHide m:val="off"/>
                              <m:supHide m:val="off"/>
                            </m:naryPr>
                            <m:sub>
                              <m:r>
                                <m:t>i</m:t>
                              </m:r>
                              <m:r>
                                <m:rPr>
                                  <m:sty m:val="p"/>
                                </m:rPr>
                                <m:t>=</m:t>
                              </m:r>
                              <m:r>
                                <m:t>0</m:t>
                              </m:r>
                            </m:sub>
                            <m:sup>
                              <m:r>
                                <m:t>t</m:t>
                              </m:r>
                            </m:sup>
                            <m:e>
                              <m:f>
                                <m:fPr>
                                  <m:type m:val="bar"/>
                                </m:fPr>
                                <m:num>
                                  <m:r>
                                    <m:rPr>
                                      <m:sty m:val="p"/>
                                    </m:rPr>
                                    <m:t>∂</m:t>
                                  </m:r>
                                  <m:sSub>
                                    <m:e>
                                      <m:r>
                                        <m:t>L</m:t>
                                      </m:r>
                                    </m:e>
                                    <m:sub>
                                      <m:r>
                                        <m:t>t</m:t>
                                      </m:r>
                                    </m:sub>
                                  </m:sSub>
                                </m:num>
                                <m:den>
                                  <m:r>
                                    <m:rPr>
                                      <m:sty m:val="p"/>
                                    </m:rPr>
                                    <m:t>∂</m:t>
                                  </m:r>
                                  <m:sSub>
                                    <m:e>
                                      <m:acc>
                                        <m:accPr>
                                          <m:chr m:val="̂"/>
                                        </m:accPr>
                                        <m:e>
                                          <m:r>
                                            <m:t>y</m:t>
                                          </m:r>
                                        </m:e>
                                      </m:acc>
                                    </m:e>
                                    <m:sub>
                                      <m:r>
                                        <m:t>t</m:t>
                                      </m:r>
                                    </m:sub>
                                  </m:sSub>
                                </m:den>
                              </m:f>
                            </m:e>
                          </m:nary>
                        </m:e>
                      </m:nary>
                      <m:r>
                        <m:rPr>
                          <m:sty m:val="p"/>
                        </m:rPr>
                        <m:t>⋅</m:t>
                      </m:r>
                      <m:f>
                        <m:fPr>
                          <m:type m:val="bar"/>
                        </m:fPr>
                        <m:num>
                          <m:r>
                            <m:rPr>
                              <m:sty m:val="p"/>
                            </m:rPr>
                            <m:t>∂</m:t>
                          </m:r>
                          <m:sSub>
                            <m:e>
                              <m:acc>
                                <m:accPr>
                                  <m:chr m:val="̂"/>
                                </m:accPr>
                                <m:e>
                                  <m:r>
                                    <m:t>y</m:t>
                                  </m:r>
                                </m:e>
                              </m:acc>
                            </m:e>
                            <m:sub>
                              <m:r>
                                <m:t>t</m:t>
                              </m:r>
                            </m:sub>
                          </m:sSub>
                        </m:num>
                        <m:den>
                          <m:r>
                            <m:rPr>
                              <m:sty m:val="p"/>
                            </m:rPr>
                            <m:t>∂</m:t>
                          </m:r>
                          <m:sSub>
                            <m:e>
                              <m:r>
                                <m:t>s</m:t>
                              </m:r>
                            </m:e>
                            <m:sub>
                              <m:r>
                                <m:t>t</m:t>
                              </m:r>
                            </m:sub>
                          </m:sSub>
                        </m:den>
                      </m:f>
                      <m:r>
                        <m:rPr>
                          <m:sty m:val="p"/>
                        </m:rPr>
                        <m:t>⋅</m:t>
                      </m:r>
                      <m:f>
                        <m:fPr>
                          <m:type m:val="bar"/>
                        </m:fPr>
                        <m:num>
                          <m:r>
                            <m:rPr>
                              <m:sty m:val="p"/>
                            </m:rPr>
                            <m:t>∂</m:t>
                          </m:r>
                          <m:sSub>
                            <m:e>
                              <m:r>
                                <m:t>s</m:t>
                              </m:r>
                            </m:e>
                            <m:sub>
                              <m:r>
                                <m:t>t</m:t>
                              </m:r>
                            </m:sub>
                          </m:sSub>
                        </m:num>
                        <m:den>
                          <m:r>
                            <m:rPr>
                              <m:sty m:val="p"/>
                            </m:rPr>
                            <m:t>∂</m:t>
                          </m:r>
                          <m:sSub>
                            <m:e>
                              <m:r>
                                <m:t>s</m:t>
                              </m:r>
                            </m:e>
                            <m:sub>
                              <m:r>
                                <m:t>i</m:t>
                              </m:r>
                            </m:sub>
                          </m:sSub>
                        </m:den>
                      </m:f>
                      <m:r>
                        <m:rPr>
                          <m:sty m:val="p"/>
                        </m:rPr>
                        <m:t>⋅</m:t>
                      </m:r>
                      <m:f>
                        <m:fPr>
                          <m:type m:val="bar"/>
                        </m:fPr>
                        <m:num>
                          <m:r>
                            <m:rPr>
                              <m:sty m:val="p"/>
                            </m:rPr>
                            <m:t>∂</m:t>
                          </m:r>
                          <m:sSubSup>
                            <m:e>
                              <m:r>
                                <m:t>s</m:t>
                              </m:r>
                            </m:e>
                            <m:sub>
                              <m:r>
                                <m:t>i</m:t>
                              </m:r>
                            </m:sub>
                            <m:sup>
                              <m:r>
                                <m:rPr>
                                  <m:sty m:val="p"/>
                                </m:rPr>
                                <m:t>′</m:t>
                              </m:r>
                            </m:sup>
                          </m:sSubSup>
                        </m:num>
                        <m:den>
                          <m:r>
                            <m:rPr>
                              <m:sty m:val="p"/>
                            </m:rPr>
                            <m:t>∂</m:t>
                          </m:r>
                          <m:r>
                            <m:t>W</m:t>
                          </m:r>
                        </m:den>
                      </m:f>
                    </m:oMath>
                  </m:oMathPara>
                </a14:m>
              </a:p>
              <a:p>
                <a:pPr lvl="0" indent="0" marL="0">
                  <a:buNone/>
                </a:pPr>
                <a:r>
                  <a:rPr/>
                  <a:t>trong đó </a:t>
                </a:r>
                <a14:m>
                  <m:oMath xmlns:m="http://schemas.openxmlformats.org/officeDocument/2006/math">
                    <m:f>
                      <m:fPr>
                        <m:type m:val="bar"/>
                      </m:fPr>
                      <m:num>
                        <m:r>
                          <m:rPr>
                            <m:sty m:val="p"/>
                          </m:rPr>
                          <m:t>∂</m:t>
                        </m:r>
                        <m:sSub>
                          <m:e>
                            <m:r>
                              <m:t>s</m:t>
                            </m:r>
                          </m:e>
                          <m:sub>
                            <m:r>
                              <m:t>t</m:t>
                            </m:r>
                          </m:sub>
                        </m:sSub>
                      </m:num>
                      <m:den>
                        <m:r>
                          <m:rPr>
                            <m:sty m:val="p"/>
                          </m:rPr>
                          <m:t>∂</m:t>
                        </m:r>
                        <m:sSub>
                          <m:e>
                            <m:r>
                              <m:t>s</m:t>
                            </m:r>
                          </m:e>
                          <m:sub>
                            <m:r>
                              <m:t>i</m:t>
                            </m:r>
                          </m:sub>
                        </m:sSub>
                      </m:den>
                    </m:f>
                    <m:r>
                      <m:rPr>
                        <m:sty m:val="p"/>
                      </m:rPr>
                      <m:t>=</m:t>
                    </m:r>
                    <m:nary>
                      <m:naryPr>
                        <m:chr m:val="∏"/>
                        <m:limLoc m:val="undOvr"/>
                        <m:subHide m:val="off"/>
                        <m:supHide m:val="off"/>
                      </m:naryPr>
                      <m:sub>
                        <m:r>
                          <m:t>j</m:t>
                        </m:r>
                        <m:r>
                          <m:rPr>
                            <m:sty m:val="p"/>
                          </m:rPr>
                          <m:t>=</m:t>
                        </m:r>
                        <m:r>
                          <m:t>i</m:t>
                        </m:r>
                      </m:sub>
                      <m:sup>
                        <m:r>
                          <m:t>t</m:t>
                        </m:r>
                        <m:r>
                          <m:rPr>
                            <m:sty m:val="p"/>
                          </m:rPr>
                          <m:t>−</m:t>
                        </m:r>
                        <m:r>
                          <m:t>1</m:t>
                        </m:r>
                      </m:sup>
                      <m:e>
                        <m:f>
                          <m:fPr>
                            <m:type m:val="bar"/>
                          </m:fPr>
                          <m:num>
                            <m:r>
                              <m:rPr>
                                <m:sty m:val="p"/>
                              </m:rPr>
                              <m:t>∂</m:t>
                            </m:r>
                            <m:sSub>
                              <m:e>
                                <m:r>
                                  <m:t>s</m:t>
                                </m:r>
                              </m:e>
                              <m:sub>
                                <m:r>
                                  <m:t>j</m:t>
                                </m:r>
                                <m:r>
                                  <m:rPr>
                                    <m:sty m:val="p"/>
                                  </m:rPr>
                                  <m:t>+</m:t>
                                </m:r>
                                <m:r>
                                  <m:t>1</m:t>
                                </m:r>
                              </m:sub>
                            </m:sSub>
                          </m:num>
                          <m:den>
                            <m:r>
                              <m:rPr>
                                <m:sty m:val="p"/>
                              </m:rPr>
                              <m:t>∂</m:t>
                            </m:r>
                            <m:sSub>
                              <m:e>
                                <m:r>
                                  <m:t>s</m:t>
                                </m:r>
                              </m:e>
                              <m:sub>
                                <m:r>
                                  <m:t>j</m:t>
                                </m:r>
                              </m:sub>
                            </m:sSub>
                          </m:den>
                        </m:f>
                      </m:e>
                    </m:nary>
                  </m:oMath>
                </a14:m>
                <a:r>
                  <a:rPr/>
                  <a:t> và </a:t>
                </a:r>
                <a14:m>
                  <m:oMath xmlns:m="http://schemas.openxmlformats.org/officeDocument/2006/math">
                    <m:f>
                      <m:fPr>
                        <m:type m:val="bar"/>
                      </m:fPr>
                      <m:num>
                        <m:r>
                          <m:rPr>
                            <m:sty m:val="p"/>
                          </m:rPr>
                          <m:t>∂</m:t>
                        </m:r>
                        <m:sSubSup>
                          <m:e>
                            <m:r>
                              <m:t>s</m:t>
                            </m:r>
                          </m:e>
                          <m:sub>
                            <m:r>
                              <m:t>i</m:t>
                            </m:r>
                          </m:sub>
                          <m:sup>
                            <m:r>
                              <m:rPr>
                                <m:sty m:val="p"/>
                              </m:rPr>
                              <m:t>′</m:t>
                            </m:r>
                          </m:sup>
                        </m:sSubSup>
                      </m:num>
                      <m:den>
                        <m:r>
                          <m:rPr>
                            <m:sty m:val="p"/>
                          </m:rPr>
                          <m:t>∂</m:t>
                        </m:r>
                        <m:r>
                          <m:t>W</m:t>
                        </m:r>
                      </m:den>
                    </m:f>
                  </m:oMath>
                </a14:m>
                <a:r>
                  <a:rPr/>
                  <a:t> là đạo hàm của </a:t>
                </a:r>
                <a14:m>
                  <m:oMath xmlns:m="http://schemas.openxmlformats.org/officeDocument/2006/math">
                    <m:sSub>
                      <m:e>
                        <m:r>
                          <m:t>s</m:t>
                        </m:r>
                      </m:e>
                      <m:sub>
                        <m:r>
                          <m:t>i</m:t>
                        </m:r>
                      </m:sub>
                    </m:sSub>
                  </m:oMath>
                </a14:m>
                <a:r>
                  <a:rPr/>
                  <a:t> với </a:t>
                </a:r>
                <a14:m>
                  <m:oMath xmlns:m="http://schemas.openxmlformats.org/officeDocument/2006/math">
                    <m:r>
                      <m:t>W</m:t>
                    </m:r>
                  </m:oMath>
                </a14:m>
                <a:r>
                  <a:rPr/>
                  <a:t> khi coi </a:t>
                </a:r>
                <a14:m>
                  <m:oMath xmlns:m="http://schemas.openxmlformats.org/officeDocument/2006/math">
                    <m:sSub>
                      <m:e>
                        <m:r>
                          <m:t>s</m:t>
                        </m:r>
                      </m:e>
                      <m:sub>
                        <m:r>
                          <m:t>i</m:t>
                        </m:r>
                        <m:r>
                          <m:rPr>
                            <m:sty m:val="p"/>
                          </m:rPr>
                          <m:t>−</m:t>
                        </m:r>
                        <m:r>
                          <m:t>1</m:t>
                        </m:r>
                      </m:sub>
                    </m:sSub>
                  </m:oMath>
                </a14:m>
                <a:r>
                  <a:rPr/>
                  <a:t> là hằng số.</a:t>
                </a:r>
              </a:p>
              <a:p>
                <a:pPr lvl="0" indent="0" marL="0">
                  <a:buNone/>
                </a:pPr>
                <a:r>
                  <a:rPr/>
                  <a:t>BPTT: Đạo hàm cho U Hoàn toàn tương tự với ma trận trọng số </a:t>
                </a:r>
                <a14:m>
                  <m:oMath xmlns:m="http://schemas.openxmlformats.org/officeDocument/2006/math">
                    <m:r>
                      <m:t>U</m:t>
                    </m:r>
                  </m:oMath>
                </a14:m>
                <a:r>
                  <a:rPr/>
                  <a:t> (từ input vào hidden layer):</a:t>
                </a:r>
              </a:p>
              <a:p>
                <a:pPr lvl="0" indent="0" marL="0">
                  <a:buNone/>
                </a:pPr>
                <a14:m>
                  <m:oMathPara xmlns:m="http://schemas.openxmlformats.org/officeDocument/2006/math">
                    <m:oMathParaPr>
                      <m:jc m:val="center"/>
                    </m:oMathParaPr>
                    <m:oMath>
                      <m:f>
                        <m:fPr>
                          <m:type m:val="bar"/>
                        </m:fPr>
                        <m:num>
                          <m:r>
                            <m:rPr>
                              <m:sty m:val="p"/>
                            </m:rPr>
                            <m:t>∂</m:t>
                          </m:r>
                          <m:r>
                            <m:t>L</m:t>
                          </m:r>
                        </m:num>
                        <m:den>
                          <m:r>
                            <m:rPr>
                              <m:sty m:val="p"/>
                            </m:rPr>
                            <m:t>∂</m:t>
                          </m:r>
                          <m:r>
                            <m:t>U</m:t>
                          </m:r>
                        </m:den>
                      </m:f>
                      <m:r>
                        <m:rPr>
                          <m:sty m:val="p"/>
                        </m:rPr>
                        <m:t>=</m:t>
                      </m:r>
                      <m:nary>
                        <m:naryPr>
                          <m:chr m:val="∑"/>
                          <m:limLoc m:val="undOvr"/>
                          <m:subHide m:val="off"/>
                          <m:supHide m:val="off"/>
                        </m:naryPr>
                        <m:sub>
                          <m:r>
                            <m:t>t</m:t>
                          </m:r>
                          <m:r>
                            <m:rPr>
                              <m:sty m:val="p"/>
                            </m:rPr>
                            <m:t>=</m:t>
                          </m:r>
                          <m:r>
                            <m:t>1</m:t>
                          </m:r>
                        </m:sub>
                        <m:sup>
                          <m:r>
                            <m:t>T</m:t>
                          </m:r>
                        </m:sup>
                        <m:e>
                          <m:nary>
                            <m:naryPr>
                              <m:chr m:val="∑"/>
                              <m:limLoc m:val="undOvr"/>
                              <m:subHide m:val="off"/>
                              <m:supHide m:val="off"/>
                            </m:naryPr>
                            <m:sub>
                              <m:r>
                                <m:t>i</m:t>
                              </m:r>
                              <m:r>
                                <m:rPr>
                                  <m:sty m:val="p"/>
                                </m:rPr>
                                <m:t>=</m:t>
                              </m:r>
                              <m:r>
                                <m:t>0</m:t>
                              </m:r>
                            </m:sub>
                            <m:sup>
                              <m:r>
                                <m:t>t</m:t>
                              </m:r>
                            </m:sup>
                            <m:e>
                              <m:f>
                                <m:fPr>
                                  <m:type m:val="bar"/>
                                </m:fPr>
                                <m:num>
                                  <m:r>
                                    <m:rPr>
                                      <m:sty m:val="p"/>
                                    </m:rPr>
                                    <m:t>∂</m:t>
                                  </m:r>
                                  <m:sSub>
                                    <m:e>
                                      <m:r>
                                        <m:t>L</m:t>
                                      </m:r>
                                    </m:e>
                                    <m:sub>
                                      <m:r>
                                        <m:t>t</m:t>
                                      </m:r>
                                    </m:sub>
                                  </m:sSub>
                                </m:num>
                                <m:den>
                                  <m:r>
                                    <m:rPr>
                                      <m:sty m:val="p"/>
                                    </m:rPr>
                                    <m:t>∂</m:t>
                                  </m:r>
                                  <m:sSub>
                                    <m:e>
                                      <m:acc>
                                        <m:accPr>
                                          <m:chr m:val="̂"/>
                                        </m:accPr>
                                        <m:e>
                                          <m:r>
                                            <m:t>y</m:t>
                                          </m:r>
                                        </m:e>
                                      </m:acc>
                                    </m:e>
                                    <m:sub>
                                      <m:r>
                                        <m:t>t</m:t>
                                      </m:r>
                                    </m:sub>
                                  </m:sSub>
                                </m:den>
                              </m:f>
                            </m:e>
                          </m:nary>
                        </m:e>
                      </m:nary>
                      <m:r>
                        <m:rPr>
                          <m:sty m:val="p"/>
                        </m:rPr>
                        <m:t>⋅</m:t>
                      </m:r>
                      <m:f>
                        <m:fPr>
                          <m:type m:val="bar"/>
                        </m:fPr>
                        <m:num>
                          <m:r>
                            <m:rPr>
                              <m:sty m:val="p"/>
                            </m:rPr>
                            <m:t>∂</m:t>
                          </m:r>
                          <m:sSub>
                            <m:e>
                              <m:acc>
                                <m:accPr>
                                  <m:chr m:val="̂"/>
                                </m:accPr>
                                <m:e>
                                  <m:r>
                                    <m:t>y</m:t>
                                  </m:r>
                                </m:e>
                              </m:acc>
                            </m:e>
                            <m:sub>
                              <m:r>
                                <m:t>t</m:t>
                              </m:r>
                            </m:sub>
                          </m:sSub>
                        </m:num>
                        <m:den>
                          <m:r>
                            <m:rPr>
                              <m:sty m:val="p"/>
                            </m:rPr>
                            <m:t>∂</m:t>
                          </m:r>
                          <m:sSub>
                            <m:e>
                              <m:r>
                                <m:t>s</m:t>
                              </m:r>
                            </m:e>
                            <m:sub>
                              <m:r>
                                <m:t>t</m:t>
                              </m:r>
                            </m:sub>
                          </m:sSub>
                        </m:den>
                      </m:f>
                      <m:r>
                        <m:rPr>
                          <m:sty m:val="p"/>
                        </m:rPr>
                        <m:t>⋅</m:t>
                      </m:r>
                      <m:f>
                        <m:fPr>
                          <m:type m:val="bar"/>
                        </m:fPr>
                        <m:num>
                          <m:r>
                            <m:rPr>
                              <m:sty m:val="p"/>
                            </m:rPr>
                            <m:t>∂</m:t>
                          </m:r>
                          <m:sSub>
                            <m:e>
                              <m:r>
                                <m:t>s</m:t>
                              </m:r>
                            </m:e>
                            <m:sub>
                              <m:r>
                                <m:t>t</m:t>
                              </m:r>
                            </m:sub>
                          </m:sSub>
                        </m:num>
                        <m:den>
                          <m:r>
                            <m:rPr>
                              <m:sty m:val="p"/>
                            </m:rPr>
                            <m:t>∂</m:t>
                          </m:r>
                          <m:sSub>
                            <m:e>
                              <m:r>
                                <m:t>s</m:t>
                              </m:r>
                            </m:e>
                            <m:sub>
                              <m:r>
                                <m:t>i</m:t>
                              </m:r>
                            </m:sub>
                          </m:sSub>
                        </m:den>
                      </m:f>
                      <m:r>
                        <m:rPr>
                          <m:sty m:val="p"/>
                        </m:rPr>
                        <m:t>⋅</m:t>
                      </m:r>
                      <m:f>
                        <m:fPr>
                          <m:type m:val="bar"/>
                        </m:fPr>
                        <m:num>
                          <m:r>
                            <m:rPr>
                              <m:sty m:val="p"/>
                            </m:rPr>
                            <m:t>∂</m:t>
                          </m:r>
                          <m:sSubSup>
                            <m:e>
                              <m:r>
                                <m:t>s</m:t>
                              </m:r>
                            </m:e>
                            <m:sub>
                              <m:r>
                                <m:t>i</m:t>
                              </m:r>
                            </m:sub>
                            <m:sup>
                              <m:r>
                                <m:rPr>
                                  <m:sty m:val="p"/>
                                </m:rPr>
                                <m:t>′</m:t>
                              </m:r>
                            </m:sup>
                          </m:sSubSup>
                        </m:num>
                        <m:den>
                          <m:r>
                            <m:rPr>
                              <m:sty m:val="p"/>
                            </m:rPr>
                            <m:t>∂</m:t>
                          </m:r>
                          <m:r>
                            <m:t>U</m:t>
                          </m:r>
                        </m:den>
                      </m:f>
                    </m:oMath>
                  </m:oMathPara>
                </a14:m>
              </a:p>
              <a:p>
                <a:pPr lvl="0" indent="0" marL="0">
                  <a:buNone/>
                </a:pPr>
                <a:r>
                  <a:rPr b="1"/>
                  <a:t>Cốt lõi vấn đề của BPTT</a:t>
                </a:r>
                <a:r>
                  <a:rPr/>
                  <a:t> Nhìn vào công thức tính đạo hàm của </a:t>
                </a:r>
                <a14:m>
                  <m:oMath xmlns:m="http://schemas.openxmlformats.org/officeDocument/2006/math">
                    <m:r>
                      <m:t>L</m:t>
                    </m:r>
                  </m:oMath>
                </a14:m>
                <a:r>
                  <a:rPr/>
                  <a:t> với </a:t>
                </a:r>
                <a14:m>
                  <m:oMath xmlns:m="http://schemas.openxmlformats.org/officeDocument/2006/math">
                    <m:r>
                      <m:t>W</m:t>
                    </m:r>
                  </m:oMath>
                </a14:m>
                <a:r>
                  <a:rPr/>
                  <a:t> và </a:t>
                </a:r>
                <a14:m>
                  <m:oMath xmlns:m="http://schemas.openxmlformats.org/officeDocument/2006/math">
                    <m:r>
                      <m:t>U</m:t>
                    </m:r>
                  </m:oMath>
                </a14:m>
                <a:r>
                  <a:rPr/>
                  <a:t> ở trên, ta thấy xuất hiện nhân tử:</a:t>
                </a:r>
              </a:p>
              <a:p>
                <a:pPr lvl="0" indent="0" marL="0">
                  <a:buNone/>
                </a:pPr>
                <a14:m>
                  <m:oMathPara xmlns:m="http://schemas.openxmlformats.org/officeDocument/2006/math">
                    <m:oMathParaPr>
                      <m:jc m:val="center"/>
                    </m:oMathParaPr>
                    <m:oMath>
                      <m:f>
                        <m:fPr>
                          <m:type m:val="bar"/>
                        </m:fPr>
                        <m:num>
                          <m:r>
                            <m:rPr>
                              <m:sty m:val="p"/>
                            </m:rPr>
                            <m:t>∂</m:t>
                          </m:r>
                          <m:sSub>
                            <m:e>
                              <m:r>
                                <m:t>s</m:t>
                              </m:r>
                            </m:e>
                            <m:sub>
                              <m:r>
                                <m:t>t</m:t>
                              </m:r>
                            </m:sub>
                          </m:sSub>
                        </m:num>
                        <m:den>
                          <m:r>
                            <m:rPr>
                              <m:sty m:val="p"/>
                            </m:rPr>
                            <m:t>∂</m:t>
                          </m:r>
                          <m:sSub>
                            <m:e>
                              <m:r>
                                <m:t>s</m:t>
                              </m:r>
                            </m:e>
                            <m:sub>
                              <m:r>
                                <m:t>i</m:t>
                              </m:r>
                            </m:sub>
                          </m:sSub>
                        </m:den>
                      </m:f>
                      <m:r>
                        <m:rPr>
                          <m:sty m:val="p"/>
                        </m:rPr>
                        <m:t>=</m:t>
                      </m:r>
                      <m:nary>
                        <m:naryPr>
                          <m:chr m:val="∏"/>
                          <m:limLoc m:val="undOvr"/>
                          <m:subHide m:val="off"/>
                          <m:supHide m:val="off"/>
                        </m:naryPr>
                        <m:sub>
                          <m:r>
                            <m:t>j</m:t>
                          </m:r>
                          <m:r>
                            <m:rPr>
                              <m:sty m:val="p"/>
                            </m:rPr>
                            <m:t>=</m:t>
                          </m:r>
                          <m:r>
                            <m:t>i</m:t>
                          </m:r>
                        </m:sub>
                        <m:sup>
                          <m:r>
                            <m:t>t</m:t>
                          </m:r>
                          <m:r>
                            <m:rPr>
                              <m:sty m:val="p"/>
                            </m:rPr>
                            <m:t>−</m:t>
                          </m:r>
                          <m:r>
                            <m:t>1</m:t>
                          </m:r>
                        </m:sup>
                        <m:e>
                          <m:f>
                            <m:fPr>
                              <m:type m:val="bar"/>
                            </m:fPr>
                            <m:num>
                              <m:r>
                                <m:rPr>
                                  <m:sty m:val="p"/>
                                </m:rPr>
                                <m:t>∂</m:t>
                              </m:r>
                              <m:sSub>
                                <m:e>
                                  <m:r>
                                    <m:t>s</m:t>
                                  </m:r>
                                </m:e>
                                <m:sub>
                                  <m:r>
                                    <m:t>j</m:t>
                                  </m:r>
                                  <m:r>
                                    <m:rPr>
                                      <m:sty m:val="p"/>
                                    </m:rPr>
                                    <m:t>+</m:t>
                                  </m:r>
                                  <m:r>
                                    <m:t>1</m:t>
                                  </m:r>
                                </m:sub>
                              </m:sSub>
                            </m:num>
                            <m:den>
                              <m:r>
                                <m:rPr>
                                  <m:sty m:val="p"/>
                                </m:rPr>
                                <m:t>∂</m:t>
                              </m:r>
                              <m:sSub>
                                <m:e>
                                  <m:r>
                                    <m:t>s</m:t>
                                  </m:r>
                                </m:e>
                                <m:sub>
                                  <m:r>
                                    <m:t>j</m:t>
                                  </m:r>
                                </m:sub>
                              </m:sSub>
                            </m:den>
                          </m:f>
                        </m:e>
                      </m:nary>
                    </m:oMath>
                  </m:oMathPara>
                </a14:m>
              </a:p>
              <a:p>
                <a:pPr lvl="0" indent="0" marL="0">
                  <a:buNone/>
                </a:pPr>
                <a:r>
                  <a:rPr/>
                  <a:t>Đây chính là nguồn cơn của hiện tượng </a:t>
                </a:r>
                <a:r>
                  <a:rPr b="1"/>
                  <a:t>Vanishing Gradient</a:t>
                </a:r>
                <a:r>
                  <a:rPr/>
                  <a:t> (Triệt tiêu đạo hàm) hoặc </a:t>
                </a:r>
                <a:r>
                  <a:rPr b="1"/>
                  <a:t>Exploding Gradient</a:t>
                </a:r>
                <a:r>
                  <a:rPr/>
                  <a:t> (Nổ đạo hàm) khi chuỗi </a:t>
                </a:r>
                <a14:m>
                  <m:oMath xmlns:m="http://schemas.openxmlformats.org/officeDocument/2006/math">
                    <m:r>
                      <m:t>T</m:t>
                    </m:r>
                  </m:oMath>
                </a14:m>
                <a:r>
                  <a:rPr/>
                  <a:t> lớn.</a:t>
                </a:r>
              </a:p>
              <a:p>
                <a:pPr lvl="0" indent="0" marL="0">
                  <a:buNone/>
                </a:pPr>
                <a:r>
                  <a:rPr/>
                  <a:t>Chứng minh Toán học: Phân rã Gradient trong RNN Xét thành phần cốt lõi trong BPTT là đạo hàm trạng thái qua nhiều bước thời gian: </a:t>
                </a:r>
                <a14:m>
                  <m:oMath xmlns:m="http://schemas.openxmlformats.org/officeDocument/2006/math">
                    <m:f>
                      <m:fPr>
                        <m:type m:val="bar"/>
                      </m:fPr>
                      <m:num>
                        <m:r>
                          <m:rPr>
                            <m:sty m:val="p"/>
                          </m:rPr>
                          <m:t>∂</m:t>
                        </m:r>
                        <m:sSub>
                          <m:e>
                            <m:r>
                              <m:t>s</m:t>
                            </m:r>
                          </m:e>
                          <m:sub>
                            <m:r>
                              <m:t>T</m:t>
                            </m:r>
                          </m:sub>
                        </m:sSub>
                      </m:num>
                      <m:den>
                        <m:r>
                          <m:rPr>
                            <m:sty m:val="p"/>
                          </m:rPr>
                          <m:t>∂</m:t>
                        </m:r>
                        <m:sSub>
                          <m:e>
                            <m:r>
                              <m:t>s</m:t>
                            </m:r>
                          </m:e>
                          <m:sub>
                            <m:r>
                              <m:t>k</m:t>
                            </m:r>
                          </m:sub>
                        </m:sSub>
                      </m:den>
                    </m:f>
                    <m:r>
                      <m:rPr>
                        <m:sty m:val="p"/>
                      </m:rPr>
                      <m:t>=</m:t>
                    </m:r>
                    <m:nary>
                      <m:naryPr>
                        <m:chr m:val="∏"/>
                        <m:limLoc m:val="undOvr"/>
                        <m:subHide m:val="off"/>
                        <m:supHide m:val="off"/>
                      </m:naryPr>
                      <m:sub>
                        <m:r>
                          <m:t>j</m:t>
                        </m:r>
                        <m:r>
                          <m:rPr>
                            <m:sty m:val="p"/>
                          </m:rPr>
                          <m:t>=</m:t>
                        </m:r>
                        <m:r>
                          <m:t>k</m:t>
                        </m:r>
                      </m:sub>
                      <m:sup>
                        <m:r>
                          <m:t>T</m:t>
                        </m:r>
                        <m:r>
                          <m:rPr>
                            <m:sty m:val="p"/>
                          </m:rPr>
                          <m:t>−</m:t>
                        </m:r>
                        <m:r>
                          <m:t>1</m:t>
                        </m:r>
                      </m:sup>
                      <m:e>
                        <m:f>
                          <m:fPr>
                            <m:type m:val="bar"/>
                          </m:fPr>
                          <m:num>
                            <m:r>
                              <m:rPr>
                                <m:sty m:val="p"/>
                              </m:rPr>
                              <m:t>∂</m:t>
                            </m:r>
                            <m:sSub>
                              <m:e>
                                <m:r>
                                  <m:t>s</m:t>
                                </m:r>
                              </m:e>
                              <m:sub>
                                <m:r>
                                  <m:t>j</m:t>
                                </m:r>
                                <m:r>
                                  <m:rPr>
                                    <m:sty m:val="p"/>
                                  </m:rPr>
                                  <m:t>+</m:t>
                                </m:r>
                                <m:r>
                                  <m:t>1</m:t>
                                </m:r>
                              </m:sub>
                            </m:sSub>
                          </m:num>
                          <m:den>
                            <m:r>
                              <m:rPr>
                                <m:sty m:val="p"/>
                              </m:rPr>
                              <m:t>∂</m:t>
                            </m:r>
                            <m:sSub>
                              <m:e>
                                <m:r>
                                  <m:t>s</m:t>
                                </m:r>
                              </m:e>
                              <m:sub>
                                <m:r>
                                  <m:t>j</m:t>
                                </m:r>
                              </m:sub>
                            </m:sSub>
                          </m:den>
                        </m:f>
                      </m:e>
                    </m:nary>
                  </m:oMath>
                </a14:m>
                <a:r>
                  <a:rPr/>
                  <a:t>.</a:t>
                </a:r>
                <a:br/>
                <a:r>
                  <a:rPr/>
                  <a:t>Do </a:t>
                </a:r>
                <a14:m>
                  <m:oMath xmlns:m="http://schemas.openxmlformats.org/officeDocument/2006/math">
                    <m:sSub>
                      <m:e>
                        <m:r>
                          <m:t>s</m:t>
                        </m:r>
                      </m:e>
                      <m:sub>
                        <m:r>
                          <m:t>j</m:t>
                        </m:r>
                        <m:r>
                          <m:rPr>
                            <m:sty m:val="p"/>
                          </m:rPr>
                          <m:t>+</m:t>
                        </m:r>
                        <m:r>
                          <m:t>1</m:t>
                        </m:r>
                      </m:sub>
                    </m:sSub>
                    <m:r>
                      <m:rPr>
                        <m:sty m:val="p"/>
                      </m:rPr>
                      <m:t>=</m:t>
                    </m:r>
                    <m:r>
                      <m:rPr>
                        <m:sty m:val="p"/>
                      </m:rPr>
                      <m:t>tanh</m:t>
                    </m:r>
                    <m:r>
                      <m:rPr>
                        <m:sty m:val="p"/>
                      </m:rPr>
                      <m:t>(</m:t>
                    </m:r>
                    <m:r>
                      <m:t>W</m:t>
                    </m:r>
                    <m:r>
                      <m:rPr>
                        <m:sty m:val="p"/>
                      </m:rPr>
                      <m:t>⋅</m:t>
                    </m:r>
                    <m:sSub>
                      <m:e>
                        <m:r>
                          <m:t>s</m:t>
                        </m:r>
                      </m:e>
                      <m:sub>
                        <m:r>
                          <m:t>j</m:t>
                        </m:r>
                      </m:sub>
                    </m:sSub>
                    <m:r>
                      <m:rPr>
                        <m:sty m:val="p"/>
                      </m:rPr>
                      <m:t>+</m:t>
                    </m:r>
                    <m:r>
                      <m:t>U</m:t>
                    </m:r>
                    <m:r>
                      <m:rPr>
                        <m:sty m:val="p"/>
                      </m:rPr>
                      <m:t>⋅</m:t>
                    </m:r>
                    <m:sSub>
                      <m:e>
                        <m:r>
                          <m:t>x</m:t>
                        </m:r>
                      </m:e>
                      <m:sub>
                        <m:r>
                          <m:t>j</m:t>
                        </m:r>
                        <m:r>
                          <m:rPr>
                            <m:sty m:val="p"/>
                          </m:rPr>
                          <m:t>+</m:t>
                        </m:r>
                        <m:r>
                          <m:t>1</m:t>
                        </m:r>
                      </m:sub>
                    </m:sSub>
                    <m:r>
                      <m:rPr>
                        <m:sty m:val="p"/>
                      </m:rPr>
                      <m:t>)</m:t>
                    </m:r>
                  </m:oMath>
                </a14:m>
                <a:r>
                  <a:rPr/>
                  <a:t>, ma trận Jacobian tại mỗi bước là: </a:t>
                </a:r>
                <a14:m>
                  <m:oMath xmlns:m="http://schemas.openxmlformats.org/officeDocument/2006/math">
                    <m:f>
                      <m:fPr>
                        <m:type m:val="bar"/>
                      </m:fPr>
                      <m:num>
                        <m:r>
                          <m:rPr>
                            <m:sty m:val="p"/>
                          </m:rPr>
                          <m:t>∂</m:t>
                        </m:r>
                        <m:sSub>
                          <m:e>
                            <m:r>
                              <m:t>s</m:t>
                            </m:r>
                          </m:e>
                          <m:sub>
                            <m:r>
                              <m:t>j</m:t>
                            </m:r>
                            <m:r>
                              <m:rPr>
                                <m:sty m:val="p"/>
                              </m:rPr>
                              <m:t>+</m:t>
                            </m:r>
                            <m:r>
                              <m:t>1</m:t>
                            </m:r>
                          </m:sub>
                        </m:sSub>
                      </m:num>
                      <m:den>
                        <m:r>
                          <m:rPr>
                            <m:sty m:val="p"/>
                          </m:rPr>
                          <m:t>∂</m:t>
                        </m:r>
                        <m:sSub>
                          <m:e>
                            <m:r>
                              <m:t>s</m:t>
                            </m:r>
                          </m:e>
                          <m:sub>
                            <m:r>
                              <m:t>j</m:t>
                            </m:r>
                          </m:sub>
                        </m:sSub>
                      </m:den>
                    </m:f>
                    <m:r>
                      <m:rPr>
                        <m:sty m:val="p"/>
                      </m:rPr>
                      <m:t>=</m:t>
                    </m:r>
                    <m:r>
                      <m:rPr>
                        <m:nor/>
                        <m:sty m:val="p"/>
                      </m:rPr>
                      <m:t>diag</m:t>
                    </m:r>
                    <m:r>
                      <m:rPr>
                        <m:sty m:val="p"/>
                      </m:rPr>
                      <m:t>(</m:t>
                    </m:r>
                    <m:r>
                      <m:t>1</m:t>
                    </m:r>
                    <m:r>
                      <m:rPr>
                        <m:sty m:val="p"/>
                      </m:rPr>
                      <m:t>−</m:t>
                    </m:r>
                    <m:sSubSup>
                      <m:e>
                        <m:r>
                          <m:t>s</m:t>
                        </m:r>
                      </m:e>
                      <m:sub>
                        <m:r>
                          <m:t>j</m:t>
                        </m:r>
                        <m:r>
                          <m:rPr>
                            <m:sty m:val="p"/>
                          </m:rPr>
                          <m:t>+</m:t>
                        </m:r>
                        <m:r>
                          <m:t>1</m:t>
                        </m:r>
                      </m:sub>
                      <m:sup>
                        <m:r>
                          <m:t>2</m:t>
                        </m:r>
                      </m:sup>
                    </m:sSubSup>
                    <m:r>
                      <m:rPr>
                        <m:sty m:val="p"/>
                      </m:rPr>
                      <m:t>)</m:t>
                    </m:r>
                    <m:r>
                      <m:rPr>
                        <m:sty m:val="p"/>
                      </m:rPr>
                      <m:t>⋅</m:t>
                    </m:r>
                    <m:r>
                      <m:t>W</m:t>
                    </m:r>
                  </m:oMath>
                </a14:m>
                <a:r>
                  <a:rPr/>
                  <a:t>.</a:t>
                </a:r>
              </a:p>
              <a:p>
                <a:pPr lvl="0" indent="0" marL="0">
                  <a:buNone/>
                </a:pPr>
                <a:r>
                  <a:rPr b="1"/>
                  <a:t>Đánh giá Chuẩn Ma trận (Matrix Norm)</a:t>
                </a:r>
                <a:r>
                  <a:rPr/>
                  <a:t> Áp dụng tính chất </a:t>
                </a:r>
                <a14:m>
                  <m:oMath xmlns:m="http://schemas.openxmlformats.org/officeDocument/2006/math">
                    <m:r>
                      <m:rPr>
                        <m:sty m:val="p"/>
                      </m:rPr>
                      <m:t>‖</m:t>
                    </m:r>
                    <m:r>
                      <m:t>A</m:t>
                    </m:r>
                    <m:r>
                      <m:rPr>
                        <m:sty m:val="p"/>
                      </m:rPr>
                      <m:t>⋅</m:t>
                    </m:r>
                    <m:r>
                      <m:t>B</m:t>
                    </m:r>
                    <m:r>
                      <m:rPr>
                        <m:sty m:val="p"/>
                      </m:rPr>
                      <m:t>‖</m:t>
                    </m:r>
                    <m:r>
                      <m:rPr>
                        <m:sty m:val="p"/>
                      </m:rPr>
                      <m:t>≤</m:t>
                    </m:r>
                    <m:r>
                      <m:rPr>
                        <m:sty m:val="p"/>
                      </m:rPr>
                      <m:t>‖</m:t>
                    </m:r>
                    <m:r>
                      <m:t>A</m:t>
                    </m:r>
                    <m:r>
                      <m:rPr>
                        <m:sty m:val="p"/>
                      </m:rPr>
                      <m:t>‖</m:t>
                    </m:r>
                    <m:r>
                      <m:rPr>
                        <m:sty m:val="p"/>
                      </m:rPr>
                      <m:t>⋅</m:t>
                    </m:r>
                    <m:r>
                      <m:rPr>
                        <m:sty m:val="p"/>
                      </m:rPr>
                      <m:t>‖</m:t>
                    </m:r>
                    <m:r>
                      <m:t>B</m:t>
                    </m:r>
                    <m:r>
                      <m:rPr>
                        <m:sty m:val="p"/>
                      </m:rPr>
                      <m:t>‖</m:t>
                    </m:r>
                  </m:oMath>
                </a14:m>
                <a:r>
                  <a:rPr/>
                  <a:t>, ta lấy chuẩn 2 vế:</a:t>
                </a:r>
              </a:p>
              <a:p>
                <a:pPr lvl="0" indent="0" marL="0">
                  <a:buNone/>
                </a:pPr>
                <a14:m>
                  <m:oMathPara xmlns:m="http://schemas.openxmlformats.org/officeDocument/2006/math">
                    <m:oMathParaPr>
                      <m:jc m:val="center"/>
                    </m:oMathParaPr>
                    <m:oMath>
                      <m:d>
                        <m:dPr>
                          <m:begChr m:val="‖"/>
                          <m:sepChr m:val=""/>
                          <m:endChr m:val="‖"/>
                          <m:grow/>
                        </m:dPr>
                        <m:e>
                          <m:f>
                            <m:fPr>
                              <m:type m:val="bar"/>
                            </m:fPr>
                            <m:num>
                              <m:r>
                                <m:rPr>
                                  <m:sty m:val="p"/>
                                </m:rPr>
                                <m:t>∂</m:t>
                              </m:r>
                              <m:sSub>
                                <m:e>
                                  <m:r>
                                    <m:t>s</m:t>
                                  </m:r>
                                </m:e>
                                <m:sub>
                                  <m:r>
                                    <m:t>j</m:t>
                                  </m:r>
                                  <m:r>
                                    <m:rPr>
                                      <m:sty m:val="p"/>
                                    </m:rPr>
                                    <m:t>+</m:t>
                                  </m:r>
                                  <m:r>
                                    <m:t>1</m:t>
                                  </m:r>
                                </m:sub>
                              </m:sSub>
                            </m:num>
                            <m:den>
                              <m:r>
                                <m:rPr>
                                  <m:sty m:val="p"/>
                                </m:rPr>
                                <m:t>∂</m:t>
                              </m:r>
                              <m:sSub>
                                <m:e>
                                  <m:r>
                                    <m:t>s</m:t>
                                  </m:r>
                                </m:e>
                                <m:sub>
                                  <m:r>
                                    <m:t>j</m:t>
                                  </m:r>
                                </m:sub>
                              </m:sSub>
                            </m:den>
                          </m:f>
                        </m:e>
                      </m:d>
                      <m:r>
                        <m:rPr>
                          <m:sty m:val="p"/>
                        </m:rPr>
                        <m:t>≤</m:t>
                      </m:r>
                      <m:r>
                        <m:rPr>
                          <m:sty m:val="p"/>
                        </m:rPr>
                        <m:t>‖</m:t>
                      </m:r>
                      <m:r>
                        <m:rPr>
                          <m:nor/>
                          <m:sty m:val="p"/>
                        </m:rPr>
                        <m:t>diag</m:t>
                      </m:r>
                      <m:r>
                        <m:rPr>
                          <m:sty m:val="p"/>
                        </m:rPr>
                        <m:t>(</m:t>
                      </m:r>
                      <m:r>
                        <m:t>1</m:t>
                      </m:r>
                      <m:r>
                        <m:rPr>
                          <m:sty m:val="p"/>
                        </m:rPr>
                        <m:t>−</m:t>
                      </m:r>
                      <m:sSubSup>
                        <m:e>
                          <m:r>
                            <m:t>s</m:t>
                          </m:r>
                        </m:e>
                        <m:sub>
                          <m:r>
                            <m:t>j</m:t>
                          </m:r>
                          <m:r>
                            <m:rPr>
                              <m:sty m:val="p"/>
                            </m:rPr>
                            <m:t>+</m:t>
                          </m:r>
                          <m:r>
                            <m:t>1</m:t>
                          </m:r>
                        </m:sub>
                        <m:sup>
                          <m:r>
                            <m:t>2</m:t>
                          </m:r>
                        </m:sup>
                      </m:sSubSup>
                      <m:r>
                        <m:rPr>
                          <m:sty m:val="p"/>
                        </m:rPr>
                        <m:t>)</m:t>
                      </m:r>
                      <m:r>
                        <m:rPr>
                          <m:sty m:val="p"/>
                        </m:rPr>
                        <m:t>‖</m:t>
                      </m:r>
                      <m:r>
                        <m:rPr>
                          <m:sty m:val="p"/>
                        </m:rPr>
                        <m:t>⋅</m:t>
                      </m:r>
                      <m:r>
                        <m:rPr>
                          <m:sty m:val="p"/>
                        </m:rPr>
                        <m:t>‖</m:t>
                      </m:r>
                      <m:r>
                        <m:t>W</m:t>
                      </m:r>
                      <m:r>
                        <m:rPr>
                          <m:sty m:val="p"/>
                        </m:rPr>
                        <m:t>‖</m:t>
                      </m:r>
                      <m:r>
                        <m:rPr>
                          <m:sty m:val="p"/>
                        </m:rPr>
                        <m:t>≤</m:t>
                      </m:r>
                      <m:r>
                        <m:t>1</m:t>
                      </m:r>
                      <m:r>
                        <m:rPr>
                          <m:sty m:val="p"/>
                        </m:rPr>
                        <m:t>⋅</m:t>
                      </m:r>
                      <m:r>
                        <m:rPr>
                          <m:sty m:val="p"/>
                        </m:rPr>
                        <m:t>‖</m:t>
                      </m:r>
                      <m:r>
                        <m:t>W</m:t>
                      </m:r>
                      <m:r>
                        <m:rPr>
                          <m:sty m:val="p"/>
                        </m:rPr>
                        <m:t>‖</m:t>
                      </m:r>
                      <m:r>
                        <m:rPr>
                          <m:sty m:val="p"/>
                        </m:rPr>
                        <m:t>=</m:t>
                      </m:r>
                      <m:r>
                        <m:rPr>
                          <m:sty m:val="p"/>
                        </m:rPr>
                        <m:t>‖</m:t>
                      </m:r>
                      <m:r>
                        <m:t>W</m:t>
                      </m:r>
                      <m:r>
                        <m:rPr>
                          <m:sty m:val="p"/>
                        </m:rPr>
                        <m:t>‖</m:t>
                      </m:r>
                    </m:oMath>
                  </m:oMathPara>
                </a14:m>
              </a:p>
              <a:p>
                <a:pPr lvl="0" indent="0" marL="0">
                  <a:buNone/>
                </a:pPr>
                <a:r>
                  <a:rPr/>
                  <a:t>(Vì đạo hàm của </a:t>
                </a:r>
                <a14:m>
                  <m:oMath xmlns:m="http://schemas.openxmlformats.org/officeDocument/2006/math">
                    <m:r>
                      <m:rPr>
                        <m:sty m:val="p"/>
                      </m:rPr>
                      <m:t>tanh</m:t>
                    </m:r>
                  </m:oMath>
                </a14:m>
                <a:r>
                  <a:rPr/>
                  <a:t> lớn nhất bằng 1 nên </a:t>
                </a:r>
                <a14:m>
                  <m:oMath xmlns:m="http://schemas.openxmlformats.org/officeDocument/2006/math">
                    <m:r>
                      <m:rPr>
                        <m:sty m:val="p"/>
                      </m:rPr>
                      <m:t>‖</m:t>
                    </m:r>
                    <m:r>
                      <m:rPr>
                        <m:nor/>
                        <m:sty m:val="p"/>
                      </m:rPr>
                      <m:t>diag</m:t>
                    </m:r>
                    <m:r>
                      <m:rPr>
                        <m:sty m:val="p"/>
                      </m:rPr>
                      <m:t>(</m:t>
                    </m:r>
                    <m:r>
                      <m:t>1</m:t>
                    </m:r>
                    <m:r>
                      <m:rPr>
                        <m:sty m:val="p"/>
                      </m:rPr>
                      <m:t>−</m:t>
                    </m:r>
                    <m:sSubSup>
                      <m:e>
                        <m:r>
                          <m:t>s</m:t>
                        </m:r>
                      </m:e>
                      <m:sub>
                        <m:r>
                          <m:t>j</m:t>
                        </m:r>
                        <m:r>
                          <m:rPr>
                            <m:sty m:val="p"/>
                          </m:rPr>
                          <m:t>+</m:t>
                        </m:r>
                        <m:r>
                          <m:t>1</m:t>
                        </m:r>
                      </m:sub>
                      <m:sup>
                        <m:r>
                          <m:t>2</m:t>
                        </m:r>
                      </m:sup>
                    </m:sSubSup>
                    <m:r>
                      <m:rPr>
                        <m:sty m:val="p"/>
                      </m:rPr>
                      <m:t>)</m:t>
                    </m:r>
                    <m:r>
                      <m:rPr>
                        <m:sty m:val="p"/>
                      </m:rPr>
                      <m:t>‖</m:t>
                    </m:r>
                    <m:r>
                      <m:rPr>
                        <m:sty m:val="p"/>
                      </m:rPr>
                      <m:t>≤</m:t>
                    </m:r>
                    <m:r>
                      <m:t>1</m:t>
                    </m:r>
                  </m:oMath>
                </a14:m>
                <a:r>
                  <a:rPr/>
                  <a:t>).</a:t>
                </a:r>
              </a:p>
              <a:p>
                <a:pPr lvl="0" indent="0" marL="0">
                  <a:buNone/>
                </a:pPr>
                <a:r>
                  <a:rPr b="1"/>
                  <a:t>Cơ chế Vanishing Gradient</a:t>
                </a:r>
                <a:r>
                  <a:rPr/>
                  <a:t> Nếu trị riêng lớn nhất của </a:t>
                </a:r>
                <a14:m>
                  <m:oMath xmlns:m="http://schemas.openxmlformats.org/officeDocument/2006/math">
                    <m:r>
                      <m:t>W</m:t>
                    </m:r>
                  </m:oMath>
                </a14:m>
                <a:r>
                  <a:rPr/>
                  <a:t> nhỏ hơn 1 (tức </a:t>
                </a:r>
                <a14:m>
                  <m:oMath xmlns:m="http://schemas.openxmlformats.org/officeDocument/2006/math">
                    <m:r>
                      <m:rPr>
                        <m:sty m:val="p"/>
                      </m:rPr>
                      <m:t>‖</m:t>
                    </m:r>
                    <m:r>
                      <m:t>W</m:t>
                    </m:r>
                    <m:r>
                      <m:rPr>
                        <m:sty m:val="p"/>
                      </m:rPr>
                      <m:t>‖</m:t>
                    </m:r>
                    <m:r>
                      <m:rPr>
                        <m:sty m:val="p"/>
                      </m:rPr>
                      <m:t>=</m:t>
                    </m:r>
                    <m:r>
                      <m:t>γ</m:t>
                    </m:r>
                    <m:r>
                      <m:rPr>
                        <m:sty m:val="p"/>
                      </m:rPr>
                      <m:t>&lt;</m:t>
                    </m:r>
                    <m:r>
                      <m:t>1</m:t>
                    </m:r>
                  </m:oMath>
                </a14:m>
                <a:r>
                  <a:rPr/>
                  <a:t>): </a:t>
                </a:r>
                <a14:m>
                  <m:oMath xmlns:m="http://schemas.openxmlformats.org/officeDocument/2006/math">
                    <m:d>
                      <m:dPr>
                        <m:begChr m:val="‖"/>
                        <m:sepChr m:val=""/>
                        <m:endChr m:val="‖"/>
                        <m:grow/>
                      </m:dPr>
                      <m:e>
                        <m:f>
                          <m:fPr>
                            <m:type m:val="bar"/>
                          </m:fPr>
                          <m:num>
                            <m:r>
                              <m:rPr>
                                <m:sty m:val="p"/>
                              </m:rPr>
                              <m:t>∂</m:t>
                            </m:r>
                            <m:sSub>
                              <m:e>
                                <m:r>
                                  <m:t>s</m:t>
                                </m:r>
                              </m:e>
                              <m:sub>
                                <m:r>
                                  <m:t>T</m:t>
                                </m:r>
                              </m:sub>
                            </m:sSub>
                          </m:num>
                          <m:den>
                            <m:r>
                              <m:rPr>
                                <m:sty m:val="p"/>
                              </m:rPr>
                              <m:t>∂</m:t>
                            </m:r>
                            <m:sSub>
                              <m:e>
                                <m:r>
                                  <m:t>s</m:t>
                                </m:r>
                              </m:e>
                              <m:sub>
                                <m:r>
                                  <m:t>k</m:t>
                                </m:r>
                              </m:sub>
                            </m:sSub>
                          </m:den>
                        </m:f>
                      </m:e>
                    </m:d>
                    <m:r>
                      <m:rPr>
                        <m:sty m:val="p"/>
                      </m:rPr>
                      <m:t>≤</m:t>
                    </m:r>
                    <m:sSup>
                      <m:e>
                        <m:r>
                          <m:t>γ</m:t>
                        </m:r>
                      </m:e>
                      <m:sup>
                        <m:r>
                          <m:t>T</m:t>
                        </m:r>
                        <m:r>
                          <m:rPr>
                            <m:sty m:val="p"/>
                          </m:rPr>
                          <m:t>−</m:t>
                        </m:r>
                        <m:r>
                          <m:t>k</m:t>
                        </m:r>
                      </m:sup>
                    </m:sSup>
                    <m:limUpp>
                      <m:e>
                        <m:r>
                          <m:rPr>
                            <m:sty m:val="p"/>
                          </m:rPr>
                          <m:t>→</m:t>
                        </m:r>
                      </m:e>
                      <m:lim>
                        <m:r>
                          <m:t>T</m:t>
                        </m:r>
                        <m:r>
                          <m:rPr>
                            <m:sty m:val="p"/>
                          </m:rPr>
                          <m:t>−</m:t>
                        </m:r>
                        <m:r>
                          <m:t>k</m:t>
                        </m:r>
                        <m:r>
                          <m:rPr>
                            <m:sty m:val="p"/>
                          </m:rPr>
                          <m:t>→</m:t>
                        </m:r>
                        <m:r>
                          <m:rPr>
                            <m:sty m:val="p"/>
                          </m:rPr>
                          <m:t>∞</m:t>
                        </m:r>
                      </m:lim>
                    </m:limUpp>
                    <m:r>
                      <m:t>0</m:t>
                    </m:r>
                  </m:oMath>
                </a14:m>
                <a:r>
                  <a:rPr/>
                  <a:t>.</a:t>
                </a:r>
                <a:br/>
                <a14:m>
                  <m:oMath xmlns:m="http://schemas.openxmlformats.org/officeDocument/2006/math">
                    <m:r>
                      <m:rPr>
                        <m:sty m:val="p"/>
                      </m:rPr>
                      <m:t>⇒</m:t>
                    </m:r>
                  </m:oMath>
                </a14:m>
                <a:r>
                  <a:rPr/>
                  <a:t> Tín hiệu gradient suy giảm theo hàm mũ về 0. Trọng số mất hoàn toàn khả năng cập nhật theo các lỗi từ quá khứ xa.</a:t>
                </a:r>
              </a:p>
              <a:p>
                <a:pPr lvl="0" indent="0" marL="0">
                  <a:buNone/>
                </a:pPr>
                <a:r>
                  <a:rPr/>
                  <a:t>Hiện tượng Nổ Gradient (Exploding Gradient)</a:t>
                </a:r>
              </a:p>
              <a:p>
                <a:pPr lvl="0" indent="0" marL="0">
                  <a:buNone/>
                </a:pPr>
                <a:r>
                  <a:rPr b="1"/>
                  <a:t>Cơ chế Toán học (Exploding Gradient)</a:t>
                </a:r>
                <a:r>
                  <a:rPr/>
                  <a:t> Ngược lại với triệt tiêu, nếu trị riêng lớn nhất của </a:t>
                </a:r>
                <a14:m>
                  <m:oMath xmlns:m="http://schemas.openxmlformats.org/officeDocument/2006/math">
                    <m:r>
                      <m:t>W</m:t>
                    </m:r>
                  </m:oMath>
                </a14:m>
                <a:r>
                  <a:rPr/>
                  <a:t> lớn hơn 1 (</a:t>
                </a:r>
                <a14:m>
                  <m:oMath xmlns:m="http://schemas.openxmlformats.org/officeDocument/2006/math">
                    <m:r>
                      <m:rPr>
                        <m:sty m:val="p"/>
                      </m:rPr>
                      <m:t>‖</m:t>
                    </m:r>
                    <m:r>
                      <m:t>W</m:t>
                    </m:r>
                    <m:r>
                      <m:rPr>
                        <m:sty m:val="p"/>
                      </m:rPr>
                      <m:t>‖</m:t>
                    </m:r>
                    <m:r>
                      <m:rPr>
                        <m:sty m:val="p"/>
                      </m:rPr>
                      <m:t>=</m:t>
                    </m:r>
                    <m:r>
                      <m:t>γ</m:t>
                    </m:r>
                    <m:r>
                      <m:rPr>
                        <m:sty m:val="p"/>
                      </m:rPr>
                      <m:t>&gt;</m:t>
                    </m:r>
                    <m:r>
                      <m:t>1</m:t>
                    </m:r>
                  </m:oMath>
                </a14:m>
                <a:r>
                  <a:rPr/>
                  <a:t>) và phần lớn nơ-ron hoạt động ở vùng tuyến tính của </a:t>
                </a:r>
                <a14:m>
                  <m:oMath xmlns:m="http://schemas.openxmlformats.org/officeDocument/2006/math">
                    <m:r>
                      <m:rPr>
                        <m:sty m:val="p"/>
                      </m:rPr>
                      <m:t>tanh</m:t>
                    </m:r>
                  </m:oMath>
                </a14:m>
                <a:r>
                  <a:rPr/>
                  <a:t> (nơi đạo hàm xấp xỉ 1):</a:t>
                </a:r>
              </a:p>
              <a:p>
                <a:pPr lvl="0" indent="0" marL="0">
                  <a:buNone/>
                </a:pPr>
                <a14:m>
                  <m:oMathPara xmlns:m="http://schemas.openxmlformats.org/officeDocument/2006/math">
                    <m:oMathParaPr>
                      <m:jc m:val="center"/>
                    </m:oMathParaPr>
                    <m:oMath>
                      <m:d>
                        <m:dPr>
                          <m:begChr m:val="‖"/>
                          <m:sepChr m:val=""/>
                          <m:endChr m:val="‖"/>
                          <m:grow/>
                        </m:dPr>
                        <m:e>
                          <m:f>
                            <m:fPr>
                              <m:type m:val="bar"/>
                            </m:fPr>
                            <m:num>
                              <m:r>
                                <m:rPr>
                                  <m:sty m:val="p"/>
                                </m:rPr>
                                <m:t>∂</m:t>
                              </m:r>
                              <m:sSub>
                                <m:e>
                                  <m:r>
                                    <m:t>s</m:t>
                                  </m:r>
                                </m:e>
                                <m:sub>
                                  <m:r>
                                    <m:t>T</m:t>
                                  </m:r>
                                </m:sub>
                              </m:sSub>
                            </m:num>
                            <m:den>
                              <m:r>
                                <m:rPr>
                                  <m:sty m:val="p"/>
                                </m:rPr>
                                <m:t>∂</m:t>
                              </m:r>
                              <m:sSub>
                                <m:e>
                                  <m:r>
                                    <m:t>s</m:t>
                                  </m:r>
                                </m:e>
                                <m:sub>
                                  <m:r>
                                    <m:t>k</m:t>
                                  </m:r>
                                </m:sub>
                              </m:sSub>
                            </m:den>
                          </m:f>
                        </m:e>
                      </m:d>
                      <m:r>
                        <m:rPr>
                          <m:sty m:val="p"/>
                        </m:rPr>
                        <m:t>≈</m:t>
                      </m:r>
                      <m:sSup>
                        <m:e>
                          <m:r>
                            <m:t>γ</m:t>
                          </m:r>
                        </m:e>
                        <m:sup>
                          <m:r>
                            <m:t>T</m:t>
                          </m:r>
                          <m:r>
                            <m:rPr>
                              <m:sty m:val="p"/>
                            </m:rPr>
                            <m:t>−</m:t>
                          </m:r>
                          <m:r>
                            <m:t>k</m:t>
                          </m:r>
                        </m:sup>
                      </m:sSup>
                      <m:limUpp>
                        <m:e>
                          <m:r>
                            <m:rPr>
                              <m:sty m:val="p"/>
                            </m:rPr>
                            <m:t>→</m:t>
                          </m:r>
                        </m:e>
                        <m:lim>
                          <m:r>
                            <m:t>T</m:t>
                          </m:r>
                          <m:r>
                            <m:rPr>
                              <m:sty m:val="p"/>
                            </m:rPr>
                            <m:t>−</m:t>
                          </m:r>
                          <m:r>
                            <m:t>k</m:t>
                          </m:r>
                          <m:r>
                            <m:rPr>
                              <m:sty m:val="p"/>
                            </m:rPr>
                            <m:t>→</m:t>
                          </m:r>
                          <m:r>
                            <m:rPr>
                              <m:sty m:val="p"/>
                            </m:rPr>
                            <m:t>∞</m:t>
                          </m:r>
                        </m:lim>
                      </m:limUpp>
                      <m:r>
                        <m:rPr>
                          <m:sty m:val="p"/>
                        </m:rPr>
                        <m:t>∞</m:t>
                      </m:r>
                    </m:oMath>
                  </m:oMathPara>
                </a14:m>
              </a:p>
              <a:p>
                <a:pPr lvl="0" indent="0" marL="0">
                  <a:buNone/>
                </a:pPr>
                <a:r>
                  <a:rPr b="1"/>
                  <a:t>Hậu quả Hình học ("Vách đá" Hàm Loss)</a:t>
                </a:r>
                <a:r>
                  <a:rPr/>
                  <a:t> Sự nhân dồn liên tục của </a:t>
                </a:r>
                <a14:m>
                  <m:oMath xmlns:m="http://schemas.openxmlformats.org/officeDocument/2006/math">
                    <m:r>
                      <m:t>W</m:t>
                    </m:r>
                  </m:oMath>
                </a14:m>
                <a:r>
                  <a:rPr/>
                  <a:t> qua </a:t>
                </a:r>
                <a14:m>
                  <m:oMath xmlns:m="http://schemas.openxmlformats.org/officeDocument/2006/math">
                    <m:r>
                      <m:t>T</m:t>
                    </m:r>
                  </m:oMath>
                </a14:m>
                <a:r>
                  <a:rPr/>
                  <a:t> bước thời gian tạo ra những "vách đá" (cliffs) cực dốc trong không gian tham số.</a:t>
                </a:r>
              </a:p>
              <a:p>
                <a:pPr lvl="0"/>
                <a:r>
                  <a:rPr/>
                  <a:t>Khi mô hình tiến gần vách đá, đạo hàm bùng nổ theo hàm mũ.</a:t>
                </a:r>
              </a:p>
              <a:p>
                <a:pPr lvl="0"/>
                <a:r>
                  <a:rPr/>
                  <a:t>Gradient khổng lồ gây ra bước cập nhật (Overshooting) đẩy văng mô hình khỏi vùng hội tụ, sinh ra lỗi </a:t>
                </a:r>
                <a:r>
                  <a:rPr>
                    <a:latin typeface="Courier"/>
                  </a:rPr>
                  <a:t>NaN</a:t>
                </a:r>
                <a:r>
                  <a:rPr/>
                  <a:t> hoặc </a:t>
                </a:r>
                <a:r>
                  <a:rPr>
                    <a:latin typeface="Courier"/>
                  </a:rPr>
                  <a:t>Inf</a:t>
                </a:r>
                <a:r>
                  <a:rPr/>
                  <a:t>.</a:t>
                </a:r>
              </a:p>
              <a:p>
                <a:pPr lvl="0" indent="0" marL="0">
                  <a:buNone/>
                </a:pPr>
                <a:r>
                  <a:rPr/>
                  <a:t>Giải pháp khắc phục: Gradient Norm Clipping Để ngăn overshooting, ta hãm phanh bước nhảy. Đặt vector </a:t>
                </a:r>
                <a14:m>
                  <m:oMath xmlns:m="http://schemas.openxmlformats.org/officeDocument/2006/math">
                    <m:r>
                      <m:t>g</m:t>
                    </m:r>
                    <m:r>
                      <m:rPr>
                        <m:sty m:val="p"/>
                      </m:rPr>
                      <m:t>=</m:t>
                    </m:r>
                    <m:r>
                      <m:rPr>
                        <m:sty m:val="p"/>
                      </m:rPr>
                      <m:t>∇</m:t>
                    </m:r>
                    <m:r>
                      <m:t>L</m:t>
                    </m:r>
                    <m:r>
                      <m:rPr>
                        <m:sty m:val="p"/>
                      </m:rPr>
                      <m:t>=</m:t>
                    </m:r>
                    <m:d>
                      <m:dPr>
                        <m:begChr m:val="["/>
                        <m:sepChr m:val=""/>
                        <m:endChr m:val="]"/>
                        <m:grow/>
                      </m:dPr>
                      <m:e>
                        <m:f>
                          <m:fPr>
                            <m:type m:val="bar"/>
                          </m:fPr>
                          <m:num>
                            <m:r>
                              <m:rPr>
                                <m:sty m:val="p"/>
                              </m:rPr>
                              <m:t>∂</m:t>
                            </m:r>
                            <m:r>
                              <m:t>L</m:t>
                            </m:r>
                          </m:num>
                          <m:den>
                            <m:r>
                              <m:rPr>
                                <m:sty m:val="p"/>
                              </m:rPr>
                              <m:t>∂</m:t>
                            </m:r>
                            <m:r>
                              <m:t>W</m:t>
                            </m:r>
                          </m:den>
                        </m:f>
                        <m:r>
                          <m:rPr>
                            <m:sty m:val="p"/>
                          </m:rPr>
                          <m:t>,</m:t>
                        </m:r>
                        <m:f>
                          <m:fPr>
                            <m:type m:val="bar"/>
                          </m:fPr>
                          <m:num>
                            <m:r>
                              <m:rPr>
                                <m:sty m:val="p"/>
                              </m:rPr>
                              <m:t>∂</m:t>
                            </m:r>
                            <m:r>
                              <m:t>L</m:t>
                            </m:r>
                          </m:num>
                          <m:den>
                            <m:r>
                              <m:rPr>
                                <m:sty m:val="p"/>
                              </m:rPr>
                              <m:t>∂</m:t>
                            </m:r>
                            <m:r>
                              <m:t>U</m:t>
                            </m:r>
                          </m:den>
                        </m:f>
                        <m:r>
                          <m:rPr>
                            <m:sty m:val="p"/>
                          </m:rPr>
                          <m:t>,</m:t>
                        </m:r>
                        <m:f>
                          <m:fPr>
                            <m:type m:val="bar"/>
                          </m:fPr>
                          <m:num>
                            <m:r>
                              <m:rPr>
                                <m:sty m:val="p"/>
                              </m:rPr>
                              <m:t>∂</m:t>
                            </m:r>
                            <m:r>
                              <m:t>L</m:t>
                            </m:r>
                          </m:num>
                          <m:den>
                            <m:r>
                              <m:rPr>
                                <m:sty m:val="p"/>
                              </m:rPr>
                              <m:t>∂</m:t>
                            </m:r>
                            <m:r>
                              <m:t>V</m:t>
                            </m:r>
                          </m:den>
                        </m:f>
                      </m:e>
                    </m:d>
                  </m:oMath>
                </a14:m>
                <a:r>
                  <a:rPr/>
                  <a:t> là vector gradient chứa đạo hàm của tất cả các trọng số trong mô hình.</a:t>
                </a:r>
              </a:p>
              <a:p>
                <a:pPr lvl="0" indent="0" marL="0">
                  <a:buNone/>
                </a:pPr>
                <a:r>
                  <a:rPr b="1"/>
                  <a:t>Cơ chế Cắt tỉa (Clipping)</a:t>
                </a:r>
                <a:r>
                  <a:rPr/>
                  <a:t> Nếu độ lớn (norm) của vector </a:t>
                </a:r>
                <a14:m>
                  <m:oMath xmlns:m="http://schemas.openxmlformats.org/officeDocument/2006/math">
                    <m:r>
                      <m:t>g</m:t>
                    </m:r>
                  </m:oMath>
                </a14:m>
                <a:r>
                  <a:rPr/>
                  <a:t> vượt ngưỡng </a:t>
                </a:r>
                <a14:m>
                  <m:oMath xmlns:m="http://schemas.openxmlformats.org/officeDocument/2006/math">
                    <m:r>
                      <m:t>θ</m:t>
                    </m:r>
                  </m:oMath>
                </a14:m>
                <a:r>
                  <a:rPr/>
                  <a:t>, ta co giãn toàn bộ vector:</a:t>
                </a:r>
              </a:p>
              <a:p>
                <a:pPr lvl="0" indent="0" marL="0">
                  <a:buNone/>
                </a:pPr>
                <a14:m>
                  <m:oMathPara xmlns:m="http://schemas.openxmlformats.org/officeDocument/2006/math">
                    <m:oMathParaPr>
                      <m:jc m:val="center"/>
                    </m:oMathParaPr>
                    <m:oMath>
                      <m:sSub>
                        <m:e>
                          <m:r>
                            <m:t>g</m:t>
                          </m:r>
                        </m:e>
                        <m:sub>
                          <m:r>
                            <m:rPr>
                              <m:nor/>
                              <m:sty m:val="p"/>
                            </m:rPr>
                            <m:t>clipped</m:t>
                          </m:r>
                        </m:sub>
                      </m:sSub>
                      <m:r>
                        <m:rPr>
                          <m:sty m:val="p"/>
                        </m:rPr>
                        <m:t>=</m:t>
                      </m:r>
                      <m:d>
                        <m:dPr>
                          <m:begChr m:val="{"/>
                          <m:sepChr m:val=""/>
                          <m:endChr m:val=""/>
                          <m:grow/>
                        </m:dPr>
                        <m:e>
                          <m:m>
                            <m:mPr>
                              <m:baseJc m:val="center"/>
                              <m:plcHide m:val="on"/>
                              <m:mcs>
                                <m:mc>
                                  <m:mcPr>
                                    <m:mcJc m:val="left"/>
                                    <m:count m:val="1"/>
                                  </m:mcPr>
                                </m:mc>
                                <m:mc>
                                  <m:mcPr>
                                    <m:mcJc m:val="left"/>
                                    <m:count m:val="1"/>
                                  </m:mcPr>
                                </m:mc>
                              </m:mcs>
                            </m:mPr>
                            <m:mr>
                              <m:e>
                                <m:r>
                                  <m:t>g</m:t>
                                </m:r>
                              </m:e>
                              <m:e>
                                <m:r>
                                  <m:rPr>
                                    <m:nor/>
                                    <m:sty m:val="p"/>
                                  </m:rPr>
                                  <m:t>nếu </m:t>
                                </m:r>
                                <m:r>
                                  <m:rPr>
                                    <m:sty m:val="p"/>
                                  </m:rPr>
                                  <m:t>‖</m:t>
                                </m:r>
                                <m:r>
                                  <m:t>g</m:t>
                                </m:r>
                                <m:r>
                                  <m:rPr>
                                    <m:sty m:val="p"/>
                                  </m:rPr>
                                  <m:t>‖</m:t>
                                </m:r>
                                <m:r>
                                  <m:rPr>
                                    <m:sty m:val="p"/>
                                  </m:rPr>
                                  <m:t>≤</m:t>
                                </m:r>
                                <m:r>
                                  <m:t>θ</m:t>
                                </m:r>
                              </m:e>
                            </m:mr>
                            <m:mr>
                              <m:e>
                                <m:r>
                                  <m:t>θ</m:t>
                                </m:r>
                                <m:r>
                                  <m:rPr>
                                    <m:sty m:val="p"/>
                                  </m:rPr>
                                  <m:t>⋅</m:t>
                                </m:r>
                                <m:f>
                                  <m:fPr>
                                    <m:type m:val="bar"/>
                                  </m:fPr>
                                  <m:num>
                                    <m:r>
                                      <m:t>g</m:t>
                                    </m:r>
                                  </m:num>
                                  <m:den>
                                    <m:r>
                                      <m:rPr>
                                        <m:sty m:val="p"/>
                                      </m:rPr>
                                      <m:t>‖</m:t>
                                    </m:r>
                                    <m:r>
                                      <m:t>g</m:t>
                                    </m:r>
                                    <m:r>
                                      <m:rPr>
                                        <m:sty m:val="p"/>
                                      </m:rPr>
                                      <m:t>‖</m:t>
                                    </m:r>
                                  </m:den>
                                </m:f>
                              </m:e>
                              <m:e>
                                <m:r>
                                  <m:rPr>
                                    <m:nor/>
                                    <m:sty m:val="p"/>
                                  </m:rPr>
                                  <m:t>nếu </m:t>
                                </m:r>
                                <m:r>
                                  <m:rPr>
                                    <m:sty m:val="p"/>
                                  </m:rPr>
                                  <m:t>‖</m:t>
                                </m:r>
                                <m:r>
                                  <m:t>g</m:t>
                                </m:r>
                                <m:r>
                                  <m:rPr>
                                    <m:sty m:val="p"/>
                                  </m:rPr>
                                  <m:t>‖</m:t>
                                </m:r>
                                <m:r>
                                  <m:rPr>
                                    <m:sty m:val="p"/>
                                  </m:rPr>
                                  <m:t>&gt;</m:t>
                                </m:r>
                                <m:r>
                                  <m:t>θ</m:t>
                                </m:r>
                              </m:e>
                            </m:mr>
                          </m:m>
                        </m:e>
                      </m:d>
                    </m:oMath>
                  </m:oMathPara>
                </a14:m>
              </a:p>
              <a:p>
                <a:pPr lvl="0" indent="0" marL="0">
                  <a:buNone/>
                </a:pPr>
                <a:r>
                  <a:rPr b="1"/>
                  <a:t>Tại sao dùng Norm Clipping thay vì Value Clipping?</a:t>
                </a:r>
              </a:p>
              <a:p>
                <a:pPr lvl="0"/>
                <a:r>
                  <a:rPr b="1"/>
                  <a:t>Value Clipping (Cắt từng phần tử):</a:t>
                </a:r>
                <a:r>
                  <a:rPr/>
                  <a:t> Ép lẻ từng </a:t>
                </a:r>
                <a14:m>
                  <m:oMath xmlns:m="http://schemas.openxmlformats.org/officeDocument/2006/math">
                    <m:sSub>
                      <m:e>
                        <m:r>
                          <m:t>g</m:t>
                        </m:r>
                      </m:e>
                      <m:sub>
                        <m:r>
                          <m:t>i</m:t>
                        </m:r>
                      </m:sub>
                    </m:sSub>
                    <m:r>
                      <m:rPr>
                        <m:sty m:val="p"/>
                      </m:rPr>
                      <m:t>∈</m:t>
                    </m:r>
                    <m:r>
                      <m:rPr>
                        <m:sty m:val="p"/>
                      </m:rPr>
                      <m:t>[</m:t>
                    </m:r>
                    <m:r>
                      <m:rPr>
                        <m:sty m:val="p"/>
                      </m:rPr>
                      <m:t>−</m:t>
                    </m:r>
                    <m:r>
                      <m:t>θ</m:t>
                    </m:r>
                    <m:r>
                      <m:rPr>
                        <m:sty m:val="p"/>
                      </m:rPr>
                      <m:t>,</m:t>
                    </m:r>
                    <m:r>
                      <m:t>θ</m:t>
                    </m:r>
                    <m:r>
                      <m:rPr>
                        <m:sty m:val="p"/>
                      </m:rPr>
                      <m:t>]</m:t>
                    </m:r>
                  </m:oMath>
                </a14:m>
                <a:r>
                  <a:rPr/>
                  <a:t>. Việc này </a:t>
                </a:r>
                <a:r>
                  <a:rPr b="1"/>
                  <a:t>làm bóp méo hướng</a:t>
                </a:r>
                <a:r>
                  <a:rPr/>
                  <a:t> của gradient, khiến mô hình cập nhật sai hướng.</a:t>
                </a:r>
              </a:p>
              <a:p>
                <a:pPr lvl="0"/>
                <a:r>
                  <a:rPr b="1"/>
                  <a:t>Norm Clipping (Co giãn vector):</a:t>
                </a:r>
                <a:r>
                  <a:rPr/>
                  <a:t> Phép nhân vô hướng với tỷ lệ </a:t>
                </a:r>
                <a14:m>
                  <m:oMath xmlns:m="http://schemas.openxmlformats.org/officeDocument/2006/math">
                    <m:f>
                      <m:fPr>
                        <m:type m:val="bar"/>
                      </m:fPr>
                      <m:num>
                        <m:r>
                          <m:t>θ</m:t>
                        </m:r>
                      </m:num>
                      <m:den>
                        <m:r>
                          <m:rPr>
                            <m:sty m:val="p"/>
                          </m:rPr>
                          <m:t>‖</m:t>
                        </m:r>
                        <m:r>
                          <m:t>g</m:t>
                        </m:r>
                        <m:r>
                          <m:rPr>
                            <m:sty m:val="p"/>
                          </m:rPr>
                          <m:t>‖</m:t>
                        </m:r>
                      </m:den>
                    </m:f>
                  </m:oMath>
                </a14:m>
                <a:r>
                  <a:rPr/>
                  <a:t> giúp vector mới tuy ngắn lại nhưng </a:t>
                </a:r>
                <a:r>
                  <a:rPr b="1"/>
                  <a:t>bảo toàn tuyệt đối hướng đi nguyên thủy</a:t>
                </a:r>
                <a:r>
                  <a:rPr/>
                  <a:t> trong không gian đa chiều.</a:t>
                </a:r>
              </a:p>
              <a:p>
                <a:pPr lvl="0" indent="0" marL="0">
                  <a:buNone/>
                </a:pPr>
                <a:r>
                  <a:rPr i="1"/>
                  <a:t>*Lưu ý:</a:t>
                </a:r>
                <a:r>
                  <a:rPr/>
                  <a:t> Clipping chỉ chống Nổ đạo hàm, hoàn toàn vô dụng với Triệt tiêu đạo hàm.</a:t>
                </a:r>
              </a:p>
              <a:p>
                <a:pPr lvl="0" indent="0" marL="0">
                  <a:buNone/>
                </a:pPr>
                <a:r>
                  <a:rPr/>
                  <a:t>Tổng kết Điểm nghẽn của Simple RNN</a:t>
                </a:r>
              </a:p>
              <a:p>
                <a:pPr lvl="0" indent="0" marL="0">
                  <a:buNone/>
                </a:pPr>
                <a:r>
                  <a:rPr b="1"/>
                  <a:t>1. Không có Cơ chế Chọn lọc (Unselective Memory)</a:t>
                </a:r>
                <a:r>
                  <a:rPr/>
                  <a:t> Mọi bước thời gian đều bị nén qua một hàm </a:t>
                </a:r>
                <a14:m>
                  <m:oMath xmlns:m="http://schemas.openxmlformats.org/officeDocument/2006/math">
                    <m:r>
                      <m:rPr>
                        <m:sty m:val="p"/>
                      </m:rPr>
                      <m:t>tanh</m:t>
                    </m:r>
                  </m:oMath>
                </a14:m>
                <a:r>
                  <a:rPr/>
                  <a:t> duy nhất, thông tin quan trọng dễ bị thông tin rác làm loãng.</a:t>
                </a:r>
              </a:p>
              <a:p>
                <a:pPr lvl="0" indent="0" marL="0">
                  <a:buNone/>
                </a:pPr>
                <a:r>
                  <a:rPr b="1"/>
                  <a:t>2. Mất Trí nhớ Dài hạn (Short-term Memory Horizon)</a:t>
                </a:r>
                <a:r>
                  <a:rPr/>
                  <a:t> Do triệt tiêu gradient, RNN thực tế chỉ nhớ được từ 5 đến 10 bước thời gian gần nhất.</a:t>
                </a:r>
              </a:p>
              <a:p>
                <a:pPr lvl="0" indent="0" marL="0">
                  <a:buNone/>
                </a:pPr>
                <a:r>
                  <a:rPr b="1"/>
                  <a:t>3. Bắt buộc Tính toán Tuần tự (Sequential Bottleneck)</a:t>
                </a:r>
                <a:r>
                  <a:rPr/>
                  <a:t> </a:t>
                </a:r>
                <a14:m>
                  <m:oMath xmlns:m="http://schemas.openxmlformats.org/officeDocument/2006/math">
                    <m:sSub>
                      <m:e>
                        <m:r>
                          <m:t>s</m:t>
                        </m:r>
                      </m:e>
                      <m:sub>
                        <m:r>
                          <m:t>t</m:t>
                        </m:r>
                      </m:sub>
                    </m:sSub>
                  </m:oMath>
                </a14:m>
                <a:r>
                  <a:rPr/>
                  <a:t> chỉ tính được khi đã có </a:t>
                </a:r>
                <a14:m>
                  <m:oMath xmlns:m="http://schemas.openxmlformats.org/officeDocument/2006/math">
                    <m:sSub>
                      <m:e>
                        <m:r>
                          <m:t>s</m:t>
                        </m:r>
                      </m:e>
                      <m:sub>
                        <m:r>
                          <m:t>t</m:t>
                        </m:r>
                        <m:r>
                          <m:rPr>
                            <m:sty m:val="p"/>
                          </m:rPr>
                          <m:t>−</m:t>
                        </m:r>
                        <m:r>
                          <m:t>1</m:t>
                        </m:r>
                      </m:sub>
                    </m:sSub>
                    <m:r>
                      <m:rPr>
                        <m:sty m:val="p"/>
                      </m:rPr>
                      <m:t>→</m:t>
                    </m:r>
                  </m:oMath>
                </a14:m>
                <a:r>
                  <a:rPr/>
                  <a:t> KHÔNG THỂ SONG SONG HÓA trên GPU như Transformer hay CNN.</a:t>
                </a:r>
              </a:p>
              <a:p>
                <a:pPr lvl="0" indent="0" marL="0">
                  <a:buNone/>
                </a:pPr>
                <a:r>
                  <a:rPr/>
                  <a:t>Thiết lập Thực nghiệm Chuỗi Tài chính </a:t>
                </a:r>
                <a:r>
                  <a:rPr i="1"/>
                  <a:t>Kiểm chứng hiệu năng của RNN trên 2 tập dữ liệu thực tế lớn từ Kaggle:</a:t>
                </a:r>
              </a:p>
              <a:p>
                <a:pPr lvl="0"/>
                <a:r>
                  <a:rPr b="1"/>
                  <a:t>Tập 1:</a:t>
                </a:r>
                <a:r>
                  <a:rPr/>
                  <a:t> Chuỗi giá vàng &amp; bạc hàng ngày (Gold &amp; Silver daily prices, 1968–2021).</a:t>
                </a:r>
              </a:p>
              <a:p>
                <a:pPr lvl="0"/>
                <a:r>
                  <a:rPr b="1"/>
                  <a:t>Tập 2:</a:t>
                </a:r>
                <a:r>
                  <a:rPr/>
                  <a:t> Chuỗi biến động giá &amp; khối lượng cổ phiếu Amazon (AMZN, 1997–2023).</a:t>
                </a:r>
              </a:p>
              <a:p>
                <a:pPr lvl="0" indent="0" marL="0">
                  <a:buNone/>
                </a:pPr>
                <a:r>
                  <a:rPr b="1"/>
                  <a:t>Cấu hình Thực nghiệm</a:t>
                </a:r>
              </a:p>
              <a:p>
                <a:pPr lvl="0"/>
                <a:r>
                  <a:rPr b="1"/>
                  <a:t>Cửa sổ trượt:</a:t>
                </a:r>
                <a:r>
                  <a:rPr/>
                  <a:t> 30 ngày lịch sử (</a:t>
                </a:r>
                <a14:m>
                  <m:oMath xmlns:m="http://schemas.openxmlformats.org/officeDocument/2006/math">
                    <m:r>
                      <m:t>L</m:t>
                    </m:r>
                    <m:r>
                      <m:rPr>
                        <m:sty m:val="p"/>
                      </m:rPr>
                      <m:t>=</m:t>
                    </m:r>
                    <m:r>
                      <m:t>30</m:t>
                    </m:r>
                  </m:oMath>
                </a14:m>
                <a:r>
                  <a:rPr/>
                  <a:t>) để dự đoán bước tiếp theo (</a:t>
                </a:r>
                <a14:m>
                  <m:oMath xmlns:m="http://schemas.openxmlformats.org/officeDocument/2006/math">
                    <m:r>
                      <m:t>t</m:t>
                    </m:r>
                    <m:r>
                      <m:rPr>
                        <m:sty m:val="p"/>
                      </m:rPr>
                      <m:t>+</m:t>
                    </m:r>
                    <m:r>
                      <m:t>1</m:t>
                    </m:r>
                  </m:oMath>
                </a14:m>
                <a:r>
                  <a:rPr/>
                  <a:t>).</a:t>
                </a:r>
              </a:p>
              <a:p>
                <a:pPr lvl="0"/>
                <a:r>
                  <a:rPr b="1"/>
                  <a:t>Baseline đối chứng:</a:t>
                </a:r>
                <a:r>
                  <a:rPr/>
                  <a:t> Phương pháp Naive / Persistence (</a:t>
                </a:r>
                <a14:m>
                  <m:oMath xmlns:m="http://schemas.openxmlformats.org/officeDocument/2006/math">
                    <m:sSub>
                      <m:e>
                        <m:acc>
                          <m:accPr>
                            <m:chr m:val="̂"/>
                          </m:accPr>
                          <m:e>
                            <m:r>
                              <m:t>y</m:t>
                            </m:r>
                          </m:e>
                        </m:acc>
                      </m:e>
                      <m:sub>
                        <m:r>
                          <m:t>t</m:t>
                        </m:r>
                        <m:r>
                          <m:rPr>
                            <m:sty m:val="p"/>
                          </m:rPr>
                          <m:t>+</m:t>
                        </m:r>
                        <m:r>
                          <m:t>1</m:t>
                        </m:r>
                      </m:sub>
                    </m:sSub>
                    <m:r>
                      <m:rPr>
                        <m:sty m:val="p"/>
                      </m:rPr>
                      <m:t>=</m:t>
                    </m:r>
                    <m:sSub>
                      <m:e>
                        <m:r>
                          <m:t>y</m:t>
                        </m:r>
                      </m:e>
                      <m:sub>
                        <m:r>
                          <m:t>t</m:t>
                        </m:r>
                      </m:sub>
                    </m:sSub>
                  </m:oMath>
                </a14:m>
                <a:r>
                  <a:rPr/>
                  <a:t> — Lấy giá hôm nay đoán cho ngày mai).</a:t>
                </a:r>
              </a:p>
              <a:p>
                <a:pPr lvl="0" indent="0" marL="0">
                  <a:buNone/>
                </a:pPr>
                <a:r>
                  <a:rPr/>
                  <a:t>Kết quả Thực nghiệm &amp; Hiện tượng Nghịch lý Bảng so sánh độ lệch sai số căn quân phương (RMSE trên tập Test):</a:t>
                </a:r>
              </a:p>
              <a:p>
                <a:pPr lvl="0" indent="0" marL="0">
                  <a:buNone/>
                </a:pPr>
                <a:r>
                  <a:rPr b="1"/>
                  <a:t>Nghịch lý Quan sát</a:t>
                </a:r>
                <a:r>
                  <a:rPr/>
                  <a:t> Một mạng nơ-ron học sâu phức tạp huấn luyện hàng chục epoch kết quả lại chỉ tương đương, thậm chí kém hơn cả một thuật toán "lười biếng" lấy giá hôm trước làm dự đoán!</a:t>
                </a:r>
              </a:p>
              <a:p>
                <a:pPr lvl="0" indent="0" marL="0">
                  <a:buNone/>
                </a:pPr>
                <a:r>
                  <a:rPr/>
                  <a:t>Bản chất Thất bại: Dịch chuyển Phân phối (Distribution Shift) Tại sao Simple RNN lại thất bại ở bài toán dự báo giá kim loại?</a:t>
                </a:r>
              </a:p>
              <a:p>
                <a:pPr lvl="0" indent="0" marL="0">
                  <a:buNone/>
                </a:pPr>
                <a:r>
                  <a:rPr b="1"/>
                  <a:t>Phân phối Dữ liệu Train vs Test</a:t>
                </a:r>
              </a:p>
              <a:p>
                <a:pPr lvl="0"/>
                <a:r>
                  <a:rPr b="1"/>
                  <a:t>Tập Train:</a:t>
                </a:r>
                <a:r>
                  <a:rPr/>
                  <a:t> Giá cao nhất = </a:t>
                </a:r>
                <a14:m>
                  <m:oMath xmlns:m="http://schemas.openxmlformats.org/officeDocument/2006/math">
                    <m:r>
                      <m:t>850.00</m:t>
                    </m:r>
                  </m:oMath>
                </a14:m>
                <a:r>
                  <a:rPr/>
                  <a:t> USD (ĐÃ ĐƯỢC HỌC - Nội suy tốt)</a:t>
                </a:r>
              </a:p>
              <a:p>
                <a:pPr lvl="0"/>
                <a:r>
                  <a:rPr b="1"/>
                  <a:t>Tập Test:</a:t>
                </a:r>
                <a:r>
                  <a:rPr/>
                  <a:t> Giá thấp nhất = </a:t>
                </a:r>
                <a14:m>
                  <m:oMath xmlns:m="http://schemas.openxmlformats.org/officeDocument/2006/math">
                    <m:r>
                      <m:t>1</m:t>
                    </m:r>
                    <m:r>
                      <m:rPr>
                        <m:sty m:val="p"/>
                      </m:rPr>
                      <m:t>,</m:t>
                    </m:r>
                    <m:r>
                      <m:t>049.40</m:t>
                    </m:r>
                  </m:oMath>
                </a14:m>
                <a:r>
                  <a:rPr/>
                  <a:t> USD (CHƯA GẶP BAO GIỜ - Ngoại suy bất lực)</a:t>
                </a:r>
              </a:p>
              <a:p>
                <a:pPr lvl="0"/>
                <a14:m>
                  <m:oMath xmlns:m="http://schemas.openxmlformats.org/officeDocument/2006/math">
                    <m:r>
                      <m:rPr>
                        <m:sty m:val="p"/>
                      </m:rPr>
                      <m:t>→</m:t>
                    </m:r>
                  </m:oMath>
                </a14:m>
                <a:r>
                  <a:rPr/>
                  <a:t> 100</a:t>
                </a:r>
              </a:p>
              <a:p>
                <a:pPr lvl="0" indent="0" marL="0">
                  <a:buNone/>
                </a:pPr>
                <a:r>
                  <a:rPr b="1"/>
                  <a:t>Bài học &amp; Giải pháp khắc phục</a:t>
                </a:r>
              </a:p>
              <a:p>
                <a:pPr lvl="0"/>
                <a:r>
                  <a:rPr/>
                  <a:t>Mạng nơ-ron không thể ngoại suy trên vùng số liệu mới.</a:t>
                </a:r>
              </a:p>
              <a:p>
                <a:pPr lvl="0"/>
                <a:r>
                  <a:rPr b="1"/>
                  <a:t>Giải pháp:</a:t>
                </a:r>
                <a:r>
                  <a:rPr/>
                  <a:t> Không dự đoán mức giá tuyệt đối, phải chuyển thành tỷ suất sinh lời dừng (</a:t>
                </a:r>
                <a:r>
                  <a:rPr b="1"/>
                  <a:t>Log-return</a:t>
                </a:r>
                <a:r>
                  <a:rPr/>
                  <a:t>): </a:t>
                </a:r>
                <a14:m>
                  <m:oMath xmlns:m="http://schemas.openxmlformats.org/officeDocument/2006/math">
                    <m:sSub>
                      <m:e>
                        <m:r>
                          <m:t>r</m:t>
                        </m:r>
                      </m:e>
                      <m:sub>
                        <m:r>
                          <m:t>t</m:t>
                        </m:r>
                      </m:sub>
                    </m:sSub>
                    <m:r>
                      <m:rPr>
                        <m:sty m:val="p"/>
                      </m:rPr>
                      <m:t>=</m:t>
                    </m:r>
                    <m:r>
                      <m:rPr>
                        <m:sty m:val="p"/>
                      </m:rPr>
                      <m:t>ln</m:t>
                    </m:r>
                    <m:r>
                      <m:rPr>
                        <m:sty m:val="p"/>
                      </m:rPr>
                      <m:t>(</m:t>
                    </m:r>
                    <m:sSub>
                      <m:e>
                        <m:r>
                          <m:t>P</m:t>
                        </m:r>
                      </m:e>
                      <m:sub>
                        <m:r>
                          <m:t>t</m:t>
                        </m:r>
                      </m:sub>
                    </m:sSub>
                    <m:r>
                      <m:rPr>
                        <m:sty m:val="p"/>
                      </m:rPr>
                      <m:t>/</m:t>
                    </m:r>
                    <m:sSub>
                      <m:e>
                        <m:r>
                          <m:t>P</m:t>
                        </m:r>
                      </m:e>
                      <m:sub>
                        <m:r>
                          <m:t>t</m:t>
                        </m:r>
                        <m:r>
                          <m:rPr>
                            <m:sty m:val="p"/>
                          </m:rPr>
                          <m:t>−</m:t>
                        </m:r>
                        <m:r>
                          <m:t>1</m:t>
                        </m:r>
                      </m:sub>
                    </m:sSub>
                    <m:r>
                      <m:rPr>
                        <m:sty m:val="p"/>
                      </m:rPr>
                      <m:t>)</m:t>
                    </m:r>
                  </m:oMath>
                </a14:m>
                <a:r>
                  <a:rPr/>
                  <a:t>.</a:t>
                </a:r>
              </a:p>
              <a:p>
                <a:pPr lvl="0" indent="0" marL="0">
                  <a:buNone/>
                </a:pPr>
                <a:r>
                  <a:rPr/>
                  <a:t>Từ RNN đến BiRNN: Mở rộng theo hai hướng</a:t>
                </a:r>
              </a:p>
              <a:p>
                <a:pPr lvl="0" indent="0" marL="0">
                  <a:buNone/>
                </a:pPr>
                <a:r>
                  <a:rPr/>
                  <a:t>0.52</a:t>
                </a:r>
              </a:p>
              <a:p>
                <a:pPr lvl="0" indent="0" marL="0">
                  <a:buNone/>
                </a:pPr>
                <a:r>
                  <a:rPr/>
                  <a:t>Điểm khác so với RNN một chiều RNN thường chỉ truyền thông tin thuận: </a:t>
                </a:r>
                <a14:m>
                  <m:oMath xmlns:m="http://schemas.openxmlformats.org/officeDocument/2006/math">
                    <m:acc>
                      <m:accPr>
                        <m:chr m:val="⃗"/>
                      </m:accPr>
                      <m:e>
                        <m:sSub>
                          <m:e>
                            <m:r>
                              <m:t>h</m:t>
                            </m:r>
                          </m:e>
                          <m:sub>
                            <m:r>
                              <m:t>t</m:t>
                            </m:r>
                          </m:sub>
                        </m:sSub>
                      </m:e>
                    </m:acc>
                    <m:r>
                      <m:rPr>
                        <m:sty m:val="p"/>
                      </m:rPr>
                      <m:t>=</m:t>
                    </m:r>
                    <m:r>
                      <m:t>f</m:t>
                    </m:r>
                    <m:r>
                      <m:rPr>
                        <m:sty m:val="p"/>
                      </m:rPr>
                      <m:t>(</m:t>
                    </m:r>
                    <m:sSub>
                      <m:e>
                        <m:r>
                          <m:t>x</m:t>
                        </m:r>
                      </m:e>
                      <m:sub>
                        <m:r>
                          <m:t>t</m:t>
                        </m:r>
                      </m:sub>
                    </m:sSub>
                    <m:r>
                      <m:rPr>
                        <m:sty m:val="p"/>
                      </m:rPr>
                      <m:t>,</m:t>
                    </m:r>
                    <m:acc>
                      <m:accPr>
                        <m:chr m:val="⃗"/>
                      </m:accPr>
                      <m:e>
                        <m:sSub>
                          <m:e>
                            <m:r>
                              <m:t>h</m:t>
                            </m:r>
                          </m:e>
                          <m:sub>
                            <m:r>
                              <m:t>t</m:t>
                            </m:r>
                            <m:r>
                              <m:rPr>
                                <m:sty m:val="p"/>
                              </m:rPr>
                              <m:t>−</m:t>
                            </m:r>
                            <m:r>
                              <m:t>1</m:t>
                            </m:r>
                          </m:sub>
                        </m:sSub>
                      </m:e>
                    </m:acc>
                    <m:r>
                      <m:rPr>
                        <m:sty m:val="p"/>
                      </m:rPr>
                      <m:t>)</m:t>
                    </m:r>
                  </m:oMath>
                </a14:m>
                <a:r>
                  <a:rPr/>
                  <a:t>.</a:t>
                </a:r>
              </a:p>
              <a:p>
                <a:pPr lvl="0" indent="0" marL="0">
                  <a:buNone/>
                </a:pPr>
                <a:r>
                  <a:rPr/>
                  <a:t>BiRNN thêm nhánh ngược: </a:t>
                </a:r>
                <a14:m>
                  <m:oMath xmlns:m="http://schemas.openxmlformats.org/officeDocument/2006/math">
                    <m:acc>
                      <m:accPr>
                        <m:chr m:val="⃖"/>
                      </m:accPr>
                      <m:e>
                        <m:sSub>
                          <m:e>
                            <m:r>
                              <m:t>h</m:t>
                            </m:r>
                          </m:e>
                          <m:sub>
                            <m:r>
                              <m:t>t</m:t>
                            </m:r>
                          </m:sub>
                        </m:sSub>
                      </m:e>
                    </m:acc>
                    <m:r>
                      <m:rPr>
                        <m:sty m:val="p"/>
                      </m:rPr>
                      <m:t>=</m:t>
                    </m:r>
                    <m:r>
                      <m:t>f</m:t>
                    </m:r>
                    <m:r>
                      <m:rPr>
                        <m:sty m:val="p"/>
                      </m:rPr>
                      <m:t>(</m:t>
                    </m:r>
                    <m:sSub>
                      <m:e>
                        <m:r>
                          <m:t>x</m:t>
                        </m:r>
                      </m:e>
                      <m:sub>
                        <m:r>
                          <m:t>t</m:t>
                        </m:r>
                      </m:sub>
                    </m:sSub>
                    <m:r>
                      <m:rPr>
                        <m:sty m:val="p"/>
                      </m:rPr>
                      <m:t>,</m:t>
                    </m:r>
                    <m:acc>
                      <m:accPr>
                        <m:chr m:val="⃖"/>
                      </m:accPr>
                      <m:e>
                        <m:sSub>
                          <m:e>
                            <m:r>
                              <m:t>h</m:t>
                            </m:r>
                          </m:e>
                          <m:sub>
                            <m:r>
                              <m:t>t</m:t>
                            </m:r>
                            <m:r>
                              <m:rPr>
                                <m:sty m:val="p"/>
                              </m:rPr>
                              <m:t>+</m:t>
                            </m:r>
                            <m:r>
                              <m:t>1</m:t>
                            </m:r>
                          </m:sub>
                        </m:sSub>
                      </m:e>
                    </m:acc>
                    <m:r>
                      <m:rPr>
                        <m:sty m:val="p"/>
                      </m:rPr>
                      <m:t>)</m:t>
                    </m:r>
                  </m:oMath>
                </a14:m>
                <a:r>
                  <a:rPr/>
                  <a:t>, sau đó ghép hai trạng thái:</a:t>
                </a:r>
              </a:p>
              <a:p>
                <a:pPr lvl="0" indent="0" marL="0">
                  <a:buNone/>
                </a:pPr>
                <a14:m>
                  <m:oMathPara xmlns:m="http://schemas.openxmlformats.org/officeDocument/2006/math">
                    <m:oMathParaPr>
                      <m:jc m:val="center"/>
                    </m:oMathParaPr>
                    <m:oMath>
                      <m:sSub>
                        <m:e>
                          <m:r>
                            <m:t>h</m:t>
                          </m:r>
                        </m:e>
                        <m:sub>
                          <m:r>
                            <m:t>t</m:t>
                          </m:r>
                        </m:sub>
                      </m:sSub>
                      <m:r>
                        <m:rPr>
                          <m:sty m:val="p"/>
                        </m:rPr>
                        <m:t>=</m:t>
                      </m:r>
                      <m:r>
                        <m:rPr>
                          <m:sty m:val="p"/>
                        </m:rPr>
                        <m:t>[</m:t>
                      </m:r>
                      <m:acc>
                        <m:accPr>
                          <m:chr m:val="⃗"/>
                        </m:accPr>
                        <m:e>
                          <m:sSub>
                            <m:e>
                              <m:r>
                                <m:t>h</m:t>
                              </m:r>
                            </m:e>
                            <m:sub>
                              <m:r>
                                <m:t>t</m:t>
                              </m:r>
                            </m:sub>
                          </m:sSub>
                        </m:e>
                      </m:acc>
                      <m:r>
                        <m:t> </m:t>
                      </m:r>
                      <m:r>
                        <m:rPr>
                          <m:sty m:val="p"/>
                        </m:rPr>
                        <m:t>;</m:t>
                      </m:r>
                      <m:r>
                        <m:t> </m:t>
                      </m:r>
                      <m:acc>
                        <m:accPr>
                          <m:chr m:val="⃖"/>
                        </m:accPr>
                        <m:e>
                          <m:sSub>
                            <m:e>
                              <m:r>
                                <m:t>h</m:t>
                              </m:r>
                            </m:e>
                            <m:sub>
                              <m:r>
                                <m:t>t</m:t>
                              </m:r>
                            </m:sub>
                          </m:sSub>
                        </m:e>
                      </m:acc>
                      <m:r>
                        <m:rPr>
                          <m:sty m:val="p"/>
                        </m:rPr>
                        <m:t>]</m:t>
                      </m:r>
                    </m:oMath>
                  </m:oMathPara>
                </a14:m>
              </a:p>
              <a:p>
                <a:pPr lvl="0" indent="0" marL="0">
                  <a:buNone/>
                </a:pPr>
                <a:r>
                  <a:rPr/>
                  <a:t>Lợi thế chính Mỗi vị trí nhận ngữ cảnh từ cả đầu và cuối của </a:t>
                </a:r>
                <a:r>
                  <a:rPr b="1"/>
                  <a:t>cửa sổ đầu vào</a:t>
                </a:r>
                <a:r>
                  <a:rPr/>
                  <a:t>; biểu diễn giàu thông tin hơn RNN một chiều.</a:t>
                </a:r>
              </a:p>
              <a:p>
                <a:pPr lvl="0" indent="0" marL="0">
                  <a:buNone/>
                </a:pPr>
                <a:r>
                  <a:rPr/>
                  <a:t>0.44</a:t>
                </a:r>
              </a:p>
              <a:p>
                <a:pPr lvl="0" indent="0" marL="0">
                  <a:buNone/>
                </a:pPr>
                <a:r>
                  <a:rPr/>
                  <a:t>Hai hướng chỉ hoạt động trong cửa sổ dữ liệu đã biết.</a:t>
                </a:r>
              </a:p>
              <a:p>
                <a:pPr lvl="0" indent="0" marL="0">
                  <a:buNone/>
                </a:pPr>
                <a:r>
                  <a:rPr/>
                  <a:t>BiRNN với giá vàng: Windowing và dự đoán ngày kế tiếp</a:t>
                </a:r>
              </a:p>
              <a:p>
                <a:pPr lvl="0" indent="0" marL="0">
                  <a:buNone/>
                </a:pPr>
                <a:r>
                  <a:rPr/>
                  <a:t>1. Windowing: tạo các cặp đầu vào–nhãn</a:t>
                </a:r>
              </a:p>
              <a:p>
                <a:pPr lvl="0" indent="0" marL="0">
                  <a:buNone/>
                </a:pPr>
                <a:r>
                  <a:rPr/>
                  <a:t>2. Một cửa sổ được đọc theo hai hướng</a:t>
                </a:r>
              </a:p>
              <a:p>
                <a:pPr lvl="0" indent="0" marL="0">
                  <a:buNone/>
                </a:pPr>
                <a:r>
                  <a:rPr/>
                  <a:t>BiRNN hồi quy: từ tensor đến giá dự đoán</a:t>
                </a:r>
              </a:p>
              <a:p>
                <a:pPr lvl="0" indent="0" marL="0">
                  <a:buNone/>
                </a:pPr>
                <a:r>
                  <a:rPr/>
                  <a:t>0.59</a:t>
                </a:r>
              </a:p>
              <a:p>
                <a:pPr lvl="0" indent="0" marL="0">
                  <a:buNone/>
                </a:pPr>
                <a:r>
                  <a:rPr/>
                  <a:t>Code PyTorch cốt lõi</a:t>
                </a:r>
              </a:p>
              <a:p>
                <a:pPr lvl="0" indent="0">
                  <a:buNone/>
                </a:pPr>
                <a:r>
                  <a:rPr>
                    <a:latin typeface="Courier"/>
                  </a:rPr>
                  <a:t>import torch
import torch.nn as nn
birnn = nn.RNN(1, 32, batch_first=True,
               bidirectional=True)
head = nn.Linear(2 * 32, 1)
X_batch = torch.tensor(X[:32], dtype=torch.float32)  # [32, 30, 1]
_, h = birnn(X_batch)                                # [2, 32, 32]
h = torch.cat([h[0], h[1]], dim=1)                  # [32, 64]
y_hat = head(h)                                     # [32, 1]</a:t>
                </a:r>
              </a:p>
              <a:p>
                <a:pPr lvl="0" indent="0" marL="0">
                  <a:buNone/>
                </a:pPr>
                <a:r>
                  <a:rPr/>
                  <a:t>0.37</a:t>
                </a:r>
              </a:p>
              <a:p>
                <a:pPr lvl="0" indent="0" marL="0">
                  <a:buNone/>
                </a:pPr>
                <a:r>
                  <a:rPr/>
                  <a:t>Đọc các kích thước </a:t>
                </a:r>
                <a:r>
                  <a:rPr>
                    <a:latin typeface="Courier"/>
                  </a:rPr>
                  <a:t>[32, 30, 1]</a:t>
                </a:r>
                <a:r>
                  <a:rPr/>
                  <a:t>: 32 cửa sổ, 30 ngày, 1 giá trị/ngày.</a:t>
                </a:r>
                <a:br/>
                <a:r>
                  <a:rPr>
                    <a:latin typeface="Courier"/>
                  </a:rPr>
                  <a:t>[2, 32, 32]</a:t>
                </a:r>
                <a:r>
                  <a:rPr/>
                  <a:t>: 2 hướng, 32 mẫu, 32 trạng thái.</a:t>
                </a:r>
                <a:br/>
                <a:r>
                  <a:rPr/>
                  <a:t>Ghép hai hướng: </a:t>
                </a:r>
                <a14:m>
                  <m:oMath xmlns:m="http://schemas.openxmlformats.org/officeDocument/2006/math">
                    <m:r>
                      <m:t>32</m:t>
                    </m:r>
                    <m:r>
                      <m:rPr>
                        <m:sty m:val="p"/>
                      </m:rPr>
                      <m:t>+</m:t>
                    </m:r>
                    <m:r>
                      <m:t>32</m:t>
                    </m:r>
                    <m:r>
                      <m:rPr>
                        <m:sty m:val="p"/>
                      </m:rPr>
                      <m:t>=</m:t>
                    </m:r>
                    <m:r>
                      <m:t>64</m:t>
                    </m:r>
                  </m:oMath>
                </a14:m>
                <a:r>
                  <a:rPr/>
                  <a:t>.</a:t>
                </a:r>
                <a:br/>
                <a:r>
                  <a:rPr/>
                  <a:t>Đầu ra </a:t>
                </a:r>
                <a:r>
                  <a:rPr>
                    <a:latin typeface="Courier"/>
                  </a:rPr>
                  <a:t>[32, 1]</a:t>
                </a:r>
                <a:r>
                  <a:rPr/>
                  <a:t>: mỗi cửa sổ cho một giá dự đoán.</a:t>
                </a:r>
              </a:p>
              <a:p>
                <a:pPr lvl="0" indent="0" marL="0">
                  <a:buNone/>
                </a:pPr>
                <a:r>
                  <a:rPr/>
                  <a:t>Hồi quy giá vàng Đầu ra là một số thực </a:t>
                </a:r>
                <a14:m>
                  <m:oMath xmlns:m="http://schemas.openxmlformats.org/officeDocument/2006/math">
                    <m:sSub>
                      <m:e>
                        <m:acc>
                          <m:accPr>
                            <m:chr m:val="̂"/>
                          </m:accPr>
                          <m:e>
                            <m:r>
                              <m:t>P</m:t>
                            </m:r>
                          </m:e>
                        </m:acc>
                      </m:e>
                      <m:sub>
                        <m:r>
                          <m:t>t</m:t>
                        </m:r>
                        <m:r>
                          <m:rPr>
                            <m:sty m:val="p"/>
                          </m:rPr>
                          <m:t>+</m:t>
                        </m:r>
                        <m:r>
                          <m:t>1</m:t>
                        </m:r>
                      </m:sub>
                    </m:sSub>
                  </m:oMath>
                </a14:m>
                <a:r>
                  <a:rPr/>
                  <a:t>, nên thường dùng MSE hoặc MAE làm loss.</a:t>
                </a:r>
              </a:p>
              <a:p>
                <a:pPr lvl="0" indent="0" marL="0">
                  <a:buNone/>
                </a:pPr>
                <a:r>
                  <a:rPr/>
                  <a:t>Điều kiện không lộ dữ liệu tương lai BiRNN chỉ đọc cửa sổ </a:t>
                </a:r>
                <a14:m>
                  <m:oMath xmlns:m="http://schemas.openxmlformats.org/officeDocument/2006/math">
                    <m:r>
                      <m:rPr>
                        <m:sty m:val="p"/>
                      </m:rPr>
                      <m:t>[</m:t>
                    </m:r>
                    <m:sSub>
                      <m:e>
                        <m:r>
                          <m:t>P</m:t>
                        </m:r>
                      </m:e>
                      <m:sub>
                        <m:r>
                          <m:t>t</m:t>
                        </m:r>
                        <m:r>
                          <m:rPr>
                            <m:sty m:val="p"/>
                          </m:rPr>
                          <m:t>−</m:t>
                        </m:r>
                        <m:r>
                          <m:t>29</m:t>
                        </m:r>
                      </m:sub>
                    </m:sSub>
                    <m:r>
                      <m:rPr>
                        <m:sty m:val="p"/>
                      </m:rPr>
                      <m:t>,</m:t>
                    </m:r>
                    <m:r>
                      <m:rPr>
                        <m:sty m:val="p"/>
                      </m:rPr>
                      <m:t>…</m:t>
                    </m:r>
                    <m:r>
                      <m:rPr>
                        <m:sty m:val="p"/>
                      </m:rPr>
                      <m:t>,</m:t>
                    </m:r>
                    <m:sSub>
                      <m:e>
                        <m:r>
                          <m:t>P</m:t>
                        </m:r>
                      </m:e>
                      <m:sub>
                        <m:r>
                          <m:t>t</m:t>
                        </m:r>
                      </m:sub>
                    </m:sSub>
                    <m:r>
                      <m:rPr>
                        <m:sty m:val="p"/>
                      </m:rPr>
                      <m:t>]</m:t>
                    </m:r>
                  </m:oMath>
                </a14:m>
                <a:r>
                  <a:rPr/>
                  <a:t>; giá mục tiêu </a:t>
                </a:r>
                <a14:m>
                  <m:oMath xmlns:m="http://schemas.openxmlformats.org/officeDocument/2006/math">
                    <m:sSub>
                      <m:e>
                        <m:r>
                          <m:t>P</m:t>
                        </m:r>
                      </m:e>
                      <m:sub>
                        <m:r>
                          <m:t>t</m:t>
                        </m:r>
                        <m:r>
                          <m:rPr>
                            <m:sty m:val="p"/>
                          </m:rPr>
                          <m:t>+</m:t>
                        </m:r>
                        <m:r>
                          <m:t>1</m:t>
                        </m:r>
                      </m:sub>
                    </m:sSub>
                  </m:oMath>
                </a14:m>
                <a:r>
                  <a:rPr/>
                  <a:t> chỉ dùng để tính loss, không đưa vào </a:t>
                </a:r>
                <a:r>
                  <a:rPr>
                    <a:latin typeface="Courier"/>
                  </a:rPr>
                  <a:t>X_batch</a:t>
                </a:r>
                <a:r>
                  <a:rPr/>
                  <a:t>.</a:t>
                </a:r>
              </a:p>
              <a:p>
                <a:pPr lvl="0" indent="0" marL="0">
                  <a:buNone/>
                </a:pPr>
                <a:r>
                  <a:rPr/>
                  <a:t>BiRNN trong gán nhãn chuỗi: khai thác ngữ cảnh hai phía</a:t>
                </a:r>
              </a:p>
              <a:p>
                <a:pPr lvl="0" indent="0" marL="0">
                  <a:buNone/>
                </a:pPr>
                <a:r>
                  <a:rPr/>
                  <a:t>Bài toán phù hợp BiRNN phù hợp với các nhiệm vụ xử lý </a:t>
                </a:r>
                <a:r>
                  <a:rPr b="1"/>
                  <a:t>toàn bộ chuỗi đã có sẵn</a:t>
                </a:r>
                <a:r>
                  <a:rPr/>
                  <a:t>, trong đó mỗi token cần một nhãn riêng và nhãn đó phụ thuộc cả phần bên trái lẫn bên phải. Ví dụ: nhận dạng thực thể (NER) hoặc gán nhãn từ loại (POS tagging).</a:t>
                </a:r>
              </a:p>
              <a:p>
                <a:pPr lvl="0" indent="0" marL="0">
                  <a:buNone/>
                </a:pPr>
                <a:r>
                  <a:rPr/>
                  <a:t>0.59</a:t>
                </a:r>
              </a:p>
              <a:p>
                <a:pPr lvl="0" indent="0" marL="0">
                  <a:buNone/>
                </a:pPr>
                <a:r>
                  <a:rPr/>
                  <a:t>Ví dụ: nhận dạng thực thể (NER)</a:t>
                </a:r>
              </a:p>
              <a:p>
                <a:pPr lvl="0" indent="0" marL="0">
                  <a:buNone/>
                </a:pPr>
                <a:r>
                  <a:rPr/>
                  <a:t>Với token “Apple”, ngữ cảnh bên phải “released a new iPhone” giúp mô hình hiểu đây là một </a:t>
                </a:r>
                <a:r>
                  <a:rPr b="1"/>
                  <a:t>tổ chức</a:t>
                </a:r>
                <a:r>
                  <a:rPr/>
                  <a:t>, không phải một loại quả.</a:t>
                </a:r>
              </a:p>
              <a:p>
                <a:pPr lvl="0" indent="0" marL="0">
                  <a:buNone/>
                </a:pPr>
                <a:r>
                  <a:rPr/>
                  <a:t>0.39</a:t>
                </a:r>
              </a:p>
              <a:p>
                <a:pPr lvl="0" indent="0" marL="0">
                  <a:buNone/>
                </a:pPr>
                <a:r>
                  <a:rPr/>
                  <a:t>BiRNN tạo nhãn như thế nào?</a:t>
                </a:r>
              </a:p>
              <a:p>
                <a:pPr lvl="0" indent="0" marL="0">
                  <a:buNone/>
                </a:pPr>
                <a14:m>
                  <m:oMathPara xmlns:m="http://schemas.openxmlformats.org/officeDocument/2006/math">
                    <m:oMathParaPr>
                      <m:jc m:val="center"/>
                    </m:oMathParaPr>
                    <m:oMath>
                      <m:eqArr>
                        <m:e>
                          <m:sSub>
                            <m:e>
                              <m:acc>
                                <m:accPr>
                                  <m:chr m:val="⃗"/>
                                </m:accPr>
                                <m:e>
                                  <m:r>
                                    <m:t>h</m:t>
                                  </m:r>
                                </m:e>
                              </m:acc>
                            </m:e>
                            <m:sub>
                              <m:r>
                                <m:t>t</m:t>
                              </m:r>
                            </m:sub>
                          </m:sSub>
                          <m:r>
                            <m:t>&amp;</m:t>
                          </m:r>
                          <m:r>
                            <m:rPr>
                              <m:sty m:val="p"/>
                            </m:rPr>
                            <m:t>=</m:t>
                          </m:r>
                          <m:r>
                            <m:t>f</m:t>
                          </m:r>
                          <m:r>
                            <m:rPr>
                              <m:sty m:val="p"/>
                            </m:rPr>
                            <m:t>(</m:t>
                          </m:r>
                          <m:sSub>
                            <m:e>
                              <m:r>
                                <m:t>x</m:t>
                              </m:r>
                            </m:e>
                            <m:sub>
                              <m:r>
                                <m:t>t</m:t>
                              </m:r>
                            </m:sub>
                          </m:sSub>
                          <m:r>
                            <m:rPr>
                              <m:sty m:val="p"/>
                            </m:rPr>
                            <m:t>,</m:t>
                          </m:r>
                          <m:sSub>
                            <m:e>
                              <m:acc>
                                <m:accPr>
                                  <m:chr m:val="⃗"/>
                                </m:accPr>
                                <m:e>
                                  <m:r>
                                    <m:t>h</m:t>
                                  </m:r>
                                </m:e>
                              </m:acc>
                            </m:e>
                            <m:sub>
                              <m:r>
                                <m:t>t</m:t>
                              </m:r>
                              <m:r>
                                <m:rPr>
                                  <m:sty m:val="p"/>
                                </m:rPr>
                                <m:t>−</m:t>
                              </m:r>
                              <m:r>
                                <m:t>1</m:t>
                              </m:r>
                            </m:sub>
                          </m:sSub>
                          <m:r>
                            <m:rPr>
                              <m:sty m:val="p"/>
                            </m:rPr>
                            <m:t>)</m:t>
                          </m:r>
                        </m:e>
                        <m:e>
                          <m:sSub>
                            <m:e>
                              <m:acc>
                                <m:accPr>
                                  <m:chr m:val="⃖"/>
                                </m:accPr>
                                <m:e>
                                  <m:r>
                                    <m:t>h</m:t>
                                  </m:r>
                                </m:e>
                              </m:acc>
                            </m:e>
                            <m:sub>
                              <m:r>
                                <m:t>t</m:t>
                              </m:r>
                            </m:sub>
                          </m:sSub>
                          <m:r>
                            <m:t>&amp;</m:t>
                          </m:r>
                          <m:r>
                            <m:rPr>
                              <m:sty m:val="p"/>
                            </m:rPr>
                            <m:t>=</m:t>
                          </m:r>
                          <m:r>
                            <m:t>f</m:t>
                          </m:r>
                          <m:r>
                            <m:rPr>
                              <m:sty m:val="p"/>
                            </m:rPr>
                            <m:t>(</m:t>
                          </m:r>
                          <m:sSub>
                            <m:e>
                              <m:r>
                                <m:t>x</m:t>
                              </m:r>
                            </m:e>
                            <m:sub>
                              <m:r>
                                <m:t>t</m:t>
                              </m:r>
                            </m:sub>
                          </m:sSub>
                          <m:r>
                            <m:rPr>
                              <m:sty m:val="p"/>
                            </m:rPr>
                            <m:t>,</m:t>
                          </m:r>
                          <m:sSub>
                            <m:e>
                              <m:acc>
                                <m:accPr>
                                  <m:chr m:val="⃖"/>
                                </m:accPr>
                                <m:e>
                                  <m:r>
                                    <m:t>h</m:t>
                                  </m:r>
                                </m:e>
                              </m:acc>
                            </m:e>
                            <m:sub>
                              <m:r>
                                <m:t>t</m:t>
                              </m:r>
                              <m:r>
                                <m:rPr>
                                  <m:sty m:val="p"/>
                                </m:rPr>
                                <m:t>+</m:t>
                              </m:r>
                              <m:r>
                                <m:t>1</m:t>
                              </m:r>
                            </m:sub>
                          </m:sSub>
                          <m:r>
                            <m:rPr>
                              <m:sty m:val="p"/>
                            </m:rPr>
                            <m:t>)</m:t>
                          </m:r>
                        </m:e>
                        <m:e>
                          <m:sSub>
                            <m:e>
                              <m:r>
                                <m:t>h</m:t>
                              </m:r>
                            </m:e>
                            <m:sub>
                              <m:r>
                                <m:t>t</m:t>
                              </m:r>
                            </m:sub>
                          </m:sSub>
                          <m:r>
                            <m:t>&amp;</m:t>
                          </m:r>
                          <m:r>
                            <m:rPr>
                              <m:sty m:val="p"/>
                            </m:rPr>
                            <m:t>=</m:t>
                          </m:r>
                          <m:r>
                            <m:rPr>
                              <m:sty m:val="p"/>
                            </m:rPr>
                            <m:t>[</m:t>
                          </m:r>
                          <m:sSub>
                            <m:e>
                              <m:acc>
                                <m:accPr>
                                  <m:chr m:val="⃗"/>
                                </m:accPr>
                                <m:e>
                                  <m:r>
                                    <m:t>h</m:t>
                                  </m:r>
                                </m:e>
                              </m:acc>
                            </m:e>
                            <m:sub>
                              <m:r>
                                <m:t>t</m:t>
                              </m:r>
                            </m:sub>
                          </m:sSub>
                          <m:r>
                            <m:rPr>
                              <m:sty m:val="p"/>
                            </m:rPr>
                            <m:t>;</m:t>
                          </m:r>
                          <m:sSub>
                            <m:e>
                              <m:acc>
                                <m:accPr>
                                  <m:chr m:val="⃖"/>
                                </m:accPr>
                                <m:e>
                                  <m:r>
                                    <m:t>h</m:t>
                                  </m:r>
                                </m:e>
                              </m:acc>
                            </m:e>
                            <m:sub>
                              <m:r>
                                <m:t>t</m:t>
                              </m:r>
                            </m:sub>
                          </m:sSub>
                          <m:r>
                            <m:rPr>
                              <m:sty m:val="p"/>
                            </m:rPr>
                            <m:t>]</m:t>
                          </m:r>
                        </m:e>
                        <m:e>
                          <m:sSub>
                            <m:e>
                              <m:acc>
                                <m:accPr>
                                  <m:chr m:val="̂"/>
                                </m:accPr>
                                <m:e>
                                  <m:r>
                                    <m:t>y</m:t>
                                  </m:r>
                                </m:e>
                              </m:acc>
                            </m:e>
                            <m:sub>
                              <m:r>
                                <m:t>t</m:t>
                              </m:r>
                            </m:sub>
                          </m:sSub>
                          <m:r>
                            <m:t>&amp;</m:t>
                          </m:r>
                          <m:r>
                            <m:rPr>
                              <m:sty m:val="p"/>
                            </m:rPr>
                            <m:t>=</m:t>
                          </m:r>
                          <m:r>
                            <m:rPr>
                              <m:sty m:val="p"/>
                            </m:rPr>
                            <m:t>softmax</m:t>
                          </m:r>
                          <m:r>
                            <m:rPr>
                              <m:sty m:val="p"/>
                            </m:rPr>
                            <m:t>(</m:t>
                          </m:r>
                          <m:r>
                            <m:t>W</m:t>
                          </m:r>
                          <m:sSub>
                            <m:e>
                              <m:r>
                                <m:t>h</m:t>
                              </m:r>
                            </m:e>
                            <m:sub>
                              <m:r>
                                <m:t>t</m:t>
                              </m:r>
                            </m:sub>
                          </m:sSub>
                          <m:r>
                            <m:rPr>
                              <m:sty m:val="p"/>
                            </m:rPr>
                            <m:t>+</m:t>
                          </m:r>
                          <m:r>
                            <m:t>b</m:t>
                          </m:r>
                          <m:r>
                            <m:rPr>
                              <m:sty m:val="p"/>
                            </m:rPr>
                            <m:t>)</m:t>
                          </m:r>
                        </m:e>
                      </m:eqArr>
                    </m:oMath>
                  </m:oMathPara>
                </a14:m>
              </a:p>
              <a:p>
                <a:pPr lvl="0" indent="0" marL="0">
                  <a:buNone/>
                </a:pPr>
                <a:r>
                  <a:rPr/>
                  <a:t>Mỗi vị trí (t) nhận một vector chứa thông tin từ </a:t>
                </a:r>
                <a:r>
                  <a:rPr b="1"/>
                  <a:t>hai phía</a:t>
                </a:r>
                <a:r>
                  <a:rPr/>
                  <a:t>, rồi dự đoán một nhãn riêng cho token đó.</a:t>
                </a:r>
              </a:p>
              <a:p>
                <a:pPr lvl="0" indent="0" marL="0">
                  <a:buNone/>
                </a:pPr>
                <a:r>
                  <a:rPr/>
                  <a:t>Điểm mạnh và giới hạn </a:t>
                </a:r>
                <a:r>
                  <a:rPr b="1"/>
                  <a:t>Mạnh:</a:t>
                </a:r>
                <a:r>
                  <a:rPr/>
                  <a:t> gán nhãn token, NER, POS tagging và phân đoạn chuỗi khi toàn bộ chuỗi đã có.</a:t>
                </a:r>
                <a:br/>
                <a:r>
                  <a:rPr b="1"/>
                  <a:t>Giới hạn:</a:t>
                </a:r>
                <a:r>
                  <a:rPr/>
                  <a:t> không phù hợp với dự báo online/causal, vì hướng ngược cần dữ liệu ở phía tương lai.</a:t>
                </a:r>
              </a:p>
              <a:p>
                <a:pPr lvl="0" indent="0" marL="0">
                  <a:buNone/>
                </a:pPr>
                <a:r>
                  <a:rPr/>
                  <a:t>Tổng kết &amp; Bức tranh Toàn cảnh</a:t>
                </a:r>
              </a:p>
              <a:p>
                <a:pPr lvl="0" indent="0" marL="0">
                  <a:buNone/>
                </a:pPr>
                <a:r>
                  <a:rPr b="1"/>
                  <a:t>TIẾN TRÌNH CÔNG NGHỆ MÔ HÌNH HÓA DỮ LIỆU CHUỖI</a:t>
                </a:r>
              </a:p>
              <a:p>
                <a:pPr lvl="0" indent="0" marL="0">
                  <a:buNone/>
                </a:pPr>
                <a:r>
                  <a:rPr b="1"/>
                  <a:t>Thông điệp kết luận</a:t>
                </a:r>
                <a:r>
                  <a:rPr/>
                  <a:t> Simple RNN đã đặt nền móng lý thuyết mang tính lịch sử về việc chia sẻ trọng số thời gian và trạng thái ẩn. Hiểu rõ các điểm nghẽn toán học của RNN chính là chìa khóa để làm chủ toàn bộ các mô hình học sâu chuỗi hiện đại.</a:t>
                </a:r>
              </a:p>
              <a:p>
                <a:pPr lvl="0" indent="0" marL="0">
                  <a:buNone/>
                </a:pPr>
                <a:r>
                  <a:rPr/>
                  <a:t>Phần 2: Tiền xử lý dữ liệu chuỗi cho RNN</a:t>
                </a:r>
              </a:p>
              <a:p>
                <a:pPr lvl="0" indent="0" marL="0">
                  <a:buNone/>
                </a:pPr>
                <a:r>
                  <a:rPr b="1"/>
                  <a:t>Từ dữ liệu thô đến tensor đầu vào</a:t>
                </a:r>
              </a:p>
              <a:p>
                <a:pPr lvl="0" indent="0" marL="0">
                  <a:buNone/>
                </a:pPr>
                <a:r>
                  <a:rPr/>
                  <a:t>Hai loại chuỗi cần hai pipeline khác nhau.</a:t>
                </a:r>
              </a:p>
              <a:p>
                <a:pPr lvl="0" indent="0" marL="0">
                  <a:buNone/>
                </a:pPr>
                <a:r>
                  <a:rPr/>
                  <a:t>0.48</a:t>
                </a:r>
              </a:p>
              <a:p>
                <a:pPr lvl="0" indent="0" marL="0">
                  <a:buNone/>
                </a:pPr>
                <a:r>
                  <a:rPr b="1"/>
                  <a:t>Văn bản: token rời rạc</a:t>
                </a:r>
                <a:r>
                  <a:rPr/>
                  <a:t> Tách từ </a:t>
                </a:r>
                <a14:m>
                  <m:oMath xmlns:m="http://schemas.openxmlformats.org/officeDocument/2006/math">
                    <m:r>
                      <m:rPr>
                        <m:sty m:val="p"/>
                      </m:rPr>
                      <m:t>→</m:t>
                    </m:r>
                  </m:oMath>
                </a14:m>
                <a:r>
                  <a:rPr/>
                  <a:t> gán ID </a:t>
                </a:r>
                <a14:m>
                  <m:oMath xmlns:m="http://schemas.openxmlformats.org/officeDocument/2006/math">
                    <m:r>
                      <m:rPr>
                        <m:sty m:val="p"/>
                      </m:rPr>
                      <m:t>→</m:t>
                    </m:r>
                  </m:oMath>
                </a14:m>
                <a:r>
                  <a:rPr/>
                  <a:t> padding </a:t>
                </a:r>
                <a14:m>
                  <m:oMath xmlns:m="http://schemas.openxmlformats.org/officeDocument/2006/math">
                    <m:r>
                      <m:rPr>
                        <m:sty m:val="p"/>
                      </m:rPr>
                      <m:t>→</m:t>
                    </m:r>
                  </m:oMath>
                </a14:m>
                <a:r>
                  <a:rPr/>
                  <a:t> embedding.</a:t>
                </a:r>
              </a:p>
              <a:p>
                <a:pPr lvl="0" indent="0" marL="0">
                  <a:buNone/>
                </a:pPr>
                <a:r>
                  <a:rPr b="1"/>
                  <a:t>Đầu ra:</a:t>
                </a:r>
                <a:r>
                  <a:rPr/>
                  <a:t> tensor vector thực theo từng bước thời gian.</a:t>
                </a:r>
              </a:p>
              <a:p>
                <a:pPr lvl="0" indent="0" marL="0">
                  <a:buNone/>
                </a:pPr>
                <a:r>
                  <a:rPr/>
                  <a:t>0.48</a:t>
                </a:r>
              </a:p>
              <a:p>
                <a:pPr lvl="0" indent="0" marL="0">
                  <a:buNone/>
                </a:pPr>
                <a:r>
                  <a:rPr b="1"/>
                  <a:t>Giá vàng: số liên tục</a:t>
                </a:r>
                <a:r>
                  <a:rPr/>
                  <a:t> Làm sạch </a:t>
                </a:r>
                <a14:m>
                  <m:oMath xmlns:m="http://schemas.openxmlformats.org/officeDocument/2006/math">
                    <m:r>
                      <m:rPr>
                        <m:sty m:val="p"/>
                      </m:rPr>
                      <m:t>→</m:t>
                    </m:r>
                  </m:oMath>
                </a14:m>
                <a:r>
                  <a:rPr/>
                  <a:t> biến đổi và scaling </a:t>
                </a:r>
                <a14:m>
                  <m:oMath xmlns:m="http://schemas.openxmlformats.org/officeDocument/2006/math">
                    <m:r>
                      <m:rPr>
                        <m:sty m:val="p"/>
                      </m:rPr>
                      <m:t>→</m:t>
                    </m:r>
                  </m:oMath>
                </a14:m>
                <a:r>
                  <a:rPr/>
                  <a:t> cửa sổ trượt.</a:t>
                </a:r>
              </a:p>
              <a:p>
                <a:pPr lvl="0" indent="0" marL="0">
                  <a:buNone/>
                </a:pPr>
                <a:r>
                  <a:rPr b="1"/>
                  <a:t>Đầu ra:</a:t>
                </a:r>
                <a:r>
                  <a:rPr/>
                  <a:t> tensor </a:t>
                </a:r>
                <a14:m>
                  <m:oMath xmlns:m="http://schemas.openxmlformats.org/officeDocument/2006/math">
                    <m:r>
                      <m:rPr>
                        <m:sty m:val="p"/>
                      </m:rPr>
                      <m:t>(</m:t>
                    </m:r>
                    <m:r>
                      <m:t>N</m:t>
                    </m:r>
                    <m:r>
                      <m:rPr>
                        <m:sty m:val="p"/>
                      </m:rPr>
                      <m:t>,</m:t>
                    </m:r>
                    <m:r>
                      <m:t>L</m:t>
                    </m:r>
                    <m:r>
                      <m:rPr>
                        <m:sty m:val="p"/>
                      </m:rPr>
                      <m:t>,</m:t>
                    </m:r>
                    <m:r>
                      <m:t>F</m:t>
                    </m:r>
                    <m:r>
                      <m:rPr>
                        <m:sty m:val="p"/>
                      </m:rPr>
                      <m:t>)</m:t>
                    </m:r>
                  </m:oMath>
                </a14:m>
                <a:r>
                  <a:rPr/>
                  <a:t> để dự đoán giá kế tiếp.</a:t>
                </a:r>
              </a:p>
              <a:p>
                <a:pPr lvl="0" indent="0" marL="0">
                  <a:buNone/>
                </a:pPr>
                <a:r>
                  <a:rPr b="1"/>
                  <a:t>Ý chính</a:t>
                </a:r>
                <a:r>
                  <a:rPr/>
                  <a:t> Giá vàng đã là dữ liệu số: không cần tokenizer hay vocabulary. Văn bản phải được mã hóa trước khi vào RNN.</a:t>
                </a:r>
              </a:p>
              <a:p>
                <a:pPr lvl="0" indent="0" marL="0">
                  <a:buNone/>
                </a:pPr>
                <a:r>
                  <a:rPr/>
                  <a:t>Hai loại dữ liệu chuỗi, hai pipeline</a:t>
                </a:r>
              </a:p>
              <a:p>
                <a:pPr lvl="0" indent="0" marL="0">
                  <a:buNone/>
                </a:pPr>
                <a:r>
                  <a:rPr/>
                  <a:t>0.48</a:t>
                </a:r>
              </a:p>
              <a:p>
                <a:pPr lvl="0" indent="0" marL="0">
                  <a:buNone/>
                </a:pPr>
                <a:r>
                  <a:rPr b="1"/>
                  <a:t>Chuỗi văn bản</a:t>
                </a:r>
              </a:p>
              <a:p>
                <a:pPr lvl="0" indent="-342900" marL="342900">
                  <a:buAutoNum type="arabicPeriod"/>
                </a:pPr>
                <a:r>
                  <a:rPr b="1"/>
                  <a:t>Tokenizer:</a:t>
                </a:r>
                <a:r>
                  <a:rPr/>
                  <a:t> tách câu thành token.</a:t>
                </a:r>
              </a:p>
              <a:p>
                <a:pPr lvl="0" indent="-342900" marL="342900">
                  <a:buAutoNum type="arabicPeriod"/>
                </a:pPr>
                <a:r>
                  <a:rPr b="1"/>
                  <a:t>Vocabulary:</a:t>
                </a:r>
                <a:r>
                  <a:rPr/>
                  <a:t> ánh xạ token </a:t>
                </a:r>
                <a14:m>
                  <m:oMath xmlns:m="http://schemas.openxmlformats.org/officeDocument/2006/math">
                    <m:r>
                      <m:rPr>
                        <m:sty m:val="p"/>
                      </m:rPr>
                      <m:t>↦</m:t>
                    </m:r>
                  </m:oMath>
                </a14:m>
                <a:r>
                  <a:rPr/>
                  <a:t> ID.</a:t>
                </a:r>
              </a:p>
              <a:p>
                <a:pPr lvl="0" indent="-342900" marL="342900">
                  <a:buAutoNum type="arabicPeriod"/>
                </a:pPr>
                <a:r>
                  <a:rPr b="1"/>
                  <a:t>Integer encoding:</a:t>
                </a:r>
                <a:r>
                  <a:rPr/>
                  <a:t> tạo chuỗi ID.</a:t>
                </a:r>
              </a:p>
              <a:p>
                <a:pPr lvl="0" indent="-342900" marL="342900">
                  <a:buAutoNum type="arabicPeriod"/>
                </a:pPr>
                <a:r>
                  <a:rPr b="1"/>
                  <a:t>Padding:</a:t>
                </a:r>
                <a:r>
                  <a:rPr/>
                  <a:t> đưa các câu về cùng độ dài trong batch.</a:t>
                </a:r>
              </a:p>
              <a:p>
                <a:pPr lvl="0" indent="-342900" marL="342900">
                  <a:buAutoNum type="arabicPeriod"/>
                </a:pPr>
                <a:r>
                  <a:rPr b="1"/>
                  <a:t>Embedding:</a:t>
                </a:r>
                <a:r>
                  <a:rPr/>
                  <a:t> ID </a:t>
                </a:r>
                <a14:m>
                  <m:oMath xmlns:m="http://schemas.openxmlformats.org/officeDocument/2006/math">
                    <m:r>
                      <m:rPr>
                        <m:sty m:val="p"/>
                      </m:rPr>
                      <m:t>↦</m:t>
                    </m:r>
                  </m:oMath>
                </a14:m>
                <a:r>
                  <a:rPr/>
                  <a:t> vector thực.</a:t>
                </a:r>
              </a:p>
              <a:p>
                <a:pPr lvl="0" indent="0" marL="0">
                  <a:buNone/>
                </a:pPr>
                <a:r>
                  <a:rPr/>
                  <a:t>0.48</a:t>
                </a:r>
              </a:p>
              <a:p>
                <a:pPr lvl="0" indent="0" marL="0">
                  <a:buNone/>
                </a:pPr>
                <a:r>
                  <a:rPr b="1"/>
                  <a:t>Chuỗi giá vàng</a:t>
                </a:r>
              </a:p>
              <a:p>
                <a:pPr lvl="0" indent="-342900" marL="342900">
                  <a:buAutoNum type="arabicPeriod"/>
                </a:pPr>
                <a:r>
                  <a:rPr b="1"/>
                  <a:t>Làm sạch:</a:t>
                </a:r>
                <a:r>
                  <a:rPr/>
                  <a:t> date là chỉ mục thời gian, price là số.</a:t>
                </a:r>
              </a:p>
              <a:p>
                <a:pPr lvl="0" indent="-342900" marL="342900">
                  <a:buAutoNum type="arabicPeriod"/>
                </a:pPr>
                <a:r>
                  <a:rPr b="1"/>
                  <a:t>Chia theo thời gian:</a:t>
                </a:r>
                <a:r>
                  <a:rPr/>
                  <a:t> giữ thứ tự quá khứ </a:t>
                </a:r>
                <a14:m>
                  <m:oMath xmlns:m="http://schemas.openxmlformats.org/officeDocument/2006/math">
                    <m:r>
                      <m:rPr>
                        <m:sty m:val="p"/>
                      </m:rPr>
                      <m:t>→</m:t>
                    </m:r>
                  </m:oMath>
                </a14:m>
                <a:r>
                  <a:rPr/>
                  <a:t> tương lai.</a:t>
                </a:r>
              </a:p>
              <a:p>
                <a:pPr lvl="0" indent="-342900" marL="342900">
                  <a:buAutoNum type="arabicPeriod"/>
                </a:pPr>
                <a:r>
                  <a:rPr b="1"/>
                  <a:t>Biến đổi:</a:t>
                </a:r>
                <a:r>
                  <a:rPr/>
                  <a:t> </a:t>
                </a:r>
                <a14:m>
                  <m:oMath xmlns:m="http://schemas.openxmlformats.org/officeDocument/2006/math">
                    <m:r>
                      <m:rPr>
                        <m:sty m:val="p"/>
                      </m:rPr>
                      <m:t>log</m:t>
                    </m:r>
                    <m:r>
                      <m:rPr>
                        <m:sty m:val="p"/>
                      </m:rPr>
                      <m:t>(</m:t>
                    </m:r>
                    <m:r>
                      <m:t>1</m:t>
                    </m:r>
                    <m:r>
                      <m:rPr>
                        <m:sty m:val="p"/>
                      </m:rPr>
                      <m:t>+</m:t>
                    </m:r>
                    <m:r>
                      <m:t>p</m:t>
                    </m:r>
                    <m:r>
                      <m:rPr>
                        <m:sty m:val="p"/>
                      </m:rPr>
                      <m:t>)</m:t>
                    </m:r>
                  </m:oMath>
                </a14:m>
                <a:r>
                  <a:rPr/>
                  <a:t> và scaling.</a:t>
                </a:r>
              </a:p>
              <a:p>
                <a:pPr lvl="0" indent="-342900" marL="342900">
                  <a:buAutoNum type="arabicPeriod"/>
                </a:pPr>
                <a:r>
                  <a:rPr b="1"/>
                  <a:t>Windowing:</a:t>
                </a:r>
                <a:r>
                  <a:rPr/>
                  <a:t> 30 quan sát </a:t>
                </a:r>
                <a14:m>
                  <m:oMath xmlns:m="http://schemas.openxmlformats.org/officeDocument/2006/math">
                    <m:r>
                      <m:rPr>
                        <m:sty m:val="p"/>
                      </m:rPr>
                      <m:t>→</m:t>
                    </m:r>
                  </m:oMath>
                </a14:m>
                <a:r>
                  <a:rPr/>
                  <a:t> giá kế tiếp.</a:t>
                </a:r>
              </a:p>
              <a:p>
                <a:pPr lvl="0" indent="-342900" marL="342900">
                  <a:buAutoNum type="arabicPeriod"/>
                </a:pPr>
                <a:r>
                  <a:rPr b="1"/>
                  <a:t>Tensor:</a:t>
                </a:r>
                <a:r>
                  <a:rPr/>
                  <a:t> </a:t>
                </a:r>
                <a14:m>
                  <m:oMath xmlns:m="http://schemas.openxmlformats.org/officeDocument/2006/math">
                    <m:r>
                      <m:rPr>
                        <m:sty m:val="p"/>
                      </m:rPr>
                      <m:t>(</m:t>
                    </m:r>
                    <m:r>
                      <m:t>N</m:t>
                    </m:r>
                    <m:r>
                      <m:rPr>
                        <m:sty m:val="p"/>
                      </m:rPr>
                      <m:t>,</m:t>
                    </m:r>
                    <m:r>
                      <m:t>L</m:t>
                    </m:r>
                    <m:r>
                      <m:rPr>
                        <m:sty m:val="p"/>
                      </m:rPr>
                      <m:t>,</m:t>
                    </m:r>
                    <m:r>
                      <m:t>F</m:t>
                    </m:r>
                    <m:r>
                      <m:rPr>
                        <m:sty m:val="p"/>
                      </m:rPr>
                      <m:t>)</m:t>
                    </m:r>
                  </m:oMath>
                </a14:m>
                <a:r>
                  <a:rPr/>
                  <a:t> = (mẫu, bước, đặc trưng).</a:t>
                </a:r>
              </a:p>
              <a:p>
                <a:pPr lvl="0" indent="0" marL="0">
                  <a:buNone/>
                </a:pPr>
                <a:r>
                  <a:rPr b="1"/>
                  <a:t>Phân biệt quan trọng</a:t>
                </a:r>
                <a:r>
                  <a:rPr/>
                  <a:t> Date không phải token; price không cần vocabulary; cửa sổ cố định thường không cần padding.</a:t>
                </a:r>
              </a:p>
              <a:p>
                <a:pPr lvl="0" indent="0" marL="0">
                  <a:buNone/>
                </a:pPr>
                <a:r>
                  <a:rPr/>
                  <a:t>Tokenizer, vocabulary, padding và embedding</a:t>
                </a:r>
              </a:p>
              <a:p>
                <a:pPr lvl="0" indent="0" marL="0">
                  <a:buNone/>
                </a:pPr>
                <a:r>
                  <a:rPr b="1"/>
                  <a:t>Tầng embedding là bảng tra cứu học được</a:t>
                </a:r>
                <a:r>
                  <a:rPr/>
                  <a:t> Với ma trận </a:t>
                </a:r>
                <a14:m>
                  <m:oMath xmlns:m="http://schemas.openxmlformats.org/officeDocument/2006/math">
                    <m:r>
                      <m:t>E</m:t>
                    </m:r>
                    <m:r>
                      <m:rPr>
                        <m:sty m:val="p"/>
                      </m:rPr>
                      <m:t>∈</m:t>
                    </m:r>
                    <m:sSup>
                      <m:e>
                        <m:r>
                          <m:rPr>
                            <m:scr m:val="double-struck"/>
                            <m:sty m:val="p"/>
                          </m:rPr>
                          <m:t>R</m:t>
                        </m:r>
                      </m:e>
                      <m:sup>
                        <m:r>
                          <m:t>V</m:t>
                        </m:r>
                        <m:r>
                          <m:rPr>
                            <m:sty m:val="p"/>
                          </m:rPr>
                          <m:t>×</m:t>
                        </m:r>
                        <m:r>
                          <m:t>d</m:t>
                        </m:r>
                      </m:sup>
                    </m:sSup>
                  </m:oMath>
                </a14:m>
                <a:r>
                  <a:rPr/>
                  <a:t>, token ID </a:t>
                </a:r>
                <a14:m>
                  <m:oMath xmlns:m="http://schemas.openxmlformats.org/officeDocument/2006/math">
                    <m:r>
                      <m:t>i</m:t>
                    </m:r>
                  </m:oMath>
                </a14:m>
                <a:r>
                  <a:rPr/>
                  <a:t> lấy vector </a:t>
                </a:r>
                <a14:m>
                  <m:oMath xmlns:m="http://schemas.openxmlformats.org/officeDocument/2006/math">
                    <m:r>
                      <m:t>E</m:t>
                    </m:r>
                    <m:r>
                      <m:rPr>
                        <m:sty m:val="p"/>
                      </m:rPr>
                      <m:t>[</m:t>
                    </m:r>
                    <m:r>
                      <m:t>i</m:t>
                    </m:r>
                    <m:r>
                      <m:rPr>
                        <m:sty m:val="p"/>
                      </m:rPr>
                      <m:t>]</m:t>
                    </m:r>
                    <m:r>
                      <m:rPr>
                        <m:sty m:val="p"/>
                      </m:rPr>
                      <m:t>∈</m:t>
                    </m:r>
                    <m:sSup>
                      <m:e>
                        <m:r>
                          <m:rPr>
                            <m:scr m:val="double-struck"/>
                            <m:sty m:val="p"/>
                          </m:rPr>
                          <m:t>R</m:t>
                        </m:r>
                      </m:e>
                      <m:sup>
                        <m:r>
                          <m:t>d</m:t>
                        </m:r>
                      </m:sup>
                    </m:sSup>
                  </m:oMath>
                </a14:m>
                <a:r>
                  <a:rPr/>
                  <a:t>.</a:t>
                </a:r>
              </a:p>
              <a:p>
                <a:pPr lvl="0" indent="0" marL="0">
                  <a:buNone/>
                </a:pPr>
                <a:r>
                  <a:rPr/>
                  <a:t>Ví dụ notebook: </a:t>
                </a:r>
                <a:r>
                  <a:rPr>
                    <a:latin typeface="Courier"/>
                  </a:rPr>
                  <a:t>token_ids</a:t>
                </a:r>
                <a:r>
                  <a:rPr/>
                  <a:t> có shape </a:t>
                </a:r>
                <a14:m>
                  <m:oMath xmlns:m="http://schemas.openxmlformats.org/officeDocument/2006/math">
                    <m:r>
                      <m:rPr>
                        <m:sty m:val="p"/>
                      </m:rPr>
                      <m:t>(</m:t>
                    </m:r>
                    <m:r>
                      <m:t>4</m:t>
                    </m:r>
                    <m:r>
                      <m:rPr>
                        <m:sty m:val="p"/>
                      </m:rPr>
                      <m:t>,</m:t>
                    </m:r>
                    <m:r>
                      <m:t>6</m:t>
                    </m:r>
                    <m:r>
                      <m:rPr>
                        <m:sty m:val="p"/>
                      </m:rPr>
                      <m:t>)</m:t>
                    </m:r>
                  </m:oMath>
                </a14:m>
                <a:r>
                  <a:rPr/>
                  <a:t>; sau embedding 8 chiều thành </a:t>
                </a:r>
                <a14:m>
                  <m:oMath xmlns:m="http://schemas.openxmlformats.org/officeDocument/2006/math">
                    <m:r>
                      <m:rPr>
                        <m:sty m:val="p"/>
                      </m:rPr>
                      <m:t>(</m:t>
                    </m:r>
                    <m:r>
                      <m:t>4</m:t>
                    </m:r>
                    <m:r>
                      <m:rPr>
                        <m:sty m:val="p"/>
                      </m:rPr>
                      <m:t>,</m:t>
                    </m:r>
                    <m:r>
                      <m:t>6</m:t>
                    </m:r>
                    <m:r>
                      <m:rPr>
                        <m:sty m:val="p"/>
                      </m:rPr>
                      <m:t>,</m:t>
                    </m:r>
                    <m:r>
                      <m:t>8</m:t>
                    </m:r>
                    <m:r>
                      <m:rPr>
                        <m:sty m:val="p"/>
                      </m:rPr>
                      <m:t>)</m:t>
                    </m:r>
                  </m:oMath>
                </a14:m>
                <a:r>
                  <a:rPr/>
                  <a:t>.</a:t>
                </a:r>
              </a:p>
              <a:p>
                <a:pPr lvl="0" indent="0" marL="0">
                  <a:buNone/>
                </a:pPr>
                <a:r>
                  <a:rPr/>
                  <a:t>Pipeline tiền xử lý giá vàng</a:t>
                </a:r>
              </a:p>
              <a:p>
                <a:pPr lvl="0" indent="0" marL="0">
                  <a:buNone/>
                </a:pPr>
                <a:r>
                  <a:rPr/>
                  <a:t>0.48</a:t>
                </a:r>
              </a:p>
              <a:p>
                <a:pPr lvl="0" indent="0" marL="0">
                  <a:buNone/>
                </a:pPr>
                <a:r>
                  <a:rPr b="1"/>
                  <a:t>Chuẩn bị và chia tập</a:t>
                </a:r>
              </a:p>
              <a:p>
                <a:pPr lvl="0" indent="-342900" marL="342900">
                  <a:buAutoNum type="arabicPeriod"/>
                </a:pPr>
                <a:r>
                  <a:rPr/>
                  <a:t>Đọc CSV: cột </a:t>
                </a:r>
                <a:r>
                  <a:rPr>
                    <a:latin typeface="Courier"/>
                  </a:rPr>
                  <a:t>date</a:t>
                </a:r>
                <a:r>
                  <a:rPr/>
                  <a:t>, </a:t>
                </a:r>
                <a:r>
                  <a:rPr>
                    <a:latin typeface="Courier"/>
                  </a:rPr>
                  <a:t>price</a:t>
                </a:r>
                <a:r>
                  <a:rPr/>
                  <a:t>.</a:t>
                </a:r>
              </a:p>
              <a:p>
                <a:pPr lvl="0" indent="-342900" marL="342900">
                  <a:buAutoNum type="arabicPeriod"/>
                </a:pPr>
                <a:r>
                  <a:rPr/>
                  <a:t>Ép </a:t>
                </a:r>
                <a:r>
                  <a:rPr>
                    <a:latin typeface="Courier"/>
                  </a:rPr>
                  <a:t>date</a:t>
                </a:r>
                <a:r>
                  <a:rPr/>
                  <a:t> về ngày; </a:t>
                </a:r>
                <a:r>
                  <a:rPr>
                    <a:latin typeface="Courier"/>
                  </a:rPr>
                  <a:t>price</a:t>
                </a:r>
                <a:r>
                  <a:rPr/>
                  <a:t> về số.</a:t>
                </a:r>
              </a:p>
              <a:p>
                <a:pPr lvl="0" indent="-342900" marL="342900">
                  <a:buAutoNum type="arabicPeriod"/>
                </a:pPr>
                <a:r>
                  <a:rPr/>
                  <a:t>Bỏ dòng thiếu, bỏ ngày trùng, sắp theo thời gian.</a:t>
                </a:r>
              </a:p>
              <a:p>
                <a:pPr lvl="0" indent="-342900" marL="342900">
                  <a:buAutoNum type="arabicPeriod"/>
                </a:pPr>
                <a:r>
                  <a:rPr/>
                  <a:t>Chia train/validation/test theo tỷ lệ 70/15/15.</a:t>
                </a:r>
              </a:p>
              <a:p>
                <a:pPr lvl="0" indent="0" marL="0">
                  <a:buNone/>
                </a:pPr>
                <a:r>
                  <a:rPr/>
                  <a:t>0.48</a:t>
                </a:r>
              </a:p>
              <a:p>
                <a:pPr lvl="0" indent="0" marL="0">
                  <a:buNone/>
                </a:pPr>
                <a:r>
                  <a:rPr b="1"/>
                  <a:t>Biến đổi và tạo mẫu</a:t>
                </a:r>
              </a:p>
              <a:p>
                <a:pPr lvl="0" indent="-342900" marL="342900">
                  <a:buAutoNum startAt="5" type="arabicPeriod"/>
                </a:pPr>
                <a:r>
                  <a:rPr/>
                  <a:t>Biến đổi </a:t>
                </a:r>
                <a14:m>
                  <m:oMath xmlns:m="http://schemas.openxmlformats.org/officeDocument/2006/math">
                    <m:sSub>
                      <m:e>
                        <m:r>
                          <m:t>z</m:t>
                        </m:r>
                      </m:e>
                      <m:sub>
                        <m:r>
                          <m:t>t</m:t>
                        </m:r>
                      </m:sub>
                    </m:sSub>
                    <m:r>
                      <m:rPr>
                        <m:sty m:val="p"/>
                      </m:rPr>
                      <m:t>=</m:t>
                    </m:r>
                    <m:r>
                      <m:rPr>
                        <m:sty m:val="p"/>
                      </m:rPr>
                      <m:t>log</m:t>
                    </m:r>
                    <m:r>
                      <m:rPr>
                        <m:sty m:val="p"/>
                      </m:rPr>
                      <m:t>(</m:t>
                    </m:r>
                    <m:r>
                      <m:t>1</m:t>
                    </m:r>
                    <m:r>
                      <m:rPr>
                        <m:sty m:val="p"/>
                      </m:rPr>
                      <m:t>+</m:t>
                    </m:r>
                    <m:sSub>
                      <m:e>
                        <m:r>
                          <m:t>p</m:t>
                        </m:r>
                      </m:e>
                      <m:sub>
                        <m:r>
                          <m:t>t</m:t>
                        </m:r>
                      </m:sub>
                    </m:sSub>
                    <m:r>
                      <m:rPr>
                        <m:sty m:val="p"/>
                      </m:rPr>
                      <m:t>)</m:t>
                    </m:r>
                  </m:oMath>
                </a14:m>
                <a:r>
                  <a:rPr/>
                  <a:t>.</a:t>
                </a:r>
              </a:p>
              <a:p>
                <a:pPr lvl="0" indent="-342900" marL="342900">
                  <a:buAutoNum startAt="5" type="arabicPeriod"/>
                </a:pPr>
                <a:r>
                  <a:rPr/>
                  <a:t>Fit scaler </a:t>
                </a:r>
                <a:r>
                  <a:rPr i="1"/>
                  <a:t>chỉ trên train</a:t>
                </a:r>
                <a:r>
                  <a:rPr/>
                  <a:t>, rồi transform các tập.</a:t>
                </a:r>
              </a:p>
              <a:p>
                <a:pPr lvl="0" indent="-342900" marL="342900">
                  <a:buAutoNum startAt="5" type="arabicPeriod"/>
                </a:pPr>
                <a:r>
                  <a:rPr/>
                  <a:t>Dùng cửa sổ 30 bước: </a:t>
                </a:r>
                <a14:m>
                  <m:oMath xmlns:m="http://schemas.openxmlformats.org/officeDocument/2006/math">
                    <m:sSub>
                      <m:e>
                        <m:r>
                          <m:t>X</m:t>
                        </m:r>
                      </m:e>
                      <m:sub>
                        <m:r>
                          <m:t>t</m:t>
                        </m:r>
                      </m:sub>
                    </m:sSub>
                    <m:r>
                      <m:rPr>
                        <m:sty m:val="p"/>
                      </m:rPr>
                      <m:t>=</m:t>
                    </m:r>
                    <m:r>
                      <m:rPr>
                        <m:sty m:val="p"/>
                      </m:rPr>
                      <m:t>(</m:t>
                    </m:r>
                    <m:sSub>
                      <m:e>
                        <m:r>
                          <m:t>z</m:t>
                        </m:r>
                      </m:e>
                      <m:sub>
                        <m:r>
                          <m:t>t</m:t>
                        </m:r>
                        <m:r>
                          <m:rPr>
                            <m:sty m:val="p"/>
                          </m:rPr>
                          <m:t>−</m:t>
                        </m:r>
                        <m:r>
                          <m:t>29</m:t>
                        </m:r>
                      </m:sub>
                    </m:sSub>
                    <m:r>
                      <m:rPr>
                        <m:sty m:val="p"/>
                      </m:rPr>
                      <m:t>,</m:t>
                    </m:r>
                    <m:r>
                      <m:rPr>
                        <m:sty m:val="p"/>
                      </m:rPr>
                      <m:t>…</m:t>
                    </m:r>
                    <m:r>
                      <m:rPr>
                        <m:sty m:val="p"/>
                      </m:rPr>
                      <m:t>,</m:t>
                    </m:r>
                    <m:sSub>
                      <m:e>
                        <m:r>
                          <m:t>z</m:t>
                        </m:r>
                      </m:e>
                      <m:sub>
                        <m:r>
                          <m:t>t</m:t>
                        </m:r>
                      </m:sub>
                    </m:sSub>
                    <m:r>
                      <m:rPr>
                        <m:sty m:val="p"/>
                      </m:rPr>
                      <m:t>)</m:t>
                    </m:r>
                  </m:oMath>
                </a14:m>
                <a:r>
                  <a:rPr/>
                  <a:t>, </a:t>
                </a:r>
                <a14:m>
                  <m:oMath xmlns:m="http://schemas.openxmlformats.org/officeDocument/2006/math">
                    <m:sSub>
                      <m:e>
                        <m:r>
                          <m:t>y</m:t>
                        </m:r>
                      </m:e>
                      <m:sub>
                        <m:r>
                          <m:t>t</m:t>
                        </m:r>
                      </m:sub>
                    </m:sSub>
                    <m:r>
                      <m:rPr>
                        <m:sty m:val="p"/>
                      </m:rPr>
                      <m:t>=</m:t>
                    </m:r>
                    <m:sSub>
                      <m:e>
                        <m:r>
                          <m:t>z</m:t>
                        </m:r>
                      </m:e>
                      <m:sub>
                        <m:r>
                          <m:t>t</m:t>
                        </m:r>
                        <m:r>
                          <m:rPr>
                            <m:sty m:val="p"/>
                          </m:rPr>
                          <m:t>+</m:t>
                        </m:r>
                        <m:r>
                          <m:t>1</m:t>
                        </m:r>
                      </m:sub>
                    </m:sSub>
                  </m:oMath>
                </a14:m>
                <a:r>
                  <a:rPr/>
                  <a:t>.</a:t>
                </a:r>
              </a:p>
              <a:p>
                <a:pPr lvl="0" indent="0" marL="0">
                  <a:buNone/>
                </a:pPr>
                <a:r>
                  <a:rPr b="1"/>
                  <a:t>Kích thước trong notebook</a:t>
                </a:r>
                <a:r>
                  <a:rPr/>
                  <a:t> 13,461 dòng thô </a:t>
                </a:r>
                <a14:m>
                  <m:oMath xmlns:m="http://schemas.openxmlformats.org/officeDocument/2006/math">
                    <m:r>
                      <m:rPr>
                        <m:sty m:val="p"/>
                      </m:rPr>
                      <m:t>→</m:t>
                    </m:r>
                  </m:oMath>
                </a14:m>
                <a:r>
                  <a:rPr/>
                  <a:t> 13,320 dòng sau làm sạch; cửa sổ dài 30. </a:t>
                </a:r>
                <a14:m>
                  <m:oMath xmlns:m="http://schemas.openxmlformats.org/officeDocument/2006/math">
                    <m:sSub>
                      <m:e>
                        <m:r>
                          <m:t>x</m:t>
                        </m:r>
                      </m:e>
                      <m:sub>
                        <m:r>
                          <m:rPr>
                            <m:sty m:val="p"/>
                          </m:rPr>
                          <m:t>s</m:t>
                        </m:r>
                        <m:r>
                          <m:rPr>
                            <m:sty m:val="p"/>
                          </m:rPr>
                          <m:t>c</m:t>
                        </m:r>
                        <m:r>
                          <m:rPr>
                            <m:sty m:val="p"/>
                          </m:rPr>
                          <m:t>a</m:t>
                        </m:r>
                        <m:r>
                          <m:rPr>
                            <m:sty m:val="p"/>
                          </m:rPr>
                          <m:t>l</m:t>
                        </m:r>
                        <m:r>
                          <m:rPr>
                            <m:sty m:val="p"/>
                          </m:rPr>
                          <m:t>e</m:t>
                        </m:r>
                        <m:r>
                          <m:rPr>
                            <m:sty m:val="p"/>
                          </m:rPr>
                          <m:t>d</m:t>
                        </m:r>
                      </m:sub>
                    </m:sSub>
                    <m:r>
                      <m:rPr>
                        <m:sty m:val="p"/>
                      </m:rPr>
                      <m:t>=</m:t>
                    </m:r>
                    <m:f>
                      <m:fPr>
                        <m:type m:val="bar"/>
                      </m:fPr>
                      <m:num>
                        <m:r>
                          <m:t>x</m:t>
                        </m:r>
                        <m:r>
                          <m:rPr>
                            <m:sty m:val="p"/>
                          </m:rPr>
                          <m:t>−</m:t>
                        </m:r>
                        <m:sSub>
                          <m:e>
                            <m:r>
                              <m:rPr>
                                <m:sty m:val="p"/>
                              </m:rPr>
                              <m:t>min</m:t>
                            </m:r>
                          </m:e>
                          <m:sub>
                            <m:r>
                              <m:rPr>
                                <m:sty m:val="p"/>
                              </m:rPr>
                              <m:t>t</m:t>
                            </m:r>
                            <m:r>
                              <m:rPr>
                                <m:sty m:val="p"/>
                              </m:rPr>
                              <m:t>r</m:t>
                            </m:r>
                            <m:r>
                              <m:rPr>
                                <m:sty m:val="p"/>
                              </m:rPr>
                              <m:t>a</m:t>
                            </m:r>
                            <m:r>
                              <m:rPr>
                                <m:sty m:val="p"/>
                              </m:rPr>
                              <m:t>i</m:t>
                            </m:r>
                            <m:r>
                              <m:rPr>
                                <m:sty m:val="p"/>
                              </m:rPr>
                              <m:t>n</m:t>
                            </m:r>
                          </m:sub>
                        </m:sSub>
                      </m:num>
                      <m:den>
                        <m:sSub>
                          <m:e>
                            <m:r>
                              <m:rPr>
                                <m:sty m:val="p"/>
                              </m:rPr>
                              <m:t>max</m:t>
                            </m:r>
                          </m:e>
                          <m:sub>
                            <m:r>
                              <m:rPr>
                                <m:sty m:val="p"/>
                              </m:rPr>
                              <m:t>t</m:t>
                            </m:r>
                            <m:r>
                              <m:rPr>
                                <m:sty m:val="p"/>
                              </m:rPr>
                              <m:t>r</m:t>
                            </m:r>
                            <m:r>
                              <m:rPr>
                                <m:sty m:val="p"/>
                              </m:rPr>
                              <m:t>a</m:t>
                            </m:r>
                            <m:r>
                              <m:rPr>
                                <m:sty m:val="p"/>
                              </m:rPr>
                              <m:t>i</m:t>
                            </m:r>
                            <m:r>
                              <m:rPr>
                                <m:sty m:val="p"/>
                              </m:rPr>
                              <m:t>n</m:t>
                            </m:r>
                          </m:sub>
                        </m:sSub>
                        <m:r>
                          <m:rPr>
                            <m:sty m:val="p"/>
                          </m:rPr>
                          <m:t>−</m:t>
                        </m:r>
                        <m:sSub>
                          <m:e>
                            <m:r>
                              <m:rPr>
                                <m:sty m:val="p"/>
                              </m:rPr>
                              <m:t>min</m:t>
                            </m:r>
                          </m:e>
                          <m:sub>
                            <m:r>
                              <m:rPr>
                                <m:sty m:val="p"/>
                              </m:rPr>
                              <m:t>t</m:t>
                            </m:r>
                            <m:r>
                              <m:rPr>
                                <m:sty m:val="p"/>
                              </m:rPr>
                              <m:t>r</m:t>
                            </m:r>
                            <m:r>
                              <m:rPr>
                                <m:sty m:val="p"/>
                              </m:rPr>
                              <m:t>a</m:t>
                            </m:r>
                            <m:r>
                              <m:rPr>
                                <m:sty m:val="p"/>
                              </m:rPr>
                              <m:t>i</m:t>
                            </m:r>
                            <m:r>
                              <m:rPr>
                                <m:sty m:val="p"/>
                              </m:rPr>
                              <m:t>n</m:t>
                            </m:r>
                          </m:sub>
                        </m:sSub>
                      </m:den>
                    </m:f>
                  </m:oMath>
                </a14:m>
                <a:r>
                  <a:rPr/>
                  <a:t>.</a:t>
                </a:r>
              </a:p>
              <a:p>
                <a:pPr lvl="0" indent="0" marL="0">
                  <a:buNone/>
                </a:pPr>
                <a:r>
                  <a:rPr/>
                  <a:t>Code minh họa: tokenizer và embedding</a:t>
                </a:r>
              </a:p>
              <a:p>
                <a:pPr lvl="0" indent="0" marL="0">
                  <a:buNone/>
                </a:pPr>
                <a:r>
                  <a:rPr/>
                  <a:t>0.56</a:t>
                </a:r>
              </a:p>
              <a:p>
                <a:pPr lvl="0" indent="0">
                  <a:buNone/>
                </a:pPr>
                <a:r>
                  <a:rPr>
                    <a:latin typeface="Courier"/>
                  </a:rPr>
                  <a:t>tokens = text.lower().split()
vocab = {'&lt;PAD&gt;': 0, '&lt;UNK&gt;': 1}
# Add frequent training tokens to vocab here.
encoded = [vocab.get(token, vocab['&lt;UNK&gt;'])
           for token in tokens]
padded = encoded[:max_len] + [0] * max(
    0, max_len - len(encoded))
embedding = nn.Embedding(
    len(vocab), embedding_dim=8,
    padding_idx=0)
vectors = embedding(token_ids)</a:t>
                </a:r>
              </a:p>
              <a:p>
                <a:pPr lvl="0" indent="0" marL="0">
                  <a:buNone/>
                </a:pPr>
                <a:r>
                  <a:rPr/>
                  <a:t>0.41</a:t>
                </a:r>
              </a:p>
              <a:p>
                <a:pPr lvl="0" indent="0" marL="0">
                  <a:buNone/>
                </a:pPr>
                <a:r>
                  <a:rPr b="1"/>
                  <a:t>Shape qua từng bước</a:t>
                </a:r>
                <a:r>
                  <a:rPr/>
                  <a:t> </a:t>
                </a:r>
                <a:r>
                  <a:rPr>
                    <a:latin typeface="Courier"/>
                  </a:rPr>
                  <a:t>token_ids</a:t>
                </a:r>
                <a:r>
                  <a:rPr/>
                  <a:t>: </a:t>
                </a:r>
                <a14:m>
                  <m:oMath xmlns:m="http://schemas.openxmlformats.org/officeDocument/2006/math">
                    <m:r>
                      <m:rPr>
                        <m:sty m:val="p"/>
                      </m:rPr>
                      <m:t>(</m:t>
                    </m:r>
                    <m:r>
                      <m:t>4</m:t>
                    </m:r>
                    <m:r>
                      <m:rPr>
                        <m:sty m:val="p"/>
                      </m:rPr>
                      <m:t>,</m:t>
                    </m:r>
                    <m:r>
                      <m:t>6</m:t>
                    </m:r>
                    <m:r>
                      <m:rPr>
                        <m:sty m:val="p"/>
                      </m:rPr>
                      <m:t>)</m:t>
                    </m:r>
                  </m:oMath>
                </a14:m>
              </a:p>
              <a:p>
                <a:pPr lvl="0" indent="0" marL="0">
                  <a:buNone/>
                </a:pPr>
                <a:r>
                  <a:rPr>
                    <a:latin typeface="Courier"/>
                  </a:rPr>
                  <a:t>vectors</a:t>
                </a:r>
                <a:r>
                  <a:rPr/>
                  <a:t>: </a:t>
                </a:r>
                <a14:m>
                  <m:oMath xmlns:m="http://schemas.openxmlformats.org/officeDocument/2006/math">
                    <m:r>
                      <m:rPr>
                        <m:sty m:val="p"/>
                      </m:rPr>
                      <m:t>(</m:t>
                    </m:r>
                    <m:r>
                      <m:t>4</m:t>
                    </m:r>
                    <m:r>
                      <m:rPr>
                        <m:sty m:val="p"/>
                      </m:rPr>
                      <m:t>,</m:t>
                    </m:r>
                    <m:r>
                      <m:t>6</m:t>
                    </m:r>
                    <m:r>
                      <m:rPr>
                        <m:sty m:val="p"/>
                      </m:rPr>
                      <m:t>,</m:t>
                    </m:r>
                    <m:r>
                      <m:t>8</m:t>
                    </m:r>
                    <m:r>
                      <m:rPr>
                        <m:sty m:val="p"/>
                      </m:rPr>
                      <m:t>)</m:t>
                    </m:r>
                  </m:oMath>
                </a14:m>
              </a:p>
              <a:p>
                <a:pPr lvl="0" indent="0" marL="0">
                  <a:buNone/>
                </a:pPr>
                <a:r>
                  <a:rPr b="1"/>
                  <a:t>Ý nghĩa</a:t>
                </a:r>
                <a:r>
                  <a:rPr/>
                  <a:t> Mỗi token ID được thay bằng một vector 8 chiều. Trục thời gian 6 bước vẫn được giữ nguyên.</a:t>
                </a:r>
              </a:p>
              <a:p>
                <a:pPr lvl="0" indent="0" marL="0">
                  <a:buNone/>
                </a:pPr>
                <a:r>
                  <a:rPr i="1"/>
                  <a:t>Đây là mã rút gọn để minh họa; vocabulary phải được xây từ dữ liệu huấn luyện.</a:t>
                </a:r>
              </a:p>
              <a:p>
                <a:pPr lvl="0" indent="0" marL="0">
                  <a:buNone/>
                </a:pPr>
                <a:r>
                  <a:rPr/>
                  <a:t>Code minh họa: chuỗi giá vàng</a:t>
                </a:r>
              </a:p>
              <a:p>
                <a:pPr lvl="0" indent="0" marL="0">
                  <a:buNone/>
                </a:pPr>
                <a:r>
                  <a:rPr/>
                  <a:t>0.56</a:t>
                </a:r>
              </a:p>
              <a:p>
                <a:pPr lvl="0" indent="0">
                  <a:buNone/>
                </a:pPr>
                <a:r>
                  <a:rPr>
                    <a:latin typeface="Courier"/>
                  </a:rPr>
                  <a:t>df['date'] = pd.to_datetime(df['date'], errors='coerce')
df['price'] = pd.to_numeric(df['price'], errors='coerce')
df = (df.dropna(subset=['date', 'price'])
        .drop_duplicates('date')
        .sort_values('date'))
raw_prices = df['price'].to_numpy().reshape(-1, 1)
values = np.log1p(raw_prices)
# Split chronologically before fitting scaler.
split_idx = int(0.70 * len(values))
values_train = values[:split_idx]
scaler.fit(values_train)
scaled_train = scaler.transform(values_train)
# Build windows of 30 past observations.</a:t>
                </a:r>
              </a:p>
              <a:p>
                <a:pPr lvl="0" indent="0" marL="0">
                  <a:buNone/>
                </a:pPr>
                <a:r>
                  <a:rPr/>
                  <a:t>0.41</a:t>
                </a:r>
              </a:p>
              <a:p>
                <a:pPr lvl="0" indent="0" marL="0">
                  <a:buNone/>
                </a:pPr>
                <a:r>
                  <a:rPr b="1"/>
                  <a:t>Tensor đưa vào RNN</a:t>
                </a:r>
                <a:r>
                  <a:rPr/>
                  <a:t> </a:t>
                </a:r>
                <a:r>
                  <a:rPr>
                    <a:latin typeface="Courier"/>
                  </a:rPr>
                  <a:t>X_train</a:t>
                </a:r>
                <a:r>
                  <a:rPr/>
                  <a:t>: </a:t>
                </a:r>
                <a14:m>
                  <m:oMath xmlns:m="http://schemas.openxmlformats.org/officeDocument/2006/math">
                    <m:r>
                      <m:rPr>
                        <m:sty m:val="p"/>
                      </m:rPr>
                      <m:t>(</m:t>
                    </m:r>
                    <m:r>
                      <m:t>9294</m:t>
                    </m:r>
                    <m:r>
                      <m:rPr>
                        <m:sty m:val="p"/>
                      </m:rPr>
                      <m:t>,</m:t>
                    </m:r>
                    <m:r>
                      <m:t>30</m:t>
                    </m:r>
                    <m:r>
                      <m:rPr>
                        <m:sty m:val="p"/>
                      </m:rPr>
                      <m:t>,</m:t>
                    </m:r>
                    <m:r>
                      <m:t>1</m:t>
                    </m:r>
                    <m:r>
                      <m:rPr>
                        <m:sty m:val="p"/>
                      </m:rPr>
                      <m:t>)</m:t>
                    </m:r>
                  </m:oMath>
                </a14:m>
              </a:p>
              <a:p>
                <a:pPr lvl="0" indent="0" marL="0">
                  <a:buNone/>
                </a:pPr>
                <a:r>
                  <a:rPr/>
                  <a:t>9294 mẫu; 30 bước thời gian; 1 đặc trưng.</a:t>
                </a:r>
              </a:p>
              <a:p>
                <a:pPr lvl="0" indent="0" marL="0">
                  <a:buNone/>
                </a:pPr>
                <a:r>
                  <a:rPr b="1"/>
                  <a:t>Nhãn dự đoán</a:t>
                </a:r>
                <a:r>
                  <a:rPr/>
                  <a:t> </a:t>
                </a:r>
                <a:r>
                  <a:rPr>
                    <a:latin typeface="Courier"/>
                  </a:rPr>
                  <a:t>y_train</a:t>
                </a:r>
                <a:r>
                  <a:rPr/>
                  <a:t>: </a:t>
                </a:r>
                <a14:m>
                  <m:oMath xmlns:m="http://schemas.openxmlformats.org/officeDocument/2006/math">
                    <m:r>
                      <m:rPr>
                        <m:sty m:val="p"/>
                      </m:rPr>
                      <m:t>(</m:t>
                    </m:r>
                    <m:r>
                      <m:t>9294</m:t>
                    </m:r>
                    <m:r>
                      <m:rPr>
                        <m:sty m:val="p"/>
                      </m:rPr>
                      <m:t>,</m:t>
                    </m:r>
                    <m:r>
                      <m:t>1</m:t>
                    </m:r>
                    <m:r>
                      <m:rPr>
                        <m:sty m:val="p"/>
                      </m:rPr>
                      <m:t>)</m:t>
                    </m:r>
                  </m:oMath>
                </a14:m>
              </a:p>
              <a:p>
                <a:pPr lvl="0" indent="0" marL="0">
                  <a:buNone/>
                </a:pPr>
                <a:r>
                  <a:rPr/>
                  <a:t>30 quan sát quá khứ </a:t>
                </a:r>
                <a14:m>
                  <m:oMath xmlns:m="http://schemas.openxmlformats.org/officeDocument/2006/math">
                    <m:r>
                      <m:rPr>
                        <m:sty m:val="p"/>
                      </m:rPr>
                      <m:t>→</m:t>
                    </m:r>
                  </m:oMath>
                </a14:m>
                <a:r>
                  <a:rPr/>
                  <a:t> giá bước kế tiếp.</a:t>
                </a:r>
              </a:p>
              <a:p>
                <a:pPr lvl="0" indent="0" marL="0">
                  <a:buNone/>
                </a:pPr>
                <a:r>
                  <a:rPr i="1"/>
                  <a:t>Chuỗi số liên tục đi thẳng vào mô hình; không dùng tokenizer hay embedding.</a:t>
                </a:r>
              </a:p>
              <a:p>
                <a:pPr lvl="0" indent="0" marL="0">
                  <a:buNone/>
                </a:pPr>
                <a:r>
                  <a:rPr/>
                  <a:t>Simple RNN: mô hình và quá trình huấn luyện</a:t>
                </a:r>
              </a:p>
              <a:p>
                <a:pPr lvl="0" indent="0" marL="0">
                  <a:buNone/>
                </a:pPr>
                <a:r>
                  <a:rPr/>
                  <a:t>0.39</a:t>
                </a:r>
              </a:p>
              <a:p>
                <a:pPr lvl="0" indent="0">
                  <a:buNone/>
                </a:pPr>
                <a:r>
                  <a:rPr>
                    <a:latin typeface="Courier"/>
                  </a:rPr>
                  <a:t>class SimpleRNNRegressor(nn.Module):
    def __init__(self):
        super().__init__()
        self.rnn = nn.RNN(1, 32,
                          batch_first=True)
        self.out = nn.Linear(32, 1)
    def forward(self, x):
        h, _ = self.rnn(x)
        return self.out(h[:, -1, :])</a:t>
                </a:r>
              </a:p>
              <a:p>
                <a:pPr lvl="0" indent="0" marL="0">
                  <a:buNone/>
                </a:pPr>
                <a:r>
                  <a:rPr b="1"/>
                  <a:t>Luồng tensor</a:t>
                </a:r>
                <a:r>
                  <a:rPr/>
                  <a:t> </a:t>
                </a:r>
                <a14:m>
                  <m:oMath xmlns:m="http://schemas.openxmlformats.org/officeDocument/2006/math">
                    <m:r>
                      <m:rPr>
                        <m:sty m:val="p"/>
                      </m:rPr>
                      <m:t>(</m:t>
                    </m:r>
                    <m:r>
                      <m:t>B</m:t>
                    </m:r>
                    <m:r>
                      <m:rPr>
                        <m:sty m:val="p"/>
                      </m:rPr>
                      <m:t>,</m:t>
                    </m:r>
                    <m:r>
                      <m:t>30</m:t>
                    </m:r>
                    <m:r>
                      <m:rPr>
                        <m:sty m:val="p"/>
                      </m:rPr>
                      <m:t>,</m:t>
                    </m:r>
                    <m:r>
                      <m:t>1</m:t>
                    </m:r>
                    <m:r>
                      <m:rPr>
                        <m:sty m:val="p"/>
                      </m:rPr>
                      <m:t>)</m:t>
                    </m:r>
                    <m:r>
                      <m:rPr>
                        <m:sty m:val="p"/>
                      </m:rPr>
                      <m:t>→</m:t>
                    </m:r>
                    <m:r>
                      <m:rPr>
                        <m:sty m:val="p"/>
                      </m:rPr>
                      <m:t>(</m:t>
                    </m:r>
                    <m:r>
                      <m:t>B</m:t>
                    </m:r>
                    <m:r>
                      <m:rPr>
                        <m:sty m:val="p"/>
                      </m:rPr>
                      <m:t>,</m:t>
                    </m:r>
                    <m:r>
                      <m:t>32</m:t>
                    </m:r>
                    <m:r>
                      <m:rPr>
                        <m:sty m:val="p"/>
                      </m:rPr>
                      <m:t>)</m:t>
                    </m:r>
                    <m:r>
                      <m:rPr>
                        <m:sty m:val="p"/>
                      </m:rPr>
                      <m:t>→</m:t>
                    </m:r>
                    <m:r>
                      <m:rPr>
                        <m:sty m:val="p"/>
                      </m:rPr>
                      <m:t>(</m:t>
                    </m:r>
                    <m:r>
                      <m:t>B</m:t>
                    </m:r>
                    <m:r>
                      <m:rPr>
                        <m:sty m:val="p"/>
                      </m:rPr>
                      <m:t>,</m:t>
                    </m:r>
                    <m:r>
                      <m:t>1</m:t>
                    </m:r>
                    <m:r>
                      <m:rPr>
                        <m:sty m:val="p"/>
                      </m:rPr>
                      <m:t>)</m:t>
                    </m:r>
                  </m:oMath>
                </a14:m>
              </a:p>
              <a:p>
                <a:pPr lvl="0" indent="0" marL="0">
                  <a:buNone/>
                </a:pPr>
                <a:r>
                  <a:rPr/>
                  <a:t>0.58 image</a:t>
                </a:r>
              </a:p>
              <a:p>
                <a:pPr lvl="0" indent="0" marL="0">
                  <a:buNone/>
                </a:pPr>
                <a:r>
                  <a:rPr b="1"/>
                  <a:t>Đọc đồ thị loss</a:t>
                </a:r>
                <a:r>
                  <a:rPr/>
                  <a:t> Train loss gần 0; validation loss giảm mạnh rồi ổn định ở mức thấp. Đây là MSE trên dữ liệu đã scale, nên vẫn phải đánh giá sai số trên giá gốc và so với baseline.</a:t>
                </a:r>
              </a:p>
              <a:p>
                <a:pPr lvl="0" indent="0" marL="0">
                  <a:buNone/>
                </a:pPr>
                <a:r>
                  <a:rPr/>
                  <a:t>Dự báo và phần dư trên tập test image</a:t>
                </a:r>
                <a:br/>
                <a:r>
                  <a:rPr/>
                  <a:t>image</a:t>
                </a:r>
              </a:p>
              <a:p>
                <a:pPr lvl="0" indent="0" marL="0">
                  <a:buNone/>
                </a:pPr>
                <a:r>
                  <a:rPr/>
                  <a:t>Đọc kết quả: RNN chưa vượt baseline</a:t>
                </a:r>
              </a:p>
              <a:p>
                <a:pPr lvl="0" indent="0" marL="0">
                  <a:buNone/>
                </a:pPr>
                <a:r>
                  <a:rPr b="1"/>
                  <a:t>Metrics trên tập test (theo notebook)</a:t>
                </a:r>
              </a:p>
              <a:p>
                <a:pPr lvl="0" indent="0" marL="0">
                  <a:buNone/>
                </a:pPr>
                <a:r>
                  <a:rPr/>
                  <a:t>0.48</a:t>
                </a:r>
              </a:p>
              <a:p>
                <a:pPr lvl="0" indent="0" marL="0">
                  <a:buNone/>
                </a:pPr>
                <a:r>
                  <a:rPr b="1"/>
                  <a:t>Dịch chuyển phân phối</a:t>
                </a:r>
                <a:r>
                  <a:rPr/>
                  <a:t> Train max: </a:t>
                </a:r>
                <a:r>
                  <a:rPr b="1"/>
                  <a:t>850.00</a:t>
                </a:r>
                <a:r>
                  <a:rPr/>
                  <a:t>; test min: </a:t>
                </a:r>
                <a:r>
                  <a:rPr b="1"/>
                  <a:t>1,049.40</a:t>
                </a:r>
                <a:r>
                  <a:rPr/>
                  <a:t>.</a:t>
                </a:r>
                <a:br/>
                <a:r>
                  <a:rPr b="1"/>
                  <a:t>100% giá test vượt train max.</a:t>
                </a:r>
              </a:p>
              <a:p>
                <a:pPr lvl="0" indent="0" marL="0">
                  <a:buNone/>
                </a:pPr>
                <a:r>
                  <a:rPr/>
                  <a:t>0.48</a:t>
                </a:r>
              </a:p>
              <a:p>
                <a:pPr lvl="0" indent="0" marL="0">
                  <a:buNone/>
                </a:pPr>
                <a:r>
                  <a:rPr b="1"/>
                  <a:t>Dấu hiệu trên biểu đồ</a:t>
                </a:r>
                <a:r>
                  <a:rPr/>
                  <a:t> Persistence bám sát giá thực. RNN dự báo thấp có hệ thống: phần dư </a:t>
                </a:r>
                <a:r>
                  <a:rPr i="1"/>
                  <a:t>Actual – Prediction</a:t>
                </a:r>
                <a:r>
                  <a:rPr/>
                  <a:t> dương; điểm phân tán nằm dưới đường </a:t>
                </a:r>
                <a14:m>
                  <m:oMath xmlns:m="http://schemas.openxmlformats.org/officeDocument/2006/math">
                    <m:r>
                      <m:t>y</m:t>
                    </m:r>
                    <m:r>
                      <m:rPr>
                        <m:sty m:val="p"/>
                      </m:rPr>
                      <m:t>=</m:t>
                    </m:r>
                    <m:r>
                      <m:t>x</m:t>
                    </m:r>
                  </m:oMath>
                </a14:m>
                <a:r>
                  <a:rPr/>
                  <a:t>.</a:t>
                </a:r>
              </a:p>
              <a:p>
                <a:pPr lvl="0" indent="0" marL="0">
                  <a:buNone/>
                </a:pPr>
                <a:r>
                  <a:rPr b="1"/>
                  <a:t>Hướng cải thiện</a:t>
                </a:r>
                <a:r>
                  <a:rPr/>
                  <a:t> Thử dự báo log-return thay cho mức giá, huấn luyện bằng cửa sổ gần thời điểm test hoặc thử GRU/LSTM; luôn so sánh lại với Persistence trên tập test theo đúng thứ tự thời gian.</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MẠNG NƠ-RON HỒI QUY (RNN)</dc:title>
  <dc:creator>Nhóm thực hiện: Văn Thị Mai Linh; Nguyễn Văn Minh Lực; Giáp Minh Hiếu; Nguyễn Nam Hải</dc:creator>
  <cp:keywords/>
  <dcterms:created xsi:type="dcterms:W3CDTF">2026-10-01T15:37:24Z</dcterms:created>
  <dcterms:modified xsi:type="dcterms:W3CDTF">2026-10-01T15:37:24Z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
  </property>
  <property fmtid="{D5CDD505-2E9C-101B-9397-08002B2CF9AE}" pid="3" name="subtitle">
    <vt:lpwstr>Từ Hạn Chế của MLP &amp; 1D-CNN đến Nguyên Lý Xử Lý Dữ Liệu Chuỗi có Trạng Thái Ẩn</vt:lpwstr>
  </property>
</Properties>
</file>